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98ad0e4a3e4454" /><Relationship Type="http://schemas.openxmlformats.org/officeDocument/2006/relationships/extended-properties" Target="/docProps/app.xml" Id="Rb71abe0e90cb46e6" /><Relationship Type="http://schemas.openxmlformats.org/officeDocument/2006/relationships/officeDocument" Target="/ppt/presentation.xml" Id="R53a27378d8b34d77" /></Relationships>
</file>

<file path=ppt/presentation.xml><?xml version="1.0" encoding="utf-8"?>
<p:presentation xmlns:p="http://schemas.openxmlformats.org/presentationml/2006/main" xmlns:r="http://schemas.openxmlformats.org/officeDocument/2006/relationships">
  <p:sldMasterIdLst>
    <p:sldMasterId id="2147483648" r:id="Rbb0da01b21d24644"/>
  </p:sldMasterIdLst>
  <p:notesMasterIdLst>
    <p:notesMasterId r:id="R2f67d931719f418a"/>
  </p:notesMasterIdLst>
  <p:sldIdLst>
    <p:sldId id="266" r:id="rIdMeetupCover"/>
    <p:sldId id="256" r:id="R0de6d342446744e9"/>
    <p:sldId id="257" r:id="Rf54f1a4919ac4923"/>
    <p:sldId id="258" r:id="Rad32c6eb3aaa448b"/>
    <p:sldId id="259" r:id="R60546ff8b34343e3"/>
    <p:sldId id="260" r:id="R532f829347d343f9"/>
    <p:sldId id="261" r:id="Ra265daa836af4a4b"/>
    <p:sldId id="262" r:id="Rbdb13c8555f84564"/>
    <p:sldId id="263" r:id="R0e2f714d779e4b87"/>
    <p:sldId id="264" r:id="Ra5d1be01fe374585"/>
    <p:sldId id="265" r:id="R7ac22fa83ee142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4a4dc918d94f4659" /><ns0:Relationship Type="http://schemas.openxmlformats.org/officeDocument/2006/relationships/slideMaster" Target="/ppt/slideMasters/slideMaster1.xml" Id="Rbb0da01b21d24644" /><ns0:Relationship Type="http://schemas.openxmlformats.org/officeDocument/2006/relationships/notesMaster" Target="/ppt/notesMasters/notesMaster1.xml" Id="R2f67d931719f418a" /><ns0:Relationship Type="http://schemas.openxmlformats.org/officeDocument/2006/relationships/presProps" Target="/ppt/presProps.xml" Id="Rcb8af6ad23634892" /><ns0:Relationship Type="http://schemas.openxmlformats.org/officeDocument/2006/relationships/tableStyles" Target="/ppt/tableStyles.xml" Id="R7e84fb712bc64be9" /><ns0:Relationship Type="http://schemas.openxmlformats.org/officeDocument/2006/relationships/slide" Target="/ppt/slides/slide2.xml" Id="R0de6d342446744e9" /><ns0:Relationship Type="http://schemas.openxmlformats.org/officeDocument/2006/relationships/slide" Target="/ppt/slides/slide3.xml" Id="Rf54f1a4919ac4923" /><ns0:Relationship Type="http://schemas.openxmlformats.org/officeDocument/2006/relationships/slide" Target="/ppt/slides/slide4.xml" Id="Rad32c6eb3aaa448b" /><ns0:Relationship Type="http://schemas.openxmlformats.org/officeDocument/2006/relationships/slide" Target="/ppt/slides/slide5.xml" Id="R60546ff8b34343e3" /><ns0:Relationship Type="http://schemas.openxmlformats.org/officeDocument/2006/relationships/slide" Target="/ppt/slides/slide6.xml" Id="R532f829347d343f9" /><ns0:Relationship Type="http://schemas.openxmlformats.org/officeDocument/2006/relationships/slide" Target="/ppt/slides/slide7.xml" Id="Ra265daa836af4a4b" /><ns0:Relationship Type="http://schemas.openxmlformats.org/officeDocument/2006/relationships/slide" Target="/ppt/slides/slide8.xml" Id="Rbdb13c8555f84564" /><ns0:Relationship Type="http://schemas.openxmlformats.org/officeDocument/2006/relationships/slide" Target="/ppt/slides/slide9.xml" Id="R0e2f714d779e4b87" /><ns0:Relationship Type="http://schemas.openxmlformats.org/officeDocument/2006/relationships/slide" Target="/ppt/slides/slide10.xml" Id="Ra5d1be01fe374585" /><ns0:Relationship Type="http://schemas.openxmlformats.org/officeDocument/2006/relationships/slide" Target="/ppt/slides/slide11.xml" Id="R7ac22fa83ee14226" /><ns0:Relationship Id="rIdMeetupCover" Type="http://schemas.openxmlformats.org/officeDocument/2006/relationships/slide" Target="slides/slide1.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f8809361d048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27dc2ba6dd466a" /><Relationship Type="http://schemas.openxmlformats.org/officeDocument/2006/relationships/notesMaster" Target="/ppt/notesMasters/notesMaster1.xml" Id="Rf4e05d3cfd8b49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492c5ceb8a486e" /><Relationship Type="http://schemas.openxmlformats.org/officeDocument/2006/relationships/notesMaster" Target="/ppt/notesMasters/notesMaster1.xml" Id="R84fd8c523e0a48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de45870ee94464" /><Relationship Type="http://schemas.openxmlformats.org/officeDocument/2006/relationships/notesMaster" Target="/ppt/notesMasters/notesMaster1.xml" Id="R61889573fc5845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6a273138ce439f" /><Relationship Type="http://schemas.openxmlformats.org/officeDocument/2006/relationships/notesMaster" Target="/ppt/notesMasters/notesMaster1.xml" Id="Rfa8cff16619943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65843e71184138" /><Relationship Type="http://schemas.openxmlformats.org/officeDocument/2006/relationships/notesMaster" Target="/ppt/notesMasters/notesMaster1.xml" Id="R951632fdd1dc4d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9550276b834761" /><Relationship Type="http://schemas.openxmlformats.org/officeDocument/2006/relationships/notesMaster" Target="/ppt/notesMasters/notesMaster1.xml" Id="R13fcb5887aff41a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21a8b7ef864d80" /><Relationship Type="http://schemas.openxmlformats.org/officeDocument/2006/relationships/notesMaster" Target="/ppt/notesMasters/notesMaster1.xml" Id="R3d0876dd7d7342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1ba210af15d46fd" /><Relationship Type="http://schemas.openxmlformats.org/officeDocument/2006/relationships/notesMaster" Target="/ppt/notesMasters/notesMaster1.xml" Id="R63ccf805a24749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03977a9b63403b" /><Relationship Type="http://schemas.openxmlformats.org/officeDocument/2006/relationships/notesMaster" Target="/ppt/notesMasters/notesMaster1.xml" Id="Rcb6d8f2633484d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8962b989004a34" /><Relationship Type="http://schemas.openxmlformats.org/officeDocument/2006/relationships/notesMaster" Target="/ppt/notesMasters/notesMaster1.xml" Id="R10ed03a0e2e1493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4b015a03004a15" /><Relationship Type="http://schemas.openxmlformats.org/officeDocument/2006/relationships/notesMaster" Target="/ppt/notesMasters/notesMaster1.xml" Id="R87a154462afa4a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10–15 seconds, within the first minute of the talk.</a:t>
            </a:r>
          </a:p>
          <a:p xmlns:a="http://schemas.openxmlformats.org/drawingml/2006/main">
            <a:r>
              <a:t/>
            </a:r>
          </a:p>
          <a:p xmlns:a="http://schemas.openxmlformats.org/drawingml/2006/main">
            <a:r>
              <a:t>Hello, I am Sergei Telegin. Today I will talk about agent orchestration. The project and its role instructions are available on GitHub.</a:t>
            </a:r>
          </a:p>
          <a:p xmlns:a="http://schemas.openxmlformats.org/drawingml/2006/main">
            <a:r>
              <a:t/>
            </a:r>
          </a:p>
          <a:p xmlns:a="http://schemas.openxmlformats.org/drawingml/2006/main">
            <a:r>
              <a:t>https://github.com/TeleginS/agent-orchestration</a:t>
            </a:r>
          </a:p>
          <a:p xmlns:a="http://schemas.openxmlformats.org/drawingml/2006/main">
            <a:r>
              <a:t/>
            </a:r>
          </a:p>
          <a:p xmlns:a="http://schemas.openxmlformats.org/drawingml/2006/main">
            <a:r>
              <a:t>This title slide precedes the ten content slides. Keep the original timing checkpoints and the two-minute buffer.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0:00–1:00. Planned pace, including pauses and discussion of the evidence. Keep 18:00–20:00 free as a buffer. Audience questions follow the talk.</a:t>
            </a:r>
          </a:p>
          <a:p xmlns:a="http://schemas.openxmlformats.org/drawingml/2006/main">
            <a:r>
              <a:t/>
            </a:r>
          </a:p>
          <a:p xmlns:a="http://schemas.openxmlformats.org/drawingml/2006/main">
            <a:r>
              <a:t>TrafficRulesApp is my personal iOS app for the Spanish driving theory exam. I use a team of AI agents for some development tasks. In July, they implemented cumulative statistics. The reviewer approved the change. QA then found a timing sequence that counted the same session twice: the timer completed the test while the exit dialog remained open, and confirming the dialog added the time again.</a:t>
            </a:r>
          </a:p>
          <a:p xmlns:a="http://schemas.openxmlformats.org/drawingml/2006/main">
            <a:r>
              <a:t/>
            </a:r>
          </a:p>
          <a:p xmlns:a="http://schemas.openxmlformats.org/drawingml/2006/main">
            <a:r>
              <a:t>I kept changing and tuning the pipeline after that period. Today I will show one versioned change to its rules and a later run where every test passed but QA still blocked the result. We will look at what QA found, why the fixes needed another review, and the cost of that run. This is a history of artifacts and reports, rather than a controlled comparison of two complete pipeline configurations.</a:t>
            </a:r>
          </a:p>
          <a:p xmlns:a="http://schemas.openxmlformats.org/drawingml/2006/main">
            <a:r>
              <a:t/>
            </a:r>
          </a:p>
          <a:p xmlns:a="http://schemas.openxmlformats.org/drawingml/2006/main">
            <a:r>
              <a:t>SOURCES</a:t>
            </a:r>
          </a:p>
          <a:p xmlns:a="http://schemas.openxmlformats.org/drawingml/2006/main">
            <a:r>
              <a:t>https://github.com/TeleginS/TrafficRulesApp/pull/143</a:t>
            </a:r>
          </a:p>
          <a:p xmlns:a="http://schemas.openxmlformats.org/drawingml/2006/main">
            <a:r>
              <a:t>https://github.com/TeleginS/TrafficRulesApp/issues/144</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1:00–3:00. Planned pace, including pauses and discussion of the evidence. Keep 18:00–20:00 free as a buffer. Audience questions follow the talk.</a:t>
            </a:r>
          </a:p>
          <a:p xmlns:a="http://schemas.openxmlformats.org/drawingml/2006/main">
            <a:r>
              <a:t/>
            </a:r>
          </a:p>
          <a:p xmlns:a="http://schemas.openxmlformats.org/drawingml/2006/main">
            <a:r>
              <a:t>For this talk, an agent is a system that chooses actions, uses tools and decides how to continue from their results. Follow one example throughout: adding a test to an iOS project. The model can ask to read a file. A tool performs the actual read. The returned contents become part of the next model context. After a change, the model can request a test run and use the failure to choose another action.</a:t>
            </a:r>
          </a:p>
          <a:p xmlns:a="http://schemas.openxmlformats.org/drawingml/2006/main">
            <a:r>
              <a:t/>
            </a:r>
          </a:p>
          <a:p xmlns:a="http://schemas.openxmlformats.org/drawingml/2006/main">
            <a:r>
              <a:t>The harness is the software that runs this loop. It assembles context, executes allowed tool calls, handles errors and decides when to continue or stop. Some choices can stay with the model, while the runtime imposes limits on permissions or retries. The model name alone tells us little about these controls.</a:t>
            </a:r>
          </a:p>
          <a:p xmlns:a="http://schemas.openxmlformats.org/drawingml/2006/main">
            <a:r>
              <a:t/>
            </a:r>
          </a:p>
          <a:p xmlns:a="http://schemas.openxmlformats.org/drawingml/2006/main">
            <a:r>
              <a:t>There is a practical distinction between asking an agent to run tests and having software require a test result before allowing completion. My published repository mainly defines role instructions and a route for an orchestrator agent to follow. It does not itself implement a durable execution engine. Pause on that distinction before moving to several agents.</a:t>
            </a:r>
          </a:p>
          <a:p xmlns:a="http://schemas.openxmlformats.org/drawingml/2006/main">
            <a:r>
              <a:t/>
            </a:r>
          </a:p>
          <a:p xmlns:a="http://schemas.openxmlformats.org/drawingml/2006/main">
            <a:r>
              <a:t>SOURCES</a:t>
            </a:r>
          </a:p>
          <a:p xmlns:a="http://schemas.openxmlformats.org/drawingml/2006/main">
            <a:r>
              <a:t>https://www.anthropic.com/engineering/building-effective-agents</a:t>
            </a:r>
          </a:p>
          <a:p xmlns:a="http://schemas.openxmlformats.org/drawingml/2006/main">
            <a:r>
              <a:t>https://github.com/TeleginS/agent-orchestration/blob/693c5cd291e35d773c9f68f99888ca420dbbf30a/PIPELINE.md</a:t>
            </a:r>
          </a:p>
          <a:p xmlns:a="http://schemas.openxmlformats.org/drawingml/2006/main">
            <a:r>
              <a:t>../resources/transcripts/ai-agents-harness.md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3:00–4:20. Planned pace, including pauses and discussion of the evidence. Keep 18:00–20:00 free as a buffer. Audience questions follow the talk.</a:t>
            </a:r>
          </a:p>
          <a:p xmlns:a="http://schemas.openxmlformats.org/drawingml/2006/main">
            <a:r>
              <a:t/>
            </a:r>
          </a:p>
          <a:p xmlns:a="http://schemas.openxmlformats.org/drawingml/2006/main">
            <a:r>
              <a:t>The planner turns a request into requirements that someone can actually check. The developer reads those requirements, changes the code and opens a pull request. The reviewer receives the original task and the real diff, then returns findings or explicit approval. QA has a separate assignment to check acceptance and look for problematic behavior. Their responsibilities overlap, but their emphasis differs.</a:t>
            </a:r>
          </a:p>
          <a:p xmlns:a="http://schemas.openxmlformats.org/drawingml/2006/main">
            <a:r>
              <a:t/>
            </a:r>
          </a:p>
          <a:p xmlns:a="http://schemas.openxmlformats.org/drawingml/2006/main">
            <a:r>
              <a:t>The orchestrator passes the task, project context, issues, pull request and check results between roles. A useful handoff is more than the previous agent saying that everything is done. The next role needs the evidence it will inspect.</a:t>
            </a:r>
          </a:p>
          <a:p xmlns:a="http://schemas.openxmlformats.org/drawingml/2006/main">
            <a:r>
              <a:t/>
            </a:r>
          </a:p>
          <a:p xmlns:a="http://schemas.openxmlformats.org/drawingml/2006/main">
            <a:r>
              <a:t>Giving the roles separate contexts can focus their attention. It does not make their judgments statistically independent. They may use the same model and repeat the same assumptions. The value of an extra role comes from the additional check it performs.</a:t>
            </a:r>
          </a:p>
          <a:p xmlns:a="http://schemas.openxmlformats.org/drawingml/2006/main">
            <a:r>
              <a:t/>
            </a:r>
          </a:p>
          <a:p xmlns:a="http://schemas.openxmlformats.org/drawingml/2006/main">
            <a:r>
              <a:t>These prompts and routing instructions changed over time, so today's instructions cannot be treated as a complete description of the earlier run.</a:t>
            </a:r>
          </a:p>
          <a:p xmlns:a="http://schemas.openxmlformats.org/drawingml/2006/main">
            <a:r>
              <a:t/>
            </a:r>
          </a:p>
          <a:p xmlns:a="http://schemas.openxmlformats.org/drawingml/2006/main">
            <a:r>
              <a:t>SOURCES</a:t>
            </a:r>
          </a:p>
          <a:p xmlns:a="http://schemas.openxmlformats.org/drawingml/2006/main">
            <a:r>
              <a:t>https://github.com/TeleginS/agent-orchestration/blob/693c5cd291e35d773c9f68f99888ca420dbbf30a/PIPELINE.md</a:t>
            </a:r>
          </a:p>
          <a:p xmlns:a="http://schemas.openxmlformats.org/drawingml/2006/main">
            <a:r>
              <a:t>https://github.com/TeleginS/TrafficRulesApp/pull/143</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4:20–6:00. Planned pace, including pauses and discussion of the evidence. Keep 18:00–20:00 free as a buffer. Audience questions follow the talk.</a:t>
            </a:r>
          </a:p>
          <a:p xmlns:a="http://schemas.openxmlformats.org/drawingml/2006/main">
            <a:r>
              <a:t/>
            </a:r>
          </a:p>
          <a:p xmlns:a="http://schemas.openxmlformats.org/drawingml/2006/main">
            <a:r>
              <a:t>The normal route runs from planning through development, review and QA to a final report. Review findings go back to the developer. QA findings also go back to the developer, but the changed code must pass review before the next QA run. The added step matters because approval of an earlier version does not cover a later fix automatically.</a:t>
            </a:r>
          </a:p>
          <a:p xmlns:a="http://schemas.openxmlformats.org/drawingml/2006/main">
            <a:r>
              <a:t/>
            </a:r>
          </a:p>
          <a:p xmlns:a="http://schemas.openxmlformats.org/drawingml/2006/main">
            <a:r>
              <a:t>In July, the cumulative-statistics PR had an approval followed by a QA finding about double-counted time. I continued tuning the pipeline. A commit on 26 August explicitly added rule 11 to the orchestrator instructions: QA fixes need another review before QA can be green. The September test-coverage run contains an explicit report for this review step.</a:t>
            </a:r>
          </a:p>
          <a:p xmlns:a="http://schemas.openxmlformats.org/drawingml/2006/main">
            <a:r>
              <a:t/>
            </a:r>
          </a:p>
          <a:p xmlns:a="http://schemas.openxmlformats.org/drawingml/2006/main">
            <a:r>
              <a:t>The diagram summarizes the route and leaves out Git and issue housekeeping. The current generic instructions limit each repair loop to three iterations before escalation. These are instructions for the orchestrator, not transitions enforced by this diagram.</a:t>
            </a:r>
          </a:p>
          <a:p xmlns:a="http://schemas.openxmlformats.org/drawingml/2006/main">
            <a:r>
              <a:t/>
            </a:r>
          </a:p>
          <a:p xmlns:a="http://schemas.openxmlformats.org/drawingml/2006/main">
            <a:r>
              <a:t>I have not recovered the full context of the historical sessions. Versioned files establish this change, but cannot reconstruct uncommitted prompts, model settings or the main conversation. Nor do they establish that the earlier bug was the sole cause of rule 11.</a:t>
            </a:r>
          </a:p>
          <a:p xmlns:a="http://schemas.openxmlformats.org/drawingml/2006/main">
            <a:r>
              <a:t/>
            </a:r>
          </a:p>
          <a:p xmlns:a="http://schemas.openxmlformats.org/drawingml/2006/main">
            <a:r>
              <a:t>SOURCES</a:t>
            </a:r>
          </a:p>
          <a:p xmlns:a="http://schemas.openxmlformats.org/drawingml/2006/main">
            <a:r>
              <a:t>https://github.com/TeleginS/TrafficRulesApp/commit/47fe4917052c82e7181e9de5321511ed8194c11c</a:t>
            </a:r>
          </a:p>
          <a:p xmlns:a="http://schemas.openxmlformats.org/drawingml/2006/main">
            <a:r>
              <a:t>https://github.com/TeleginS/TrafficRulesApp/pull/143</a:t>
            </a:r>
          </a:p>
          <a:p xmlns:a="http://schemas.openxmlformats.org/drawingml/2006/main">
            <a:r>
              <a:t>https://github.com/TeleginS/TrafficRulesApp/issues/144</a:t>
            </a:r>
          </a:p>
          <a:p xmlns:a="http://schemas.openxmlformats.org/drawingml/2006/main">
            <a:r>
              <a:t>https://github.com/TeleginS/TrafficRulesApp/pull/198</a:t>
            </a:r>
          </a:p>
          <a:p xmlns:a="http://schemas.openxmlformats.org/drawingml/2006/main">
            <a:r>
              <a:t>https://github.com/TeleginS/agent-orchestration/blob/693c5cd291e35d773c9f68f99888ca420dbbf30a/PIPELINE.md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6:00–7:30. Planned pace, including pauses and discussion of the evidence. Keep 18:00–20:00 free as a buffer. Audience questions follow the talk.</a:t>
            </a:r>
          </a:p>
          <a:p xmlns:a="http://schemas.openxmlformats.org/drawingml/2006/main">
            <a:r>
              <a:t/>
            </a:r>
          </a:p>
          <a:p xmlns:a="http://schemas.openxmlformats.org/drawingml/2006/main">
            <a:r>
              <a:t>This task added unit tests for ProgressStore and for progress recording from a test session. That included the protection against adding session time twice, which connects it to the July case. The task did not need production-code changes. It added 32 tests, bringing the full suite from 125 to 157.</a:t>
            </a:r>
          </a:p>
          <a:p xmlns:a="http://schemas.openxmlformats.org/drawingml/2006/main">
            <a:r>
              <a:t/>
            </a:r>
          </a:p>
          <a:p xmlns:a="http://schemas.openxmlformats.org/drawingml/2006/main">
            <a:r>
              <a:t>The first review produced findings and the developer addressed them. The second review approved the result. QA also reported successful runs across two simulator destinations, with the full suite and the new classes tested separately.</a:t>
            </a:r>
          </a:p>
          <a:p xmlns:a="http://schemas.openxmlformats.org/drawingml/2006/main">
            <a:r>
              <a:t/>
            </a:r>
          </a:p>
          <a:p xmlns:a="http://schemas.openxmlformats.org/drawingml/2006/main">
            <a:r>
              <a:t>But QA's verdict was BLOCKED. It found three issues in the checks themselves. We will focus on two related issues: what the assertion actually proves and how old values can enter the test's storage.</a:t>
            </a:r>
          </a:p>
          <a:p xmlns:a="http://schemas.openxmlformats.org/drawingml/2006/main">
            <a:r>
              <a:t/>
            </a:r>
          </a:p>
          <a:p xmlns:a="http://schemas.openxmlformats.org/drawingml/2006/main">
            <a:r>
              <a:t>A test executing successfully and a test establishing its intended behavior are different claims. The report supports the first claim, while the findings challenge part of the second. This does not mean all 157 tests were useless. The concern applies to specific checks.</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https://github.com/TeleginS/TrafficRulesApp/pull/198#issuecomment-5500799535</a:t>
            </a:r>
          </a:p>
          <a:p xmlns:a="http://schemas.openxmlformats.org/drawingml/2006/main">
            <a:r>
              <a:t>https://github.com/TeleginS/TrafficRulesApp/pull/198#issuecomment-5500803440</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7:30–10:00. Planned pace, including pauses and discussion of the evidence. Keep 18:00–20:00 free as a buffer. Audience questions follow the talk.</a:t>
            </a:r>
          </a:p>
          <a:p xmlns:a="http://schemas.openxmlformats.org/drawingml/2006/main">
            <a:r>
              <a:t/>
            </a:r>
          </a:p>
          <a:p xmlns:a="http://schemas.openxmlformats.org/drawingml/2006/main">
            <a:r>
              <a:t>The requirement concerned the contribution of a particular terminal call: that path must add session time. Five tests instead checked that the accumulated total was greater than zero.</a:t>
            </a:r>
          </a:p>
          <a:p xmlns:a="http://schemas.openxmlformats.org/drawingml/2006/main">
            <a:r>
              <a:t/>
            </a:r>
          </a:p>
          <a:p xmlns:a="http://schemas.openxmlformats.org/drawingml/2006/main">
            <a:r>
              <a:t>Imagine a store with 500 seconds before the call and the same 500 seconds afterward. The method has added nothing, but a greater-than-zero assertion still passes. Comparing the result with a snapshot from before the call exposes the missing contribution. The number 500 on this slide is an illustrative example, not a measured value from the QA run.</a:t>
            </a:r>
          </a:p>
          <a:p xmlns:a="http://schemas.openxmlformats.org/drawingml/2006/main">
            <a:r>
              <a:t/>
            </a:r>
          </a:p>
          <a:p xmlns:a="http://schemas.openxmlformats.org/drawingml/2006/main">
            <a:r>
              <a:t>The mechanism connects directly to isolation. These tests used shared UserDefaults.standard storage and manually cleared a list of keys. Old progress could come from other tests or survive from another run. A positive total therefore did not necessarily come from the action being tested.</a:t>
            </a:r>
          </a:p>
          <a:p xmlns:a="http://schemas.openxmlformats.org/drawingml/2006/main">
            <a:r>
              <a:t/>
            </a:r>
          </a:p>
          <a:p xmlns:a="http://schemas.openxmlformats.org/drawingml/2006/main">
            <a:r>
              <a:t>The fix addressed both parts: snapshot the prior value and assert an increase, and give each test a separate temporary suite through the stores' existing injection parameters. No production-code changes were necessary. This controls the starting state and expresses the behavioral requirement.</a:t>
            </a:r>
          </a:p>
          <a:p xmlns:a="http://schemas.openxmlformats.org/drawingml/2006/main">
            <a:r>
              <a:t/>
            </a:r>
          </a:p>
          <a:p xmlns:a="http://schemas.openxmlformats.org/drawingml/2006/main">
            <a:r>
              <a:t>QA found three issues overall. The third concerned distinguishing the two exit branches. We can discuss it after the talk. The main point here is the connection between a weak assertion and shared state. The other tests retained their value.</a:t>
            </a:r>
          </a:p>
          <a:p xmlns:a="http://schemas.openxmlformats.org/drawingml/2006/main">
            <a:r>
              <a:t/>
            </a:r>
          </a:p>
          <a:p xmlns:a="http://schemas.openxmlformats.org/drawingml/2006/main">
            <a:r>
              <a:t>SOURCES</a:t>
            </a:r>
          </a:p>
          <a:p xmlns:a="http://schemas.openxmlformats.org/drawingml/2006/main">
            <a:r>
              <a:t>https://github.com/TeleginS/TrafficRulesApp/pull/198#issuecomment-5500803440</a:t>
            </a:r>
          </a:p>
          <a:p xmlns:a="http://schemas.openxmlformats.org/drawingml/2006/main">
            <a:r>
              <a:t>https://github.com/TeleginS/TrafficRulesApp/pull/198#issuecomment-5500799535</a:t>
            </a:r>
          </a:p>
          <a:p xmlns:a="http://schemas.openxmlformats.org/drawingml/2006/main">
            <a:r>
              <a:t>https://github.com/TeleginS/TrafficRulesApp/issues/199</a:t>
            </a:r>
          </a:p>
          <a:p xmlns:a="http://schemas.openxmlformats.org/drawingml/2006/main">
            <a:r>
              <a:t>https://github.com/TeleginS/TrafficRulesApp/issues/200</a:t>
            </a:r>
          </a:p>
          <a:p xmlns:a="http://schemas.openxmlformats.org/drawingml/2006/main">
            <a:r>
              <a:t>https://github.com/TeleginS/TrafficRulesApp/commit/114cb54a883fcfed25f98e08c97d9d3ff9407e20</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10:00–12:00. Planned pace, including pauses and discussion of the evidence. Keep 18:00–20:00 free as a buffer. Audience questions follow the talk.</a:t>
            </a:r>
          </a:p>
          <a:p xmlns:a="http://schemas.openxmlformats.org/drawingml/2006/main">
            <a:r>
              <a:t/>
            </a:r>
          </a:p>
          <a:p xmlns:a="http://schemas.openxmlformats.org/drawingml/2006/main">
            <a:r>
              <a:t>This is the new route in a concrete run. The developer addressed the QA findings in the fix commit. Review iteration 3 explicitly invokes rule 11 and evaluates the QA fixes. Only after its approval does the work return to QA.</a:t>
            </a:r>
          </a:p>
          <a:p xmlns:a="http://schemas.openxmlformats.org/drawingml/2006/main">
            <a:r>
              <a:t/>
            </a:r>
          </a:p>
          <a:p xmlns:a="http://schemas.openxmlformats.org/drawingml/2006/main">
            <a:r>
              <a:t>The review does more than confirm that the code changed. It qualifies the explanation of the fix. With the isolated suite, the initial value is zero in these five tests. In that state, greater than zero and greater than before are numerically equivalent. We therefore cannot credit the entire effect to replacing the assertion alone.</a:t>
            </a:r>
          </a:p>
          <a:p xmlns:a="http://schemas.openxmlformats.org/drawingml/2006/main">
            <a:r>
              <a:t/>
            </a:r>
          </a:p>
          <a:p xmlns:a="http://schemas.openxmlformats.org/drawingml/2006/main">
            <a:r>
              <a:t>The delta assertion expresses the intended contribution. The isolated suite controls the starting state. Those changes work together. The reviewer also verified the injection and checked whether shared application data could leak into the new suite.</a:t>
            </a:r>
          </a:p>
          <a:p xmlns:a="http://schemas.openxmlformats.org/drawingml/2006/main">
            <a:r>
              <a:t/>
            </a:r>
          </a:p>
          <a:p xmlns:a="http://schemas.openxmlformats.org/drawingml/2006/main">
            <a:r>
              <a:t>QA then repeated the checks and returned GREEN. Its report records four full runs, each with 157 passing tests, including a deliberately polluted shared store. The screenshots show the first row as a readable excerpt of the larger table.</a:t>
            </a:r>
          </a:p>
          <a:p xmlns:a="http://schemas.openxmlformats.org/drawingml/2006/main">
            <a:r>
              <a:t/>
            </a:r>
          </a:p>
          <a:p xmlns:a="http://schemas.openxmlformats.org/drawingml/2006/main">
            <a:r>
              <a:t>The outcome was reviewed changes and green QA in an open pull request. The decision to merge remains separate. Now we can discuss what these extra passes cost.</a:t>
            </a:r>
          </a:p>
          <a:p xmlns:a="http://schemas.openxmlformats.org/drawingml/2006/main">
            <a:r>
              <a:t/>
            </a:r>
          </a:p>
          <a:p xmlns:a="http://schemas.openxmlformats.org/drawingml/2006/main">
            <a:r>
              <a:t>SOURCES</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https://github.com/TeleginS/TrafficRulesApp/pull/198#issuecomment-5500811713</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 Planned pace, including pauses and discussion of the evidence. Keep 18:00–20:00 free as a buffer. Audience questions follow the talk.</a:t>
            </a:r>
          </a:p>
          <a:p xmlns:a="http://schemas.openxmlformats.org/drawingml/2006/main">
            <a:r>
              <a:t/>
            </a:r>
          </a:p>
          <a:p xmlns:a="http://schemas.openxmlformats.org/drawingml/2006/main">
            <a:r>
              <a:t>These numbers come from the saved cost report for the same ProgressStore test task. There were nine subagent launches, about an hour and a half of elapsed work and roughly 1.10 million subagent tokens. The exact recorded token count is 1,097,667.</a:t>
            </a:r>
          </a:p>
          <a:p xmlns:a="http://schemas.openxmlformats.org/drawingml/2006/main">
            <a:r>
              <a:t/>
            </a:r>
          </a:p>
          <a:p xmlns:a="http://schemas.openxmlformats.org/drawingml/2006/main">
            <a:r>
              <a:t>The role breakdown is three developer passes, three review passes, two QA passes and one planning pass. Each return to a role requires context, investigation, checks and another report. The extra passes produced findings, but they were not free.</a:t>
            </a:r>
          </a:p>
          <a:p xmlns:a="http://schemas.openxmlformats.org/drawingml/2006/main">
            <a:r>
              <a:t/>
            </a:r>
          </a:p>
          <a:p xmlns:a="http://schemas.openxmlformats.org/drawingml/2006/main">
            <a:r>
              <a:t>The token figure excludes the orchestrator. Its tokens were mixed with the main session and only estimated in the source report. Elapsed time comes from that report, not from the timestamps of GitHub comments. Comments can appear after the underlying work.</a:t>
            </a:r>
          </a:p>
          <a:p xmlns:a="http://schemas.openxmlformats.org/drawingml/2006/main">
            <a:r>
              <a:t/>
            </a:r>
          </a:p>
          <a:p xmlns:a="http://schemas.openxmlformats.org/drawingml/2006/main">
            <a:r>
              <a:t>I am also not presenting an estimated dollar range as a provider invoice. Model choice, input and output tokens, and caching affect such an estimate.</a:t>
            </a:r>
          </a:p>
          <a:p xmlns:a="http://schemas.openxmlformats.org/drawingml/2006/main">
            <a:r>
              <a:t/>
            </a:r>
          </a:p>
          <a:p xmlns:a="http://schemas.openxmlformats.org/drawingml/2006/main">
            <a:r>
              <a:t>For 32 new tests, this is substantial overhead. I have no matched single-agent control, so this run does not establish a price or quality advantage for multiple agents. It does show the checks we paid for and the findings they produced. For future runs, I also want to record the time I spend intervening and reading reports.</a:t>
            </a:r>
          </a:p>
          <a:p xmlns:a="http://schemas.openxmlformats.org/drawingml/2006/main">
            <a:r>
              <a:t/>
            </a:r>
          </a:p>
          <a:p xmlns:a="http://schemas.openxmlformats.org/drawingml/2006/main">
            <a:r>
              <a:t>SOURCES</a:t>
            </a:r>
          </a:p>
          <a:p xmlns:a="http://schemas.openxmlformats.org/drawingml/2006/main">
            <a:r>
              <a:t>https://github.com/TeleginS/agent-orchestration/blob/693c5cd291e35d773c9f68f99888ca420dbbf30a/examples/run-progress-store-tests/README.md</a:t>
            </a:r>
          </a:p>
          <a:p xmlns:a="http://schemas.openxmlformats.org/drawingml/2006/main">
            <a:r>
              <a:t>https://github.com/TeleginS/TrafficRulesApp/pull/198</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14:00–17:00. Planned pace, including pauses and discussion of the evidence. Keep 18:00–20:00 free as a buffer. Audience questions follow the talk.</a:t>
            </a:r>
          </a:p>
          <a:p xmlns:a="http://schemas.openxmlformats.org/drawingml/2006/main">
            <a:r>
              <a:t/>
            </a:r>
          </a:p>
          <a:p xmlns:a="http://schemas.openxmlformats.org/drawingml/2006/main">
            <a:r>
              <a:t>The first change is the review of QA fixes that we just saw. Another is separating general role instructions from project facts. A shared profile holds the build and test commands, architecture and project constraints. This run added a profile and corrected drift reported by the agents.</a:t>
            </a:r>
          </a:p>
          <a:p xmlns:a="http://schemas.openxmlformats.org/drawingml/2006/main">
            <a:r>
              <a:t/>
            </a:r>
          </a:p>
          <a:p xmlns:a="http://schemas.openxmlformats.org/drawingml/2006/main">
            <a:r>
              <a:t>The evidence included the question count, the number of test files and the way test results were counted. A particularly useful example was 156 versus 157. Parallel console output lost part of a line, so counting passed messages with grep undercounted tests. The agents used the structured xcresult summary to establish that 157 tests ran. The process needs a better source for the next report, rather than just a corrected number in the current report.</a:t>
            </a:r>
          </a:p>
          <a:p xmlns:a="http://schemas.openxmlformats.org/drawingml/2006/main">
            <a:r>
              <a:t/>
            </a:r>
          </a:p>
          <a:p xmlns:a="http://schemas.openxmlformats.org/drawingml/2006/main">
            <a:r>
              <a:t>Profiles can themselves become stale. Reviewers can misread evidence. Reports should record the scenario, the version and the way the result was obtained.</a:t>
            </a:r>
          </a:p>
          <a:p xmlns:a="http://schemas.openxmlformats.org/drawingml/2006/main">
            <a:r>
              <a:t/>
            </a:r>
          </a:p>
          <a:p xmlns:a="http://schemas.openxmlformats.org/drawingml/2006/main">
            <a:r>
              <a:t>Today, much of this route lives in prompts. A possible next step is runtime enforcement of transitions, retry limits and review for the current code version. A runtime can enforce the existence of an approval without proving that the review is correct. Checkpoints and automatic recovery also require more than this prompt repository provides.</a:t>
            </a:r>
          </a:p>
          <a:p xmlns:a="http://schemas.openxmlformats.org/drawingml/2006/main">
            <a:r>
              <a:t/>
            </a:r>
          </a:p>
          <a:p xmlns:a="http://schemas.openxmlformats.org/drawingml/2006/main">
            <a:r>
              <a:t>Finally, the right amount of decomposition depends on the task. An extra role may repeat an investigation the previous agent already performed. For a small change, one agent and suitable tests may be enough. To compare pipeline versions fairly, I need comparable tasks, recorded conditions and the amount of human intervention.</a:t>
            </a:r>
          </a:p>
          <a:p xmlns:a="http://schemas.openxmlformats.org/drawingml/2006/main">
            <a:r>
              <a:t/>
            </a:r>
          </a:p>
          <a:p xmlns:a="http://schemas.openxmlformats.org/drawingml/2006/main">
            <a:r>
              <a:t>SOURCES</a:t>
            </a:r>
          </a:p>
          <a:p xmlns:a="http://schemas.openxmlformats.org/drawingml/2006/main">
            <a:r>
              <a:t>https://github.com/TeleginS/TrafficRulesApp/commit/9a26da875489315c3164ebeb14e1b8af7c57b177</a:t>
            </a:r>
          </a:p>
          <a:p xmlns:a="http://schemas.openxmlformats.org/drawingml/2006/main">
            <a:r>
              <a:t>https://github.com/TeleginS/TrafficRulesApp/pull/198</a:t>
            </a:r>
          </a:p>
          <a:p xmlns:a="http://schemas.openxmlformats.org/drawingml/2006/main">
            <a:r>
              <a:t>https://github.com/TeleginS/TrafficRulesApp/pull/198#issuecomment-5500807469</a:t>
            </a:r>
          </a:p>
          <a:p xmlns:a="http://schemas.openxmlformats.org/drawingml/2006/main">
            <a:r>
              <a:t>https://github.com/TeleginS/agent-orchestration/blob/693c5cd291e35d773c9f68f99888ca420dbbf30a/PIPELINE.md</a:t>
            </a:r>
          </a:p>
          <a:p xmlns:a="http://schemas.openxmlformats.org/drawingml/2006/main">
            <a:r>
              <a:t>https://github.com/TeleginS/agent-orchestration/blob/693c5cd291e35d773c9f68f99888ca420dbbf30a/examples/run-progress-store-tests/README.md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17:00–18:00. Planned pace, including pauses and discussion of the evidence. Keep 18:00–20:00 free as a buffer. Audience questions follow the talk.</a:t>
            </a:r>
          </a:p>
          <a:p xmlns:a="http://schemas.openxmlformats.org/drawingml/2006/main">
            <a:r>
              <a:t/>
            </a:r>
          </a:p>
          <a:p xmlns:a="http://schemas.openxmlformats.org/drawingml/2006/main">
            <a:r>
              <a:t>If you want to try this approach, begin with one type of task and a clear result for every stage. Save the reports and examine which checks brought useful findings and which only added cost.</a:t>
            </a:r>
          </a:p>
          <a:p xmlns:a="http://schemas.openxmlformats.org/drawingml/2006/main">
            <a:r>
              <a:t/>
            </a:r>
          </a:p>
          <a:p xmlns:a="http://schemas.openxmlformats.org/drawingml/2006/main">
            <a:r>
              <a:t>In the earlier case, QA found a bug after approval. Later, versioned instructions explicitly added review of QA fixes. In the September run, the reports show that step checking both the code and the explanation of the result. The history supports a concrete change in the process, while leaving the full historical session state unknown.</a:t>
            </a:r>
          </a:p>
          <a:p xmlns:a="http://schemas.openxmlformats.org/drawingml/2006/main">
            <a:r>
              <a:t/>
            </a:r>
          </a:p>
          <a:p xmlns:a="http://schemas.openxmlformats.org/drawingml/2006/main">
            <a:r>
              <a:t>That is how I want to tune the pipeline: use observed gaps, change a rule or a source of context, and inspect what happens in the next run. The checks themselves need evidence too.</a:t>
            </a:r>
          </a:p>
          <a:p xmlns:a="http://schemas.openxmlformats.org/drawingml/2006/main">
            <a:r>
              <a:t/>
            </a:r>
          </a:p>
          <a:p xmlns:a="http://schemas.openxmlformats.org/drawingml/2006/main">
            <a:r>
              <a:t>The repository contains the roles, profiles and run examples. Thank you. Questions follow the talk. Keep the remaining two minutes as a buffer rather than adding another topic.</a:t>
            </a:r>
          </a:p>
          <a:p xmlns:a="http://schemas.openxmlformats.org/drawingml/2006/main">
            <a:r>
              <a:t/>
            </a:r>
          </a:p>
          <a:p xmlns:a="http://schemas.openxmlformats.org/drawingml/2006/main">
            <a:r>
              <a:t>SOURCES</a:t>
            </a:r>
          </a:p>
          <a:p xmlns:a="http://schemas.openxmlformats.org/drawingml/2006/main">
            <a:r>
              <a:t>https://github.com/TeleginS/agent-orchestration</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bfc036718241a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13873475dd4dc6" /><Relationship Type="http://schemas.openxmlformats.org/officeDocument/2006/relationships/slideLayout" Target="/ppt/slideLayouts/slideLayout1.xml" Id="Rda8844d1a5644e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8844d1a5644e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e2ad75dba242e0" /><Relationship Type="http://schemas.openxmlformats.org/officeDocument/2006/relationships/hyperlink" Target="https://github.com/TeleginS/agent-orchestration" TargetMode="External" Id="R51e17f775abb40ec" /><Relationship Type="http://schemas.openxmlformats.org/officeDocument/2006/relationships/notesSlide" Target="/ppt/notesSlides/notesSlide1.xml" Id="R47e835760ffe46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c24357b558425c" /><Relationship Type="http://schemas.openxmlformats.org/officeDocument/2006/relationships/image" Target="/ppt/media/image.jpeg" Id="R6e6e83bb52464432" /><Relationship Type="http://schemas.openxmlformats.org/officeDocument/2006/relationships/image" Target="/ppt/media/image2.jpeg" Id="Radc8cafc8f9e4a60" /><Relationship Type="http://schemas.openxmlformats.org/officeDocument/2006/relationships/notesSlide" Target="/ppt/notesSlides/notesSlide2.xml" Id="R52501b97b58d40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8b8df00a9641bf" /><Relationship Type="http://schemas.openxmlformats.org/officeDocument/2006/relationships/notesSlide" Target="/ppt/notesSlides/notesSlide3.xml" Id="Ra8aa076ba15b4c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7c8c99c05a44ba" /><Relationship Type="http://schemas.openxmlformats.org/officeDocument/2006/relationships/notesSlide" Target="/ppt/notesSlides/notesSlide4.xml" Id="R56b7b66afc4f4f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64cf2cc36004e48" /><Relationship Type="http://schemas.openxmlformats.org/officeDocument/2006/relationships/image" Target="/ppt/media/image3.jpeg" Id="R0ae79476fa744c25" /><Relationship Type="http://schemas.openxmlformats.org/officeDocument/2006/relationships/notesSlide" Target="/ppt/notesSlides/notesSlide5.xml" Id="Re578826fe1fa46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31b62c3fc64dec" /><Relationship Type="http://schemas.openxmlformats.org/officeDocument/2006/relationships/image" Target="/ppt/media/image4.jpeg" Id="Rfe266798ec024f6f" /><Relationship Type="http://schemas.openxmlformats.org/officeDocument/2006/relationships/image" Target="/ppt/media/image5.jpeg" Id="R8df527be6d4c4073" /><Relationship Type="http://schemas.openxmlformats.org/officeDocument/2006/relationships/notesSlide" Target="/ppt/notesSlides/notesSlide6.xml" Id="Rdd69936dace04d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8cb205e8fd459c" /><Relationship Type="http://schemas.openxmlformats.org/officeDocument/2006/relationships/image" Target="/ppt/media/image6.jpeg" Id="Rb27024a194584d12" /><Relationship Type="http://schemas.openxmlformats.org/officeDocument/2006/relationships/notesSlide" Target="/ppt/notesSlides/notesSlide7.xml" Id="Rc9e35f2bc33349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938562a5f74ce9" /><Relationship Type="http://schemas.openxmlformats.org/officeDocument/2006/relationships/image" Target="/ppt/media/image7.jpeg" Id="Rc6656c833bad4c84" /><Relationship Type="http://schemas.openxmlformats.org/officeDocument/2006/relationships/image" Target="/ppt/media/image8.jpeg" Id="R4cd01e687a7f4316" /><Relationship Type="http://schemas.openxmlformats.org/officeDocument/2006/relationships/image" Target="/ppt/media/image9.jpeg" Id="Rc2115fb21cb44058" /><Relationship Type="http://schemas.openxmlformats.org/officeDocument/2006/relationships/image" Target="/ppt/media/image10.jpeg" Id="R66b819e4e6fe443c" /><Relationship Type="http://schemas.openxmlformats.org/officeDocument/2006/relationships/notesSlide" Target="/ppt/notesSlides/notesSlide8.xml" Id="R406d6de9e3894b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8fb2210d71495c" /><Relationship Type="http://schemas.openxmlformats.org/officeDocument/2006/relationships/image" Target="/ppt/media/image11.jpeg" Id="Rc5ff1a14dba6473a" /><Relationship Type="http://schemas.openxmlformats.org/officeDocument/2006/relationships/notesSlide" Target="/ppt/notesSlides/notesSlide9.xml" Id="R4465bcd39dd944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fe164d5625498d" /><Relationship Type="http://schemas.openxmlformats.org/officeDocument/2006/relationships/image" Target="/ppt/media/image12.jpeg" Id="R7cb28e6a36524157" /><Relationship Type="http://schemas.openxmlformats.org/officeDocument/2006/relationships/notesSlide" Target="/ppt/notesSlides/notesSlide10.xml" Id="Rdac917f63b21467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3726a9828854ddc" /><Relationship Type="http://schemas.openxmlformats.org/officeDocument/2006/relationships/hyperlink" Target="https://github.com/TeleginS/agent-orchestration" TargetMode="External" Id="Rc98428ee226e42e3" /><Relationship Type="http://schemas.openxmlformats.org/officeDocument/2006/relationships/notesSlide" Target="/ppt/notesSlides/notesSlide11.xml" Id="R1980e5817dfc46d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F251FC-AC2C-4531-9718-03F4247E7E27}"/>
              </a:ext>
            </a:extLst>
          </p:cNvPr>
          <p:cNvSpPr>
            <a:spLocks xmlns:a="http://schemas.openxmlformats.org/drawingml/2006/main" noGrp="1"/>
          </p:cNvSpPr>
          <p:nvPr/>
        </p:nvSpPr>
        <p:spPr>
          <a:xfrm xmlns:a="http://schemas.openxmlformats.org/drawingml/2006/main">
            <a:off x="685800" y="19716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2B35"/>
                </a:solidFill>
                <a:latin typeface="Arial"/>
                <a:ea typeface="Arial"/>
                <a:cs typeface="Arial"/>
              </a:defRPr>
            </a:pPr>
            <a:r>
              <a:rPr sz="5100" b="1">
                <a:solidFill>
                  <a:srgbClr val="152B35"/>
                </a:solidFill>
                <a:latin typeface="Arial"/>
                <a:ea typeface="Arial"/>
                <a:cs typeface="Arial"/>
              </a:rPr>
              <a:t>Agent Orchestration</a:t>
            </a:r>
          </a:p>
        </p:txBody>
      </p:sp>
      <p:sp>
        <p:nvSpPr>
          <p:cNvPr id="2" name="">
            <a:extLst xmlns:a="http://schemas.openxmlformats.org/drawingml/2006/main">
              <a:ext uri="{FF2B5EF4-FFF2-40B4-BE49-F238E27FC236}">
                <a16:creationId xmlns:a16="http://schemas.microsoft.com/office/drawing/2014/main" id="{BE2DA921-683C-491A-BC69-D7B3CFBE86B1}"/>
              </a:ext>
            </a:extLst>
          </p:cNvPr>
          <p:cNvSpPr>
            <a:spLocks xmlns:a="http://schemas.openxmlformats.org/drawingml/2006/main" noGrp="1"/>
          </p:cNvSpPr>
          <p:nvPr/>
        </p:nvSpPr>
        <p:spPr>
          <a:xfrm xmlns:a="http://schemas.openxmlformats.org/drawingml/2006/main">
            <a:off x="723900" y="3409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52B35"/>
                </a:solidFill>
                <a:latin typeface="Arial"/>
                <a:ea typeface="Arial"/>
                <a:cs typeface="Arial"/>
              </a:defRPr>
            </a:pPr>
            <a:r>
              <a:rPr sz="2850" b="0">
                <a:solidFill>
                  <a:srgbClr val="152B35"/>
                </a:solidFill>
                <a:latin typeface="Arial"/>
                <a:ea typeface="Arial"/>
                <a:cs typeface="Arial"/>
              </a:rPr>
              <a:t>Sergei Telegin</a:t>
            </a:r>
          </a:p>
        </p:txBody>
      </p:sp>
      <p:sp>
        <p:nvSpPr>
          <p:cNvPr id="3" name="">
            <a:extLst xmlns:a="http://schemas.openxmlformats.org/drawingml/2006/main">
              <a:ext uri="{FF2B5EF4-FFF2-40B4-BE49-F238E27FC236}">
                <a16:creationId xmlns:a16="http://schemas.microsoft.com/office/drawing/2014/main" id="{E748CABC-BCDE-4A73-83C7-C0CCFB12C097}"/>
              </a:ext>
            </a:extLst>
          </p:cNvPr>
          <p:cNvSpPr>
            <a:spLocks xmlns:a="http://schemas.openxmlformats.org/drawingml/2006/main" noGrp="1"/>
          </p:cNvSpPr>
          <p:nvPr/>
        </p:nvSpPr>
        <p:spPr>
          <a:xfrm xmlns:a="http://schemas.openxmlformats.org/drawingml/2006/main">
            <a:off x="723900" y="52482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07F78"/>
                </a:solidFill>
                <a:latin typeface="Arial"/>
                <a:ea typeface="Arial"/>
                <a:cs typeface="Arial"/>
              </a:defRPr>
            </a:pPr>
            <a:r>
              <a:rPr sz="2175" b="0">
                <a:solidFill>
                  <a:srgbClr val="007F78"/>
                </a:solidFill>
                <a:latin typeface="Arial"/>
                <a:ea typeface="Arial"/>
                <a:cs typeface="Arial"/>
                <a:hlinkClick xmlns:r="http://schemas.openxmlformats.org/officeDocument/2006/relationships" r:id="R51e17f775abb40ec"/>
              </a:rPr>
              <a:t>github.com/TeleginS/agent-orchestration</a:t>
            </a:r>
          </a:p>
        </p:txBody>
      </p:sp>
    </p:spTree>
    <p:extLst>
      <p:ext uri="{BB962C8B-B14F-4D97-AF65-F5344CB8AC3E}">
        <p14:creationId xmlns:p14="http://schemas.microsoft.com/office/powerpoint/2010/main" val="18024013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9E0A44-F0A4-4C85-93FA-3D076CFF069D}"/>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Evolving an AI delivery pipeline</a:t>
            </a:r>
          </a:p>
        </p:txBody>
      </p:sp>
      <p:sp>
        <p:nvSpPr>
          <p:cNvPr id="2" name="">
            <a:extLst xmlns:a="http://schemas.openxmlformats.org/drawingml/2006/main">
              <a:ext uri="{FF2B5EF4-FFF2-40B4-BE49-F238E27FC236}">
                <a16:creationId xmlns:a16="http://schemas.microsoft.com/office/drawing/2014/main" id="{AFD69B71-70CA-4CC9-9126-5700B9D09F7F}"/>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A real case from TrafficRulesApp, my iOS driving-test app</a:t>
            </a:r>
          </a:p>
        </p:txBody>
      </p:sp>
      <p:sp>
        <p:nvSpPr>
          <p:cNvPr id="3" name="">
            <a:extLst xmlns:a="http://schemas.openxmlformats.org/drawingml/2006/main">
              <a:ext uri="{FF2B5EF4-FFF2-40B4-BE49-F238E27FC236}">
                <a16:creationId xmlns:a16="http://schemas.microsoft.com/office/drawing/2014/main" id="{6F15C7BD-77DA-48ED-B7A0-9CE2242D2E41}"/>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D296AABD-F7E1-429D-AD65-35A19EE02DD5}"/>
              </a:ext>
            </a:extLst>
          </p:cNvPr>
          <p:cNvSpPr>
            <a:spLocks xmlns:a="http://schemas.openxmlformats.org/drawingml/2006/main" noGrp="1"/>
          </p:cNvSpPr>
          <p:nvPr/>
        </p:nvSpPr>
        <p:spPr>
          <a:xfrm xmlns:a="http://schemas.openxmlformats.org/drawingml/2006/main">
            <a:off x="609600" y="18859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July 2026: QA found a bug after review</a:t>
            </a:r>
          </a:p>
        </p:txBody>
      </p:sp>
      <p:sp>
        <p:nvSpPr>
          <p:cNvPr id="5" name="">
            <a:extLst xmlns:a="http://schemas.openxmlformats.org/drawingml/2006/main">
              <a:ext uri="{FF2B5EF4-FFF2-40B4-BE49-F238E27FC236}">
                <a16:creationId xmlns:a16="http://schemas.microsoft.com/office/drawing/2014/main" id="{5D327F28-6771-4701-95D3-A2A02A820ADD}"/>
              </a:ext>
            </a:extLst>
          </p:cNvPr>
          <p:cNvSpPr>
            <a:spLocks xmlns:a="http://schemas.openxmlformats.org/drawingml/2006/main" noGrp="1"/>
          </p:cNvSpPr>
          <p:nvPr/>
        </p:nvSpPr>
        <p:spPr>
          <a:xfrm xmlns:a="http://schemas.openxmlformats.org/drawingml/2006/main">
            <a:off x="609600" y="26384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7047"/>
                </a:solidFill>
                <a:latin typeface="Arial"/>
                <a:ea typeface="Arial"/>
                <a:cs typeface="Arial"/>
              </a:defRPr>
            </a:pPr>
            <a:r>
              <a:rPr sz="1950" b="1">
                <a:solidFill>
                  <a:srgbClr val="187047"/>
                </a:solidFill>
                <a:latin typeface="Arial"/>
                <a:ea typeface="Arial"/>
                <a:cs typeface="Arial"/>
              </a:rPr>
              <a:t>Review approved the change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e6e83bb52464432"/>
          <a:srcRect xmlns:a="http://schemas.openxmlformats.org/drawingml/2006/main" l="9265" t="12043" r="31823" b="76080"/>
          <a:stretch xmlns:a="http://schemas.openxmlformats.org/drawingml/2006/main">
            <a:fillRect l="0" t="0" r="0" b="0"/>
          </a:stretch>
        </p:blipFill>
        <p:spPr>
          <a:xfrm xmlns:a="http://schemas.openxmlformats.org/drawingml/2006/main">
            <a:off x="609600" y="3095625"/>
            <a:ext cx="5143500" cy="12573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1D3782E-3740-4F3C-8C78-40A45399ED55}"/>
              </a:ext>
            </a:extLst>
          </p:cNvPr>
          <p:cNvSpPr>
            <a:spLocks xmlns:a="http://schemas.openxmlformats.org/drawingml/2006/main" noGrp="1"/>
          </p:cNvSpPr>
          <p:nvPr/>
        </p:nvSpPr>
        <p:spPr>
          <a:xfrm xmlns:a="http://schemas.openxmlformats.org/drawingml/2006/main">
            <a:off x="6343650" y="263842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B53233"/>
                </a:solidFill>
                <a:latin typeface="Arial"/>
                <a:ea typeface="Arial"/>
                <a:cs typeface="Arial"/>
              </a:defRPr>
            </a:pPr>
            <a:r>
              <a:rPr sz="1950" b="1">
                <a:solidFill>
                  <a:srgbClr val="B53233"/>
                </a:solidFill>
                <a:latin typeface="Arial"/>
                <a:ea typeface="Arial"/>
                <a:cs typeface="Arial"/>
              </a:rPr>
              <a:t>QA found double-counted time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dc8cafc8f9e4a60"/>
          <a:srcRect xmlns:a="http://schemas.openxmlformats.org/drawingml/2006/main" l="2014" t="9967" r="25478" b="80066"/>
          <a:stretch xmlns:a="http://schemas.openxmlformats.org/drawingml/2006/main">
            <a:fillRect l="0" t="0" r="0" b="0"/>
          </a:stretch>
        </p:blipFill>
        <p:spPr>
          <a:xfrm xmlns:a="http://schemas.openxmlformats.org/drawingml/2006/main">
            <a:off x="6343650" y="3095625"/>
            <a:ext cx="5238750" cy="873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9B72138-7C5A-439B-B25C-F21B75FFCDD3}"/>
              </a:ext>
            </a:extLst>
          </p:cNvPr>
          <p:cNvSpPr>
            <a:spLocks xmlns:a="http://schemas.openxmlformats.org/drawingml/2006/main" noGrp="1"/>
          </p:cNvSpPr>
          <p:nvPr/>
        </p:nvSpPr>
        <p:spPr>
          <a:xfrm xmlns:a="http://schemas.openxmlformats.org/drawingml/2006/main">
            <a:off x="609600" y="4752975"/>
            <a:ext cx="10906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B35"/>
                </a:solidFill>
                <a:latin typeface="Arial"/>
                <a:ea typeface="Arial"/>
                <a:cs typeface="Arial"/>
              </a:defRPr>
            </a:pPr>
            <a:r>
              <a:rPr sz="2475" b="0">
                <a:solidFill>
                  <a:srgbClr val="152B35"/>
                </a:solidFill>
                <a:latin typeface="Arial"/>
                <a:ea typeface="Arial"/>
                <a:cs typeface="Arial"/>
              </a:rPr>
              <a:t>The pipeline changed over time. A later run shows why the new review step matters.</a:t>
            </a:r>
          </a:p>
        </p:txBody>
      </p:sp>
      <p:sp>
        <p:nvSpPr>
          <p:cNvPr id="10" name="">
            <a:extLst xmlns:a="http://schemas.openxmlformats.org/drawingml/2006/main">
              <a:ext uri="{FF2B5EF4-FFF2-40B4-BE49-F238E27FC236}">
                <a16:creationId xmlns:a16="http://schemas.microsoft.com/office/drawing/2014/main" id="{574D085A-438E-4788-9B2E-FE2BF626B1B6}"/>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Sergei Telegin   /   Manychat meetup   /   July and September 2026 cases</a:t>
            </a:r>
          </a:p>
        </p:txBody>
      </p:sp>
    </p:spTree>
    <p:extLst>
      <p:ext uri="{BB962C8B-B14F-4D97-AF65-F5344CB8AC3E}">
        <p14:creationId xmlns:p14="http://schemas.microsoft.com/office/powerpoint/2010/main" val="12265397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9948187-93EC-4E47-BDAA-7C4AE269FC6F}"/>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agent loop</a:t>
            </a:r>
          </a:p>
        </p:txBody>
      </p:sp>
      <p:sp>
        <p:nvSpPr>
          <p:cNvPr id="2" name="">
            <a:extLst xmlns:a="http://schemas.openxmlformats.org/drawingml/2006/main">
              <a:ext uri="{FF2B5EF4-FFF2-40B4-BE49-F238E27FC236}">
                <a16:creationId xmlns:a16="http://schemas.microsoft.com/office/drawing/2014/main" id="{E6E7FEC3-6BDB-487B-91A3-373BE6993A12}"/>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The model chooses actions. The harness executes allowed calls.</a:t>
            </a:r>
          </a:p>
        </p:txBody>
      </p:sp>
      <p:sp>
        <p:nvSpPr>
          <p:cNvPr id="3" name="">
            <a:extLst xmlns:a="http://schemas.openxmlformats.org/drawingml/2006/main">
              <a:ext uri="{FF2B5EF4-FFF2-40B4-BE49-F238E27FC236}">
                <a16:creationId xmlns:a16="http://schemas.microsoft.com/office/drawing/2014/main" id="{D298CFFE-B74E-48A4-A113-62F25557D6EC}"/>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7B39360-2D90-48D6-B579-A9D892819AAC}"/>
              </a:ext>
            </a:extLst>
          </p:cNvPr>
          <p:cNvSpPr>
            <a:spLocks xmlns:a="http://schemas.openxmlformats.org/drawingml/2006/main" noGrp="1"/>
          </p:cNvSpPr>
          <p:nvPr/>
        </p:nvSpPr>
        <p:spPr>
          <a:xfrm xmlns:a="http://schemas.openxmlformats.org/drawingml/2006/main">
            <a:off x="609600" y="19240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Task: add a regression test</a:t>
            </a:r>
          </a:p>
        </p:txBody>
      </p:sp>
      <p:sp>
        <p:nvSpPr>
          <p:cNvPr id="5" name="">
            <a:extLst xmlns:a="http://schemas.openxmlformats.org/drawingml/2006/main">
              <a:ext uri="{FF2B5EF4-FFF2-40B4-BE49-F238E27FC236}">
                <a16:creationId xmlns:a16="http://schemas.microsoft.com/office/drawing/2014/main" id="{480FF345-82C8-4871-B695-BD78277E1FDE}"/>
              </a:ext>
            </a:extLst>
          </p:cNvPr>
          <p:cNvSpPr>
            <a:spLocks xmlns:a="http://schemas.openxmlformats.org/drawingml/2006/main" noGrp="1"/>
          </p:cNvSpPr>
          <p:nvPr/>
        </p:nvSpPr>
        <p:spPr>
          <a:xfrm xmlns:a="http://schemas.openxmlformats.org/drawingml/2006/main">
            <a:off x="666750" y="2876550"/>
            <a:ext cx="152400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Task</a:t>
            </a:r>
          </a:p>
        </p:txBody>
      </p:sp>
      <p:sp>
        <p:nvSpPr>
          <p:cNvPr id="6" name="">
            <a:extLst xmlns:a="http://schemas.openxmlformats.org/drawingml/2006/main">
              <a:ext uri="{FF2B5EF4-FFF2-40B4-BE49-F238E27FC236}">
                <a16:creationId xmlns:a16="http://schemas.microsoft.com/office/drawing/2014/main" id="{636446A8-DC2B-4CC4-8E64-FDD4D6BBD686}"/>
              </a:ext>
            </a:extLst>
          </p:cNvPr>
          <p:cNvSpPr>
            <a:spLocks xmlns:a="http://schemas.openxmlformats.org/drawingml/2006/main" noGrp="1"/>
          </p:cNvSpPr>
          <p:nvPr/>
        </p:nvSpPr>
        <p:spPr>
          <a:xfrm xmlns:a="http://schemas.openxmlformats.org/drawingml/2006/main">
            <a:off x="3143250" y="2876550"/>
            <a:ext cx="2095500" cy="666750"/>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Model</a:t>
            </a:r>
          </a:p>
        </p:txBody>
      </p:sp>
      <p:sp>
        <p:nvSpPr>
          <p:cNvPr id="7" name="">
            <a:extLst xmlns:a="http://schemas.openxmlformats.org/drawingml/2006/main">
              <a:ext uri="{FF2B5EF4-FFF2-40B4-BE49-F238E27FC236}">
                <a16:creationId xmlns:a16="http://schemas.microsoft.com/office/drawing/2014/main" id="{D9959745-372A-4367-8DA8-DE97A0CCDCF1}"/>
              </a:ext>
            </a:extLst>
          </p:cNvPr>
          <p:cNvSpPr>
            <a:spLocks xmlns:a="http://schemas.openxmlformats.org/drawingml/2006/main" noGrp="1"/>
          </p:cNvSpPr>
          <p:nvPr/>
        </p:nvSpPr>
        <p:spPr>
          <a:xfrm xmlns:a="http://schemas.openxmlformats.org/drawingml/2006/main">
            <a:off x="7905750" y="2876550"/>
            <a:ext cx="228600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Tool call</a:t>
            </a:r>
          </a:p>
        </p:txBody>
      </p:sp>
      <p:sp>
        <p:nvSpPr>
          <p:cNvPr id="8" name="">
            <a:extLst xmlns:a="http://schemas.openxmlformats.org/drawingml/2006/main">
              <a:ext uri="{FF2B5EF4-FFF2-40B4-BE49-F238E27FC236}">
                <a16:creationId xmlns:a16="http://schemas.microsoft.com/office/drawing/2014/main" id="{6E10B5FC-6110-4087-A54C-F00697A6A613}"/>
              </a:ext>
            </a:extLst>
          </p:cNvPr>
          <p:cNvSpPr>
            <a:spLocks xmlns:a="http://schemas.openxmlformats.org/drawingml/2006/main" noGrp="1"/>
          </p:cNvSpPr>
          <p:nvPr/>
        </p:nvSpPr>
        <p:spPr>
          <a:xfrm xmlns:a="http://schemas.openxmlformats.org/drawingml/2006/main">
            <a:off x="5334000" y="4276725"/>
            <a:ext cx="2428875"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Tool result</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2190750" y="3190875"/>
            <a:ext cx="952500" cy="1905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flipV="1">
            <a:off x="5238750" y="3190875"/>
            <a:ext cx="2667000" cy="1905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26" name=""/>
          <p:cNvCxnSpPr>
            <a:stCxn xmlns:a="http://schemas.openxmlformats.org/drawingml/2006/main" id="7" idx="2"/>
            <a:endCxn xmlns:a="http://schemas.openxmlformats.org/drawingml/2006/main" id="8" idx="3"/>
          </p:cNvCxnSpPr>
          <p:nvPr/>
        </p:nvCxnSpPr>
        <p:spPr>
          <a:xfrm xmlns:a="http://schemas.openxmlformats.org/drawingml/2006/main" flipH="1">
            <a:off x="7762875" y="3505200"/>
            <a:ext cx="1285875" cy="1085850"/>
          </a:xfrm>
          <a:prstGeom xmlns:a="http://schemas.openxmlformats.org/drawingml/2006/main" prst="bentConnector5">
            <a:avLst>
              <a:gd name="adj1" fmla="val 0"/>
              <a:gd name="adj2" fmla="val 21053"/>
              <a:gd name="adj3" fmla="val 82222"/>
            </a:avLst>
          </a:prstGeom>
          <a:ln xmlns:a="http://schemas.openxmlformats.org/drawingml/2006/main" w="19050">
            <a:solidFill>
              <a:srgbClr val="007F78"/>
            </a:solidFill>
            <a:tailEnd type="triangle" w="med" len="med"/>
          </a:ln>
        </p:spPr>
      </p:cxnSp>
      <p:cxnSp>
        <p:nvCxnSpPr>
          <p:cNvPr id="27" name=""/>
          <p:cNvCxnSpPr>
            <a:stCxn xmlns:a="http://schemas.openxmlformats.org/drawingml/2006/main" id="8" idx="1"/>
            <a:endCxn xmlns:a="http://schemas.openxmlformats.org/drawingml/2006/main" id="6" idx="2"/>
          </p:cNvCxnSpPr>
          <p:nvPr/>
        </p:nvCxnSpPr>
        <p:spPr>
          <a:xfrm xmlns:a="http://schemas.openxmlformats.org/drawingml/2006/main" flipH="1" flipV="1">
            <a:off x="4191000" y="3543300"/>
            <a:ext cx="1143000" cy="1047750"/>
          </a:xfrm>
          <a:prstGeom xmlns:a="http://schemas.openxmlformats.org/drawingml/2006/main" prst="bentConnector2">
            <a:avLst/>
          </a:prstGeom>
          <a:ln xmlns:a="http://schemas.openxmlformats.org/drawingml/2006/main" w="19050">
            <a:solidFill>
              <a:srgbClr val="007F78"/>
            </a:solidFill>
            <a:tailEnd type="triangle" w="med" len="med"/>
          </a:ln>
        </p:spPr>
      </p:cxnSp>
      <p:sp>
        <p:nvSpPr>
          <p:cNvPr id="13" name="">
            <a:extLst xmlns:a="http://schemas.openxmlformats.org/drawingml/2006/main">
              <a:ext uri="{FF2B5EF4-FFF2-40B4-BE49-F238E27FC236}">
                <a16:creationId xmlns:a16="http://schemas.microsoft.com/office/drawing/2014/main" id="{AF6747C3-22C0-43F5-AA2B-3596836EACD5}"/>
              </a:ext>
            </a:extLst>
          </p:cNvPr>
          <p:cNvSpPr>
            <a:spLocks xmlns:a="http://schemas.openxmlformats.org/drawingml/2006/main" noGrp="1"/>
          </p:cNvSpPr>
          <p:nvPr/>
        </p:nvSpPr>
        <p:spPr>
          <a:xfrm xmlns:a="http://schemas.openxmlformats.org/drawingml/2006/main">
            <a:off x="9486900" y="3695700"/>
            <a:ext cx="1981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Read files</a:t>
            </a:r>
          </a:p>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Run tests</a:t>
            </a:r>
          </a:p>
        </p:txBody>
      </p:sp>
      <p:sp>
        <p:nvSpPr>
          <p:cNvPr id="14" name="">
            <a:extLst xmlns:a="http://schemas.openxmlformats.org/drawingml/2006/main">
              <a:ext uri="{FF2B5EF4-FFF2-40B4-BE49-F238E27FC236}">
                <a16:creationId xmlns:a16="http://schemas.microsoft.com/office/drawing/2014/main" id="{4BDEA3A0-8B6B-4AF9-900A-3894EED9B482}"/>
              </a:ext>
            </a:extLst>
          </p:cNvPr>
          <p:cNvSpPr>
            <a:spLocks xmlns:a="http://schemas.openxmlformats.org/drawingml/2006/main" noGrp="1"/>
          </p:cNvSpPr>
          <p:nvPr/>
        </p:nvSpPr>
        <p:spPr>
          <a:xfrm xmlns:a="http://schemas.openxmlformats.org/drawingml/2006/main">
            <a:off x="609600" y="5324475"/>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Harness</a:t>
            </a:r>
          </a:p>
        </p:txBody>
      </p:sp>
      <p:sp>
        <p:nvSpPr>
          <p:cNvPr id="15" name="">
            <a:extLst xmlns:a="http://schemas.openxmlformats.org/drawingml/2006/main">
              <a:ext uri="{FF2B5EF4-FFF2-40B4-BE49-F238E27FC236}">
                <a16:creationId xmlns:a16="http://schemas.microsoft.com/office/drawing/2014/main" id="{20BBBA7D-1DA2-4B7C-A429-B9E7EDDC003B}"/>
              </a:ext>
            </a:extLst>
          </p:cNvPr>
          <p:cNvSpPr>
            <a:spLocks xmlns:a="http://schemas.openxmlformats.org/drawingml/2006/main" noGrp="1"/>
          </p:cNvSpPr>
          <p:nvPr/>
        </p:nvSpPr>
        <p:spPr>
          <a:xfrm xmlns:a="http://schemas.openxmlformats.org/drawingml/2006/main">
            <a:off x="609600" y="5762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35"/>
                </a:solidFill>
                <a:latin typeface="Arial"/>
                <a:ea typeface="Arial"/>
                <a:cs typeface="Arial"/>
              </a:defRPr>
            </a:pPr>
            <a:r>
              <a:rPr sz="2025" b="0">
                <a:solidFill>
                  <a:srgbClr val="152B35"/>
                </a:solidFill>
                <a:latin typeface="Arial"/>
                <a:ea typeface="Arial"/>
                <a:cs typeface="Arial"/>
              </a:rPr>
              <a:t>Context, permissions, error handling and stopping conditions</a:t>
            </a:r>
          </a:p>
        </p:txBody>
      </p:sp>
    </p:spTree>
    <p:extLst>
      <p:ext uri="{BB962C8B-B14F-4D97-AF65-F5344CB8AC3E}">
        <p14:creationId xmlns:p14="http://schemas.microsoft.com/office/powerpoint/2010/main" val="8197803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82CA4C-EDFB-48B9-B7EA-B5CD43575B5E}"/>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Roles and handoffs</a:t>
            </a:r>
          </a:p>
        </p:txBody>
      </p:sp>
      <p:sp>
        <p:nvSpPr>
          <p:cNvPr id="2" name="">
            <a:extLst xmlns:a="http://schemas.openxmlformats.org/drawingml/2006/main">
              <a:ext uri="{FF2B5EF4-FFF2-40B4-BE49-F238E27FC236}">
                <a16:creationId xmlns:a16="http://schemas.microsoft.com/office/drawing/2014/main" id="{50569B79-766D-469B-8A1F-22099623B5B8}"/>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Each stage produces something the next stage can inspect</a:t>
            </a:r>
          </a:p>
        </p:txBody>
      </p:sp>
      <p:sp>
        <p:nvSpPr>
          <p:cNvPr id="3" name="">
            <a:extLst xmlns:a="http://schemas.openxmlformats.org/drawingml/2006/main">
              <a:ext uri="{FF2B5EF4-FFF2-40B4-BE49-F238E27FC236}">
                <a16:creationId xmlns:a16="http://schemas.microsoft.com/office/drawing/2014/main" id="{F8B8F969-C4E5-4DBD-A9A5-F615B30D6A40}"/>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03</a:t>
            </a:r>
          </a:p>
        </p:txBody>
      </p:sp>
      <p:graphicFrame>
        <p:nvGraphicFramePr>
          <p:cNvPr id="9" name=""/>
          <p:cNvGraphicFramePr/>
          <p:nvPr/>
        </p:nvGraphicFramePr>
        <p:xfrm>
          <a:off xmlns:a="http://schemas.openxmlformats.org/drawingml/2006/main" x="609600" y="1933575"/>
          <a:ext xmlns:a="http://schemas.openxmlformats.org/drawingml/2006/main" cx="10972800" cy="3552825"/>
        </p:xfrm>
        <a:graphic xmlns:a="http://schemas.openxmlformats.org/drawingml/2006/main">
          <a:graphicData uri="http://schemas.openxmlformats.org/drawingml/2006/table">
            <a:tbl>
              <a:tblPr/>
              <a:tblGrid>
                <a:gridCol w="2286000"/>
                <a:gridCol w="4191000"/>
                <a:gridCol w="4495800"/>
              </a:tblGrid>
              <a:tr h="592138">
                <a:tc>
                  <a:txBody>
                    <a:bodyPr>
                      <a:noAutofit/>
                    </a:bodyPr>
                    <a:lstStyle/>
                    <a:p>
                      <a:r>
                        <a:rPr sz="1800" b="1">
                          <a:solidFill>
                            <a:srgbClr val="007F78"/>
                          </a:solidFill>
                          <a:latin typeface="Arial"/>
                          <a:ea typeface="Arial"/>
                          <a:cs typeface="Arial"/>
                        </a:rPr>
                        <a:t>Role</a:t>
                      </a:r>
                    </a:p>
                  </a:txBody>
                  <a:tcPr marL="91440" marR="91440" marT="45720" marB="45720">
                    <a:solidFill>
                      <a:srgbClr val="EAF4F1"/>
                    </a:solidFill>
                  </a:tcPr>
                </a:tc>
                <a:tc>
                  <a:txBody>
                    <a:bodyPr>
                      <a:noAutofit/>
                    </a:bodyPr>
                    <a:lstStyle/>
                    <a:p>
                      <a:r>
                        <a:rPr sz="1800" b="1">
                          <a:solidFill>
                            <a:srgbClr val="007F78"/>
                          </a:solidFill>
                          <a:latin typeface="Arial"/>
                          <a:ea typeface="Arial"/>
                          <a:cs typeface="Arial"/>
                        </a:rPr>
                        <a:t>Responsibility</a:t>
                      </a:r>
                    </a:p>
                  </a:txBody>
                  <a:tcPr marL="91440" marR="91440" marT="45720" marB="45720">
                    <a:solidFill>
                      <a:srgbClr val="EAF4F1"/>
                    </a:solidFill>
                  </a:tcPr>
                </a:tc>
                <a:tc>
                  <a:txBody>
                    <a:bodyPr>
                      <a:noAutofit/>
                    </a:bodyPr>
                    <a:lstStyle/>
                    <a:p>
                      <a:r>
                        <a:rPr sz="1800" b="1">
                          <a:solidFill>
                            <a:srgbClr val="007F78"/>
                          </a:solidFill>
                          <a:latin typeface="Arial"/>
                          <a:ea typeface="Arial"/>
                          <a:cs typeface="Arial"/>
                        </a:rPr>
                        <a:t>Handoff</a:t>
                      </a:r>
                    </a:p>
                  </a:txBody>
                  <a:tcPr marL="91440" marR="91440" marT="45720" marB="45720">
                    <a:solidFill>
                      <a:srgbClr val="EAF4F1"/>
                    </a:solidFill>
                  </a:tcPr>
                </a:tc>
              </a:tr>
              <a:tr h="592138">
                <a:tc>
                  <a:txBody>
                    <a:bodyPr>
                      <a:noAutofit/>
                    </a:bodyPr>
                    <a:lstStyle/>
                    <a:p>
                      <a:r>
                        <a:rPr sz="1800" b="0">
                          <a:solidFill>
                            <a:srgbClr val="152B35"/>
                          </a:solidFill>
                          <a:latin typeface="Arial"/>
                          <a:ea typeface="Arial"/>
                          <a:cs typeface="Arial"/>
                        </a:rPr>
                        <a:t>Planner</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Define scope and acceptance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Issues and criteria</a:t>
                      </a:r>
                    </a:p>
                  </a:txBody>
                  <a:tcPr marL="91440" marR="91440" marT="45720" marB="45720">
                    <a:solidFill>
                      <a:srgbClr val="FFFFFF"/>
                    </a:solidFill>
                  </a:tcPr>
                </a:tc>
              </a:tr>
              <a:tr h="592138">
                <a:tc>
                  <a:txBody>
                    <a:bodyPr>
                      <a:noAutofit/>
                    </a:bodyPr>
                    <a:lstStyle/>
                    <a:p>
                      <a:r>
                        <a:rPr sz="1800" b="0">
                          <a:solidFill>
                            <a:srgbClr val="152B35"/>
                          </a:solidFill>
                          <a:latin typeface="Arial"/>
                          <a:ea typeface="Arial"/>
                          <a:cs typeface="Arial"/>
                        </a:rPr>
                        <a:t>Developer</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Implement the change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PR, diff and check results</a:t>
                      </a:r>
                    </a:p>
                  </a:txBody>
                  <a:tcPr marL="91440" marR="91440" marT="45720" marB="45720">
                    <a:solidFill>
                      <a:srgbClr val="FFFFFF"/>
                    </a:solidFill>
                  </a:tcPr>
                </a:tc>
              </a:tr>
              <a:tr h="592138">
                <a:tc>
                  <a:txBody>
                    <a:bodyPr>
                      <a:noAutofit/>
                    </a:bodyPr>
                    <a:lstStyle/>
                    <a:p>
                      <a:r>
                        <a:rPr sz="1800" b="0">
                          <a:solidFill>
                            <a:srgbClr val="152B35"/>
                          </a:solidFill>
                          <a:latin typeface="Arial"/>
                          <a:ea typeface="Arial"/>
                          <a:cs typeface="Arial"/>
                        </a:rPr>
                        <a:t>Reviewer</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Inspect the implementation</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Findings or approval</a:t>
                      </a:r>
                    </a:p>
                  </a:txBody>
                  <a:tcPr marL="91440" marR="91440" marT="45720" marB="45720">
                    <a:solidFill>
                      <a:srgbClr val="FFFFFF"/>
                    </a:solidFill>
                  </a:tcPr>
                </a:tc>
              </a:tr>
              <a:tr h="592138">
                <a:tc>
                  <a:txBody>
                    <a:bodyPr>
                      <a:noAutofit/>
                    </a:bodyPr>
                    <a:lstStyle/>
                    <a:p>
                      <a:r>
                        <a:rPr sz="1800" b="0">
                          <a:solidFill>
                            <a:srgbClr val="152B35"/>
                          </a:solidFill>
                          <a:latin typeface="Arial"/>
                          <a:ea typeface="Arial"/>
                          <a:cs typeface="Arial"/>
                        </a:rPr>
                        <a:t>QA</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Check behavior and acceptance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Bugs, evidence and verdict</a:t>
                      </a:r>
                    </a:p>
                  </a:txBody>
                  <a:tcPr marL="91440" marR="91440" marT="45720" marB="45720">
                    <a:solidFill>
                      <a:srgbClr val="FFFFFF"/>
                    </a:solidFill>
                  </a:tcPr>
                </a:tc>
              </a:tr>
              <a:tr h="592138">
                <a:tc>
                  <a:txBody>
                    <a:bodyPr>
                      <a:noAutofit/>
                    </a:bodyPr>
                    <a:lstStyle/>
                    <a:p>
                      <a:r>
                        <a:rPr sz="1800" b="0">
                          <a:solidFill>
                            <a:srgbClr val="152B35"/>
                          </a:solidFill>
                          <a:latin typeface="Arial"/>
                          <a:ea typeface="Arial"/>
                          <a:cs typeface="Arial"/>
                        </a:rPr>
                        <a:t>Orchestrator</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Pass context and route work</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Combined run report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65947B1-1B15-4374-BC71-18EBD5A70F39}"/>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Separate roles can still share the same model and the same blind spots.</a:t>
            </a:r>
          </a:p>
        </p:txBody>
      </p:sp>
    </p:spTree>
    <p:extLst>
      <p:ext uri="{BB962C8B-B14F-4D97-AF65-F5344CB8AC3E}">
        <p14:creationId xmlns:p14="http://schemas.microsoft.com/office/powerpoint/2010/main" val="12436214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CB8D1CB-6D1D-403E-95AA-50E7B7FCF3F2}"/>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QA fixes go through review again</a:t>
            </a:r>
          </a:p>
        </p:txBody>
      </p:sp>
      <p:sp>
        <p:nvSpPr>
          <p:cNvPr id="2" name="">
            <a:extLst xmlns:a="http://schemas.openxmlformats.org/drawingml/2006/main">
              <a:ext uri="{FF2B5EF4-FFF2-40B4-BE49-F238E27FC236}">
                <a16:creationId xmlns:a16="http://schemas.microsoft.com/office/drawing/2014/main" id="{92EBDC4D-27F1-4254-9487-FBB8BE534277}"/>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The August change adds review before the QA retest</a:t>
            </a:r>
          </a:p>
        </p:txBody>
      </p:sp>
      <p:sp>
        <p:nvSpPr>
          <p:cNvPr id="3" name="">
            <a:extLst xmlns:a="http://schemas.openxmlformats.org/drawingml/2006/main">
              <a:ext uri="{FF2B5EF4-FFF2-40B4-BE49-F238E27FC236}">
                <a16:creationId xmlns:a16="http://schemas.microsoft.com/office/drawing/2014/main" id="{7A550FFC-F00C-4ED0-98C7-E4D414FB8E78}"/>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D731F96-71B5-43AC-96FC-5DC22330D41D}"/>
              </a:ext>
            </a:extLst>
          </p:cNvPr>
          <p:cNvSpPr>
            <a:spLocks xmlns:a="http://schemas.openxmlformats.org/drawingml/2006/main" noGrp="1"/>
          </p:cNvSpPr>
          <p:nvPr/>
        </p:nvSpPr>
        <p:spPr>
          <a:xfrm xmlns:a="http://schemas.openxmlformats.org/drawingml/2006/main">
            <a:off x="609600"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Planner</a:t>
            </a:r>
          </a:p>
        </p:txBody>
      </p:sp>
      <p:sp>
        <p:nvSpPr>
          <p:cNvPr id="5" name="">
            <a:extLst xmlns:a="http://schemas.openxmlformats.org/drawingml/2006/main">
              <a:ext uri="{FF2B5EF4-FFF2-40B4-BE49-F238E27FC236}">
                <a16:creationId xmlns:a16="http://schemas.microsoft.com/office/drawing/2014/main" id="{753424FB-F834-4A75-981E-A2FF53B1E54A}"/>
              </a:ext>
            </a:extLst>
          </p:cNvPr>
          <p:cNvSpPr>
            <a:spLocks xmlns:a="http://schemas.openxmlformats.org/drawingml/2006/main" noGrp="1"/>
          </p:cNvSpPr>
          <p:nvPr/>
        </p:nvSpPr>
        <p:spPr>
          <a:xfrm xmlns:a="http://schemas.openxmlformats.org/drawingml/2006/main">
            <a:off x="2752725"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Developer</a:t>
            </a:r>
          </a:p>
        </p:txBody>
      </p:sp>
      <p:sp>
        <p:nvSpPr>
          <p:cNvPr id="6" name="">
            <a:extLst xmlns:a="http://schemas.openxmlformats.org/drawingml/2006/main">
              <a:ext uri="{FF2B5EF4-FFF2-40B4-BE49-F238E27FC236}">
                <a16:creationId xmlns:a16="http://schemas.microsoft.com/office/drawing/2014/main" id="{A934D4C6-D7B4-49B7-8688-168E7A2E0498}"/>
              </a:ext>
            </a:extLst>
          </p:cNvPr>
          <p:cNvSpPr>
            <a:spLocks xmlns:a="http://schemas.openxmlformats.org/drawingml/2006/main" noGrp="1"/>
          </p:cNvSpPr>
          <p:nvPr/>
        </p:nvSpPr>
        <p:spPr>
          <a:xfrm xmlns:a="http://schemas.openxmlformats.org/drawingml/2006/main">
            <a:off x="4895850" y="1914525"/>
            <a:ext cx="1809750" cy="628650"/>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Reviewer</a:t>
            </a:r>
          </a:p>
        </p:txBody>
      </p:sp>
      <p:sp>
        <p:nvSpPr>
          <p:cNvPr id="7" name="">
            <a:extLst xmlns:a="http://schemas.openxmlformats.org/drawingml/2006/main">
              <a:ext uri="{FF2B5EF4-FFF2-40B4-BE49-F238E27FC236}">
                <a16:creationId xmlns:a16="http://schemas.microsoft.com/office/drawing/2014/main" id="{52E34F5A-9003-4248-A3A2-0AFF92388D75}"/>
              </a:ext>
            </a:extLst>
          </p:cNvPr>
          <p:cNvSpPr>
            <a:spLocks xmlns:a="http://schemas.openxmlformats.org/drawingml/2006/main" noGrp="1"/>
          </p:cNvSpPr>
          <p:nvPr/>
        </p:nvSpPr>
        <p:spPr>
          <a:xfrm xmlns:a="http://schemas.openxmlformats.org/drawingml/2006/main">
            <a:off x="7038975"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QA</a:t>
            </a:r>
          </a:p>
        </p:txBody>
      </p:sp>
      <p:sp>
        <p:nvSpPr>
          <p:cNvPr id="8" name="">
            <a:extLst xmlns:a="http://schemas.openxmlformats.org/drawingml/2006/main">
              <a:ext uri="{FF2B5EF4-FFF2-40B4-BE49-F238E27FC236}">
                <a16:creationId xmlns:a16="http://schemas.microsoft.com/office/drawing/2014/main" id="{91425BDC-3FD9-4DC7-9D51-F1043ACF2659}"/>
              </a:ext>
            </a:extLst>
          </p:cNvPr>
          <p:cNvSpPr>
            <a:spLocks xmlns:a="http://schemas.openxmlformats.org/drawingml/2006/main" noGrp="1"/>
          </p:cNvSpPr>
          <p:nvPr/>
        </p:nvSpPr>
        <p:spPr>
          <a:xfrm xmlns:a="http://schemas.openxmlformats.org/drawingml/2006/main">
            <a:off x="9182100"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Report</a:t>
            </a:r>
          </a:p>
        </p:txBody>
      </p:sp>
      <p:cxnSp>
        <p:nvCxnSpPr>
          <p:cNvPr id="29" name=""/>
          <p:cNvCxnSpPr>
            <a:stCxn xmlns:a="http://schemas.openxmlformats.org/drawingml/2006/main" id="4" idx="3"/>
            <a:endCxn xmlns:a="http://schemas.openxmlformats.org/drawingml/2006/main" id="5" idx="1"/>
          </p:cNvCxnSpPr>
          <p:nvPr/>
        </p:nvCxnSpPr>
        <p:spPr>
          <a:xfrm xmlns:a="http://schemas.openxmlformats.org/drawingml/2006/main">
            <a:off x="2419350"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a:off x="4562475"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31" name=""/>
          <p:cNvCxnSpPr>
            <a:stCxn xmlns:a="http://schemas.openxmlformats.org/drawingml/2006/main" id="6" idx="3"/>
            <a:endCxn xmlns:a="http://schemas.openxmlformats.org/drawingml/2006/main" id="7" idx="1"/>
          </p:cNvCxnSpPr>
          <p:nvPr/>
        </p:nvCxnSpPr>
        <p:spPr>
          <a:xfrm xmlns:a="http://schemas.openxmlformats.org/drawingml/2006/main">
            <a:off x="6705600"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32" name=""/>
          <p:cNvCxnSpPr>
            <a:stCxn xmlns:a="http://schemas.openxmlformats.org/drawingml/2006/main" id="7" idx="3"/>
            <a:endCxn xmlns:a="http://schemas.openxmlformats.org/drawingml/2006/main" id="8" idx="1"/>
          </p:cNvCxnSpPr>
          <p:nvPr/>
        </p:nvCxnSpPr>
        <p:spPr>
          <a:xfrm xmlns:a="http://schemas.openxmlformats.org/drawingml/2006/main">
            <a:off x="8848725"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3" name="">
            <a:extLst xmlns:a="http://schemas.openxmlformats.org/drawingml/2006/main">
              <a:ext uri="{FF2B5EF4-FFF2-40B4-BE49-F238E27FC236}">
                <a16:creationId xmlns:a16="http://schemas.microsoft.com/office/drawing/2014/main" id="{3AC8098D-1F28-464E-B074-AFF58B3CB598}"/>
              </a:ext>
            </a:extLst>
          </p:cNvPr>
          <p:cNvSpPr>
            <a:spLocks xmlns:a="http://schemas.openxmlformats.org/drawingml/2006/main" noGrp="1"/>
          </p:cNvSpPr>
          <p:nvPr/>
        </p:nvSpPr>
        <p:spPr>
          <a:xfrm xmlns:a="http://schemas.openxmlformats.org/drawingml/2006/main">
            <a:off x="4791075" y="27432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53233"/>
                </a:solidFill>
                <a:latin typeface="Arial"/>
                <a:ea typeface="Arial"/>
                <a:cs typeface="Arial"/>
              </a:defRPr>
            </a:pPr>
            <a:r>
              <a:rPr sz="1875" b="0">
                <a:solidFill>
                  <a:srgbClr val="B53233"/>
                </a:solidFill>
                <a:latin typeface="Arial"/>
                <a:ea typeface="Arial"/>
                <a:cs typeface="Arial"/>
              </a:rPr>
              <a:t>QA requests a fix</a:t>
            </a:r>
          </a:p>
        </p:txBody>
      </p:sp>
      <p:sp>
        <p:nvSpPr>
          <p:cNvPr id="14" name="">
            <a:extLst xmlns:a="http://schemas.openxmlformats.org/drawingml/2006/main">
              <a:ext uri="{FF2B5EF4-FFF2-40B4-BE49-F238E27FC236}">
                <a16:creationId xmlns:a16="http://schemas.microsoft.com/office/drawing/2014/main" id="{80FBDCAA-86AA-4819-BE36-F86893570FDC}"/>
              </a:ext>
            </a:extLst>
          </p:cNvPr>
          <p:cNvSpPr>
            <a:spLocks xmlns:a="http://schemas.openxmlformats.org/drawingml/2006/main" noGrp="1"/>
          </p:cNvSpPr>
          <p:nvPr/>
        </p:nvSpPr>
        <p:spPr>
          <a:xfrm xmlns:a="http://schemas.openxmlformats.org/drawingml/2006/main">
            <a:off x="4914900" y="3228975"/>
            <a:ext cx="1790700" cy="571500"/>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Fixes</a:t>
            </a:r>
          </a:p>
        </p:txBody>
      </p:sp>
      <p:cxnSp>
        <p:nvCxnSpPr>
          <p:cNvPr id="35" name=""/>
          <p:cNvCxnSpPr>
            <a:stCxn xmlns:a="http://schemas.openxmlformats.org/drawingml/2006/main" id="7" idx="2"/>
            <a:endCxn xmlns:a="http://schemas.openxmlformats.org/drawingml/2006/main" id="14" idx="3"/>
          </p:cNvCxnSpPr>
          <p:nvPr/>
        </p:nvCxnSpPr>
        <p:spPr>
          <a:xfrm xmlns:a="http://schemas.openxmlformats.org/drawingml/2006/main" flipH="1">
            <a:off x="6705600" y="2543175"/>
            <a:ext cx="1238250" cy="971550"/>
          </a:xfrm>
          <a:prstGeom xmlns:a="http://schemas.openxmlformats.org/drawingml/2006/main" prst="bentConnector3">
            <a:avLst>
              <a:gd name="adj1" fmla="val 0"/>
            </a:avLst>
          </a:prstGeom>
          <a:ln xmlns:a="http://schemas.openxmlformats.org/drawingml/2006/main" w="19050">
            <a:solidFill>
              <a:srgbClr val="B53233"/>
            </a:solidFill>
            <a:tailEnd type="triangle" w="med" len="med"/>
          </a:ln>
        </p:spPr>
      </p:cxnSp>
      <p:cxnSp>
        <p:nvCxnSpPr>
          <p:cNvPr id="36" name=""/>
          <p:cNvCxnSpPr>
            <a:stCxn xmlns:a="http://schemas.openxmlformats.org/drawingml/2006/main" id="14" idx="1"/>
            <a:endCxn xmlns:a="http://schemas.openxmlformats.org/drawingml/2006/main" id="5" idx="2"/>
          </p:cNvCxnSpPr>
          <p:nvPr/>
        </p:nvCxnSpPr>
        <p:spPr>
          <a:xfrm xmlns:a="http://schemas.openxmlformats.org/drawingml/2006/main" flipH="1" flipV="1">
            <a:off x="3657600" y="2543175"/>
            <a:ext cx="1257300" cy="971550"/>
          </a:xfrm>
          <a:prstGeom xmlns:a="http://schemas.openxmlformats.org/drawingml/2006/main" prst="bentConnector2">
            <a:avLst/>
          </a:prstGeom>
          <a:ln xmlns:a="http://schemas.openxmlformats.org/drawingml/2006/main" w="19050">
            <a:solidFill>
              <a:srgbClr val="B53233"/>
            </a:solidFill>
            <a:tailEnd type="triangle" w="med" len="med"/>
          </a:ln>
        </p:spPr>
      </p:cxnSp>
      <p:sp>
        <p:nvSpPr>
          <p:cNvPr id="17" name="">
            <a:extLst xmlns:a="http://schemas.openxmlformats.org/drawingml/2006/main">
              <a:ext uri="{FF2B5EF4-FFF2-40B4-BE49-F238E27FC236}">
                <a16:creationId xmlns:a16="http://schemas.microsoft.com/office/drawing/2014/main" id="{BAC7D5DA-3DE5-4D4C-8163-18EC48BCDAC1}"/>
              </a:ext>
            </a:extLst>
          </p:cNvPr>
          <p:cNvSpPr>
            <a:spLocks xmlns:a="http://schemas.openxmlformats.org/drawingml/2006/main" noGrp="1"/>
          </p:cNvSpPr>
          <p:nvPr/>
        </p:nvSpPr>
        <p:spPr>
          <a:xfrm xmlns:a="http://schemas.openxmlformats.org/drawingml/2006/main">
            <a:off x="609600" y="40576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Then review the new version before QA runs again</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ae79476fa744c25"/>
          <a:srcRect xmlns:a="http://schemas.openxmlformats.org/drawingml/2006/main" l="1712" t="15947" r="1813" b="79983"/>
          <a:stretch xmlns:a="http://schemas.openxmlformats.org/drawingml/2006/main">
            <a:fillRect l="0" t="0" r="0" b="0"/>
          </a:stretch>
        </p:blipFill>
        <p:spPr>
          <a:xfrm xmlns:a="http://schemas.openxmlformats.org/drawingml/2006/main">
            <a:off x="609600" y="4762500"/>
            <a:ext cx="10972800" cy="561239"/>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60B55E22-AFDF-42B9-BC78-0123E7CA2484}"/>
              </a:ext>
            </a:extLst>
          </p:cNvPr>
          <p:cNvSpPr>
            <a:spLocks xmlns:a="http://schemas.openxmlformats.org/drawingml/2006/main" noGrp="1"/>
          </p:cNvSpPr>
          <p:nvPr/>
        </p:nvSpPr>
        <p:spPr>
          <a:xfrm xmlns:a="http://schemas.openxmlformats.org/drawingml/2006/main">
            <a:off x="609600" y="54959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871"/>
                </a:solidFill>
                <a:latin typeface="Arial"/>
                <a:ea typeface="Arial"/>
                <a:cs typeface="Arial"/>
              </a:defRPr>
            </a:pPr>
            <a:r>
              <a:rPr sz="1800" b="0">
                <a:solidFill>
                  <a:srgbClr val="536871"/>
                </a:solidFill>
                <a:latin typeface="Arial"/>
                <a:ea typeface="Arial"/>
                <a:cs typeface="Arial"/>
              </a:rPr>
              <a:t>26 August 2026   /   Rule 11 in the orchestrator instructions</a:t>
            </a:r>
          </a:p>
        </p:txBody>
      </p:sp>
      <p:sp>
        <p:nvSpPr>
          <p:cNvPr id="20" name="">
            <a:extLst xmlns:a="http://schemas.openxmlformats.org/drawingml/2006/main">
              <a:ext uri="{FF2B5EF4-FFF2-40B4-BE49-F238E27FC236}">
                <a16:creationId xmlns:a16="http://schemas.microsoft.com/office/drawing/2014/main" id="{21667B54-5BAA-4543-97C6-2FADA46D0F84}"/>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Prompt-based routing. Current generic pipeline: stop after three unsuccessful iterations per loop.</a:t>
            </a:r>
          </a:p>
        </p:txBody>
      </p:sp>
    </p:spTree>
    <p:extLst>
      <p:ext uri="{BB962C8B-B14F-4D97-AF65-F5344CB8AC3E}">
        <p14:creationId xmlns:p14="http://schemas.microsoft.com/office/powerpoint/2010/main" val="14211733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53942C6-D9C1-4402-BD33-590FAFC601D4}"/>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157 tests passed. QA still blocked the PR</a:t>
            </a:r>
          </a:p>
        </p:txBody>
      </p:sp>
      <p:sp>
        <p:nvSpPr>
          <p:cNvPr id="2" name="">
            <a:extLst xmlns:a="http://schemas.openxmlformats.org/drawingml/2006/main">
              <a:ext uri="{FF2B5EF4-FFF2-40B4-BE49-F238E27FC236}">
                <a16:creationId xmlns:a16="http://schemas.microsoft.com/office/drawing/2014/main" id="{AA3D7512-F943-46D0-9C49-9EF042C59DEE}"/>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ProgressStore coverage: 32 new tests, with application code unchanged</a:t>
            </a:r>
          </a:p>
        </p:txBody>
      </p:sp>
      <p:sp>
        <p:nvSpPr>
          <p:cNvPr id="3" name="">
            <a:extLst xmlns:a="http://schemas.openxmlformats.org/drawingml/2006/main">
              <a:ext uri="{FF2B5EF4-FFF2-40B4-BE49-F238E27FC236}">
                <a16:creationId xmlns:a16="http://schemas.microsoft.com/office/drawing/2014/main" id="{1DB0E1DD-E9CD-4226-8964-6F5D099D90E3}"/>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504A9884-6181-4501-9D2B-618CD4171AA8}"/>
              </a:ext>
            </a:extLst>
          </p:cNvPr>
          <p:cNvSpPr>
            <a:spLocks xmlns:a="http://schemas.openxmlformats.org/drawingml/2006/main" noGrp="1"/>
          </p:cNvSpPr>
          <p:nvPr/>
        </p:nvSpPr>
        <p:spPr>
          <a:xfrm xmlns:a="http://schemas.openxmlformats.org/drawingml/2006/main">
            <a:off x="609600" y="2095500"/>
            <a:ext cx="471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07F78"/>
                </a:solidFill>
                <a:latin typeface="Arial"/>
                <a:ea typeface="Arial"/>
                <a:cs typeface="Arial"/>
              </a:defRPr>
            </a:pPr>
            <a:r>
              <a:rPr sz="3450" b="1">
                <a:solidFill>
                  <a:srgbClr val="007F78"/>
                </a:solidFill>
                <a:latin typeface="Arial"/>
                <a:ea typeface="Arial"/>
                <a:cs typeface="Arial"/>
              </a:rPr>
              <a:t>32 new tests</a:t>
            </a:r>
          </a:p>
        </p:txBody>
      </p:sp>
      <p:sp>
        <p:nvSpPr>
          <p:cNvPr id="5" name="">
            <a:extLst xmlns:a="http://schemas.openxmlformats.org/drawingml/2006/main">
              <a:ext uri="{FF2B5EF4-FFF2-40B4-BE49-F238E27FC236}">
                <a16:creationId xmlns:a16="http://schemas.microsoft.com/office/drawing/2014/main" id="{72D2D286-7B7B-4AE2-A438-0FA5B3F4E024}"/>
              </a:ext>
            </a:extLst>
          </p:cNvPr>
          <p:cNvSpPr>
            <a:spLocks xmlns:a="http://schemas.openxmlformats.org/drawingml/2006/main" noGrp="1"/>
          </p:cNvSpPr>
          <p:nvPr/>
        </p:nvSpPr>
        <p:spPr>
          <a:xfrm xmlns:a="http://schemas.openxmlformats.org/drawingml/2006/main">
            <a:off x="609600" y="2762250"/>
            <a:ext cx="4524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B35"/>
                </a:solidFill>
                <a:latin typeface="Arial"/>
                <a:ea typeface="Arial"/>
                <a:cs typeface="Arial"/>
              </a:defRPr>
            </a:pPr>
            <a:r>
              <a:rPr sz="2325" b="0">
                <a:solidFill>
                  <a:srgbClr val="152B35"/>
                </a:solidFill>
                <a:latin typeface="Arial"/>
                <a:ea typeface="Arial"/>
                <a:cs typeface="Arial"/>
              </a:rPr>
              <a:t>Full suite: 125 to 157</a:t>
            </a:r>
          </a:p>
        </p:txBody>
      </p:sp>
      <p:sp>
        <p:nvSpPr>
          <p:cNvPr id="6" name="">
            <a:extLst xmlns:a="http://schemas.openxmlformats.org/drawingml/2006/main">
              <a:ext uri="{FF2B5EF4-FFF2-40B4-BE49-F238E27FC236}">
                <a16:creationId xmlns:a16="http://schemas.microsoft.com/office/drawing/2014/main" id="{B2AE7A97-EA3D-498C-9B77-AE22DA544420}"/>
              </a:ext>
            </a:extLst>
          </p:cNvPr>
          <p:cNvSpPr>
            <a:spLocks xmlns:a="http://schemas.openxmlformats.org/drawingml/2006/main" noGrp="1"/>
          </p:cNvSpPr>
          <p:nvPr/>
        </p:nvSpPr>
        <p:spPr>
          <a:xfrm xmlns:a="http://schemas.openxmlformats.org/drawingml/2006/main">
            <a:off x="609600" y="3971925"/>
            <a:ext cx="4572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871"/>
                </a:solidFill>
                <a:latin typeface="Arial"/>
                <a:ea typeface="Arial"/>
                <a:cs typeface="Arial"/>
              </a:defRPr>
            </a:pPr>
            <a:r>
              <a:rPr sz="1950" b="0">
                <a:solidFill>
                  <a:srgbClr val="536871"/>
                </a:solidFill>
                <a:latin typeface="Arial"/>
                <a:ea typeface="Arial"/>
                <a:cs typeface="Arial"/>
              </a:rPr>
              <a:t>Second review</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e266798ec024f6f"/>
          <a:srcRect xmlns:a="http://schemas.openxmlformats.org/drawingml/2006/main" l="9265" t="11877" r="31923" b="76827"/>
          <a:stretch xmlns:a="http://schemas.openxmlformats.org/drawingml/2006/main">
            <a:fillRect l="0" t="0" r="0" b="0"/>
          </a:stretch>
        </p:blipFill>
        <p:spPr>
          <a:xfrm xmlns:a="http://schemas.openxmlformats.org/drawingml/2006/main">
            <a:off x="609600" y="4381500"/>
            <a:ext cx="4619625" cy="1075803"/>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df527be6d4c4073"/>
          <a:srcRect xmlns:a="http://schemas.openxmlformats.org/drawingml/2006/main" l="9265" t="11960" r="31923" b="50664"/>
          <a:stretch xmlns:a="http://schemas.openxmlformats.org/drawingml/2006/main">
            <a:fillRect l="0" t="0" r="0" b="0"/>
          </a:stretch>
        </p:blipFill>
        <p:spPr>
          <a:xfrm xmlns:a="http://schemas.openxmlformats.org/drawingml/2006/main">
            <a:off x="6191250" y="1857375"/>
            <a:ext cx="5334000" cy="411010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2F992E2-2F55-43A7-9D9A-E0380929E953}"/>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Saved run reports. The pull request was still open when these screenshots were captured.</a:t>
            </a:r>
          </a:p>
        </p:txBody>
      </p:sp>
    </p:spTree>
    <p:extLst>
      <p:ext uri="{BB962C8B-B14F-4D97-AF65-F5344CB8AC3E}">
        <p14:creationId xmlns:p14="http://schemas.microsoft.com/office/powerpoint/2010/main" val="2590600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BB7403-D5D0-49DF-8C73-1E740D44A569}"/>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Accumulated time or this call’s contribution?</a:t>
            </a:r>
          </a:p>
        </p:txBody>
      </p:sp>
      <p:sp>
        <p:nvSpPr>
          <p:cNvPr id="2" name="">
            <a:extLst xmlns:a="http://schemas.openxmlformats.org/drawingml/2006/main">
              <a:ext uri="{FF2B5EF4-FFF2-40B4-BE49-F238E27FC236}">
                <a16:creationId xmlns:a16="http://schemas.microsoft.com/office/drawing/2014/main" id="{C0203861-557F-438F-B9F7-8600FFB105E6}"/>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Two related findings: the assertion and the initial state</a:t>
            </a:r>
          </a:p>
        </p:txBody>
      </p:sp>
      <p:sp>
        <p:nvSpPr>
          <p:cNvPr id="3" name="">
            <a:extLst xmlns:a="http://schemas.openxmlformats.org/drawingml/2006/main">
              <a:ext uri="{FF2B5EF4-FFF2-40B4-BE49-F238E27FC236}">
                <a16:creationId xmlns:a16="http://schemas.microsoft.com/office/drawing/2014/main" id="{E3B44D61-C3D0-41F5-811F-1AECA15D3F8F}"/>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DB074795-1324-4CFA-93A4-759D5EC8E769}"/>
              </a:ext>
            </a:extLst>
          </p:cNvPr>
          <p:cNvSpPr>
            <a:spLocks xmlns:a="http://schemas.openxmlformats.org/drawingml/2006/main" noGrp="1"/>
          </p:cNvSpPr>
          <p:nvPr/>
        </p:nvSpPr>
        <p:spPr>
          <a:xfrm xmlns:a="http://schemas.openxmlformats.org/drawingml/2006/main">
            <a:off x="609600" y="18954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Illustrative example</a:t>
            </a:r>
          </a:p>
        </p:txBody>
      </p:sp>
      <p:sp>
        <p:nvSpPr>
          <p:cNvPr id="5" name="">
            <a:extLst xmlns:a="http://schemas.openxmlformats.org/drawingml/2006/main">
              <a:ext uri="{FF2B5EF4-FFF2-40B4-BE49-F238E27FC236}">
                <a16:creationId xmlns:a16="http://schemas.microsoft.com/office/drawing/2014/main" id="{F0E7B52C-B6FC-4EA0-BBDF-453DC4B389EC}"/>
              </a:ext>
            </a:extLst>
          </p:cNvPr>
          <p:cNvSpPr>
            <a:spLocks xmlns:a="http://schemas.openxmlformats.org/drawingml/2006/main" noGrp="1"/>
          </p:cNvSpPr>
          <p:nvPr/>
        </p:nvSpPr>
        <p:spPr>
          <a:xfrm xmlns:a="http://schemas.openxmlformats.org/drawingml/2006/main">
            <a:off x="609600" y="2390775"/>
            <a:ext cx="5095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B35"/>
                </a:solidFill>
                <a:latin typeface="Arial"/>
                <a:ea typeface="Arial"/>
                <a:cs typeface="Arial"/>
              </a:defRPr>
            </a:pPr>
            <a:r>
              <a:rPr sz="2850" b="1">
                <a:solidFill>
                  <a:srgbClr val="152B35"/>
                </a:solidFill>
                <a:latin typeface="Arial"/>
                <a:ea typeface="Arial"/>
                <a:cs typeface="Arial"/>
              </a:rPr>
              <a:t>Before     500 seconds</a:t>
            </a:r>
          </a:p>
          <a:p xmlns:a="http://schemas.openxmlformats.org/drawingml/2006/main">
            <a:pPr>
              <a:defRPr sz="2850" b="1">
                <a:solidFill>
                  <a:srgbClr val="152B35"/>
                </a:solidFill>
                <a:latin typeface="Arial"/>
                <a:ea typeface="Arial"/>
                <a:cs typeface="Arial"/>
              </a:defRPr>
            </a:pPr>
            <a:r>
              <a:rPr sz="2850" b="1">
                <a:solidFill>
                  <a:srgbClr val="152B35"/>
                </a:solidFill>
                <a:latin typeface="Arial"/>
                <a:ea typeface="Arial"/>
                <a:cs typeface="Arial"/>
              </a:rPr>
              <a:t>After        500 seconds</a:t>
            </a:r>
          </a:p>
        </p:txBody>
      </p:sp>
      <p:sp>
        <p:nvSpPr>
          <p:cNvPr id="6" name="">
            <a:extLst xmlns:a="http://schemas.openxmlformats.org/drawingml/2006/main">
              <a:ext uri="{FF2B5EF4-FFF2-40B4-BE49-F238E27FC236}">
                <a16:creationId xmlns:a16="http://schemas.microsoft.com/office/drawing/2014/main" id="{6E37BBAC-EA45-47AF-8A45-BF805AFEE648}"/>
              </a:ext>
            </a:extLst>
          </p:cNvPr>
          <p:cNvSpPr>
            <a:spLocks xmlns:a="http://schemas.openxmlformats.org/drawingml/2006/main" noGrp="1"/>
          </p:cNvSpPr>
          <p:nvPr/>
        </p:nvSpPr>
        <p:spPr>
          <a:xfrm xmlns:a="http://schemas.openxmlformats.org/drawingml/2006/main">
            <a:off x="609600" y="38004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53233"/>
                </a:solidFill>
                <a:latin typeface="Arial"/>
                <a:ea typeface="Arial"/>
                <a:cs typeface="Arial"/>
              </a:defRPr>
            </a:pPr>
            <a:r>
              <a:rPr sz="2400" b="1">
                <a:solidFill>
                  <a:srgbClr val="B53233"/>
                </a:solidFill>
                <a:latin typeface="Arial"/>
                <a:ea typeface="Arial"/>
                <a:cs typeface="Arial"/>
              </a:rPr>
              <a:t>after &gt; 0       PASS</a:t>
            </a:r>
          </a:p>
        </p:txBody>
      </p:sp>
      <p:sp>
        <p:nvSpPr>
          <p:cNvPr id="7" name="">
            <a:extLst xmlns:a="http://schemas.openxmlformats.org/drawingml/2006/main">
              <a:ext uri="{FF2B5EF4-FFF2-40B4-BE49-F238E27FC236}">
                <a16:creationId xmlns:a16="http://schemas.microsoft.com/office/drawing/2014/main" id="{64EA949E-69A2-433A-939A-C793663D0BA3}"/>
              </a:ext>
            </a:extLst>
          </p:cNvPr>
          <p:cNvSpPr>
            <a:spLocks xmlns:a="http://schemas.openxmlformats.org/drawingml/2006/main" noGrp="1"/>
          </p:cNvSpPr>
          <p:nvPr/>
        </p:nvSpPr>
        <p:spPr>
          <a:xfrm xmlns:a="http://schemas.openxmlformats.org/drawingml/2006/main">
            <a:off x="609600" y="43624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after &gt; before  FAIL</a:t>
            </a:r>
          </a:p>
        </p:txBody>
      </p:sp>
      <p:sp>
        <p:nvSpPr>
          <p:cNvPr id="8" name="">
            <a:extLst xmlns:a="http://schemas.openxmlformats.org/drawingml/2006/main">
              <a:ext uri="{FF2B5EF4-FFF2-40B4-BE49-F238E27FC236}">
                <a16:creationId xmlns:a16="http://schemas.microsoft.com/office/drawing/2014/main" id="{012CCF9F-EAD9-44ED-BD07-33BA3DE14FA7}"/>
              </a:ext>
            </a:extLst>
          </p:cNvPr>
          <p:cNvSpPr>
            <a:spLocks xmlns:a="http://schemas.openxmlformats.org/drawingml/2006/main" noGrp="1"/>
          </p:cNvSpPr>
          <p:nvPr/>
        </p:nvSpPr>
        <p:spPr>
          <a:xfrm xmlns:a="http://schemas.openxmlformats.org/drawingml/2006/main">
            <a:off x="609600" y="5086350"/>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B35"/>
                </a:solidFill>
                <a:latin typeface="Arial"/>
                <a:ea typeface="Arial"/>
                <a:cs typeface="Arial"/>
              </a:defRPr>
            </a:pPr>
            <a:r>
              <a:rPr sz="2325" b="0">
                <a:solidFill>
                  <a:srgbClr val="152B35"/>
                </a:solidFill>
                <a:latin typeface="Arial"/>
                <a:ea typeface="Arial"/>
                <a:cs typeface="Arial"/>
              </a:rPr>
              <a:t>The call added nothing.</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27024a194584d12"/>
          <a:srcRect xmlns:a="http://schemas.openxmlformats.org/drawingml/2006/main" l="9567" t="11877" r="32226" b="59718"/>
          <a:stretch xmlns:a="http://schemas.openxmlformats.org/drawingml/2006/main">
            <a:fillRect l="0" t="0" r="0" b="0"/>
          </a:stretch>
        </p:blipFill>
        <p:spPr>
          <a:xfrm xmlns:a="http://schemas.openxmlformats.org/drawingml/2006/main">
            <a:off x="6019800" y="1933575"/>
            <a:ext cx="5562600" cy="329136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2AB84A-6584-4998-BB7C-626ED9902C3B}"/>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Paired fix: compare with the prior value and give each test its own isolated store.</a:t>
            </a:r>
          </a:p>
        </p:txBody>
      </p:sp>
    </p:spTree>
    <p:extLst>
      <p:ext uri="{BB962C8B-B14F-4D97-AF65-F5344CB8AC3E}">
        <p14:creationId xmlns:p14="http://schemas.microsoft.com/office/powerpoint/2010/main" val="7817377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D92C979-9D8C-447B-9ECB-3C4619DC5109}"/>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fix gets its own review</a:t>
            </a:r>
          </a:p>
        </p:txBody>
      </p:sp>
      <p:sp>
        <p:nvSpPr>
          <p:cNvPr id="2" name="">
            <a:extLst xmlns:a="http://schemas.openxmlformats.org/drawingml/2006/main">
              <a:ext uri="{FF2B5EF4-FFF2-40B4-BE49-F238E27FC236}">
                <a16:creationId xmlns:a16="http://schemas.microsoft.com/office/drawing/2014/main" id="{2845DAC7-AC14-4E99-AA23-8B417AD97A06}"/>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The same change passes review before QA runs again</a:t>
            </a:r>
          </a:p>
        </p:txBody>
      </p:sp>
      <p:sp>
        <p:nvSpPr>
          <p:cNvPr id="3" name="">
            <a:extLst xmlns:a="http://schemas.openxmlformats.org/drawingml/2006/main">
              <a:ext uri="{FF2B5EF4-FFF2-40B4-BE49-F238E27FC236}">
                <a16:creationId xmlns:a16="http://schemas.microsoft.com/office/drawing/2014/main" id="{4F16F52C-03F7-457D-8D7D-B98CC2EF735A}"/>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77611750-DF6D-4EAE-835C-771305C1DAD6}"/>
              </a:ext>
            </a:extLst>
          </p:cNvPr>
          <p:cNvSpPr>
            <a:spLocks xmlns:a="http://schemas.openxmlformats.org/drawingml/2006/main" noGrp="1"/>
          </p:cNvSpPr>
          <p:nvPr/>
        </p:nvSpPr>
        <p:spPr>
          <a:xfrm xmlns:a="http://schemas.openxmlformats.org/drawingml/2006/main">
            <a:off x="609600" y="18002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Fix: delta assertions and isolated test storage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6656c833bad4c84"/>
          <a:srcRect xmlns:a="http://schemas.openxmlformats.org/drawingml/2006/main" l="2820" t="16777" r="8560" b="77658"/>
          <a:stretch xmlns:a="http://schemas.openxmlformats.org/drawingml/2006/main">
            <a:fillRect l="0" t="0" r="0" b="0"/>
          </a:stretch>
        </p:blipFill>
        <p:spPr>
          <a:xfrm xmlns:a="http://schemas.openxmlformats.org/drawingml/2006/main">
            <a:off x="609600" y="2324100"/>
            <a:ext cx="10763250" cy="819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410D01-1E56-4061-BE43-4313BE0063FF}"/>
              </a:ext>
            </a:extLst>
          </p:cNvPr>
          <p:cNvSpPr>
            <a:spLocks xmlns:a="http://schemas.openxmlformats.org/drawingml/2006/main" noGrp="1"/>
          </p:cNvSpPr>
          <p:nvPr/>
        </p:nvSpPr>
        <p:spPr>
          <a:xfrm xmlns:a="http://schemas.openxmlformats.org/drawingml/2006/main">
            <a:off x="609600" y="33909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Review 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cd01e687a7f4316"/>
          <a:srcRect xmlns:a="http://schemas.openxmlformats.org/drawingml/2006/main" l="9366" t="12043" r="32024" b="75498"/>
          <a:stretch xmlns:a="http://schemas.openxmlformats.org/drawingml/2006/main">
            <a:fillRect l="0" t="0" r="0" b="0"/>
          </a:stretch>
        </p:blipFill>
        <p:spPr>
          <a:xfrm xmlns:a="http://schemas.openxmlformats.org/drawingml/2006/main">
            <a:off x="609600" y="3829050"/>
            <a:ext cx="5286375" cy="136246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5FD9182-2952-4BAA-B94C-9BB99AC53D74}"/>
              </a:ext>
            </a:extLst>
          </p:cNvPr>
          <p:cNvSpPr>
            <a:spLocks xmlns:a="http://schemas.openxmlformats.org/drawingml/2006/main" noGrp="1"/>
          </p:cNvSpPr>
          <p:nvPr/>
        </p:nvSpPr>
        <p:spPr>
          <a:xfrm xmlns:a="http://schemas.openxmlformats.org/drawingml/2006/main">
            <a:off x="6343650" y="33909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7047"/>
                </a:solidFill>
                <a:latin typeface="Arial"/>
                <a:ea typeface="Arial"/>
                <a:cs typeface="Arial"/>
              </a:defRPr>
            </a:pPr>
            <a:r>
              <a:rPr sz="2025" b="1">
                <a:solidFill>
                  <a:srgbClr val="187047"/>
                </a:solidFill>
                <a:latin typeface="Arial"/>
                <a:ea typeface="Arial"/>
                <a:cs typeface="Arial"/>
              </a:rPr>
              <a:t>QA retest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2115fb21cb44058"/>
          <a:srcRect xmlns:a="http://schemas.openxmlformats.org/drawingml/2006/main" l="9366" t="12043" r="32125" b="81645"/>
          <a:stretch xmlns:a="http://schemas.openxmlformats.org/drawingml/2006/main">
            <a:fillRect l="0" t="0" r="0" b="0"/>
          </a:stretch>
        </p:blipFill>
        <p:spPr>
          <a:xfrm xmlns:a="http://schemas.openxmlformats.org/drawingml/2006/main">
            <a:off x="6343650" y="3829050"/>
            <a:ext cx="5238750" cy="685275"/>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6b819e4e6fe443c"/>
          <a:srcRect xmlns:a="http://schemas.openxmlformats.org/drawingml/2006/main" l="9567" t="27824" r="32226" b="64701"/>
          <a:stretch xmlns:a="http://schemas.openxmlformats.org/drawingml/2006/main">
            <a:fillRect l="0" t="0" r="0" b="0"/>
          </a:stretch>
        </p:blipFill>
        <p:spPr>
          <a:xfrm xmlns:a="http://schemas.openxmlformats.org/drawingml/2006/main">
            <a:off x="6343650" y="4714875"/>
            <a:ext cx="5238750" cy="81572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DCD71EBB-8836-445C-AAA4-142A715BFFBA}"/>
              </a:ext>
            </a:extLst>
          </p:cNvPr>
          <p:cNvSpPr>
            <a:spLocks xmlns:a="http://schemas.openxmlformats.org/drawingml/2006/main" noGrp="1"/>
          </p:cNvSpPr>
          <p:nvPr/>
        </p:nvSpPr>
        <p:spPr>
          <a:xfrm xmlns:a="http://schemas.openxmlformats.org/drawingml/2006/main">
            <a:off x="609600" y="5391150"/>
            <a:ext cx="5286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35"/>
                </a:solidFill>
                <a:latin typeface="Arial"/>
                <a:ea typeface="Arial"/>
                <a:cs typeface="Arial"/>
              </a:defRPr>
            </a:pPr>
            <a:r>
              <a:rPr sz="1950" b="0">
                <a:solidFill>
                  <a:srgbClr val="152B35"/>
                </a:solidFill>
                <a:latin typeface="Arial"/>
                <a:ea typeface="Arial"/>
                <a:cs typeface="Arial"/>
              </a:rPr>
              <a:t>After isolation, before = 0.</a:t>
            </a:r>
          </a:p>
          <a:p xmlns:a="http://schemas.openxmlformats.org/drawingml/2006/main">
            <a:pPr>
              <a:defRPr sz="1950" b="0">
                <a:solidFill>
                  <a:srgbClr val="152B35"/>
                </a:solidFill>
                <a:latin typeface="Arial"/>
                <a:ea typeface="Arial"/>
                <a:cs typeface="Arial"/>
              </a:defRPr>
            </a:pPr>
            <a:r>
              <a:rPr sz="1950" b="0">
                <a:solidFill>
                  <a:srgbClr val="152B35"/>
                </a:solidFill>
                <a:latin typeface="Arial"/>
                <a:ea typeface="Arial"/>
                <a:cs typeface="Arial"/>
              </a:rPr>
              <a:t>The two fixes work together.</a:t>
            </a:r>
          </a:p>
        </p:txBody>
      </p:sp>
      <p:sp>
        <p:nvSpPr>
          <p:cNvPr id="12" name="">
            <a:extLst xmlns:a="http://schemas.openxmlformats.org/drawingml/2006/main">
              <a:ext uri="{FF2B5EF4-FFF2-40B4-BE49-F238E27FC236}">
                <a16:creationId xmlns:a16="http://schemas.microsoft.com/office/drawing/2014/main" id="{269BF0F7-1103-4DA3-820E-9D25D6FBFA79}"/>
              </a:ext>
            </a:extLst>
          </p:cNvPr>
          <p:cNvSpPr>
            <a:spLocks xmlns:a="http://schemas.openxmlformats.org/drawingml/2006/main" noGrp="1"/>
          </p:cNvSpPr>
          <p:nvPr/>
        </p:nvSpPr>
        <p:spPr>
          <a:xfrm xmlns:a="http://schemas.openxmlformats.org/drawingml/2006/main">
            <a:off x="6343650" y="5676900"/>
            <a:ext cx="525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7047"/>
                </a:solidFill>
                <a:latin typeface="Arial"/>
                <a:ea typeface="Arial"/>
                <a:cs typeface="Arial"/>
              </a:defRPr>
            </a:pPr>
            <a:r>
              <a:rPr sz="2025" b="1">
                <a:solidFill>
                  <a:srgbClr val="187047"/>
                </a:solidFill>
                <a:latin typeface="Arial"/>
                <a:ea typeface="Arial"/>
                <a:cs typeface="Arial"/>
              </a:rPr>
              <a:t>157 passed in all four full runs</a:t>
            </a:r>
          </a:p>
        </p:txBody>
      </p:sp>
    </p:spTree>
    <p:extLst>
      <p:ext uri="{BB962C8B-B14F-4D97-AF65-F5344CB8AC3E}">
        <p14:creationId xmlns:p14="http://schemas.microsoft.com/office/powerpoint/2010/main" val="4844373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B0F702-B9FB-4F72-A260-A1A9F59DB6D2}"/>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cost of this run</a:t>
            </a:r>
          </a:p>
        </p:txBody>
      </p:sp>
      <p:sp>
        <p:nvSpPr>
          <p:cNvPr id="2" name="">
            <a:extLst xmlns:a="http://schemas.openxmlformats.org/drawingml/2006/main">
              <a:ext uri="{FF2B5EF4-FFF2-40B4-BE49-F238E27FC236}">
                <a16:creationId xmlns:a16="http://schemas.microsoft.com/office/drawing/2014/main" id="{AFE29BF2-F7D2-4C6D-A028-266EAAEBD419}"/>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32 new tests and a project profile in the same pull request</a:t>
            </a:r>
          </a:p>
        </p:txBody>
      </p:sp>
      <p:sp>
        <p:nvSpPr>
          <p:cNvPr id="3" name="">
            <a:extLst xmlns:a="http://schemas.openxmlformats.org/drawingml/2006/main">
              <a:ext uri="{FF2B5EF4-FFF2-40B4-BE49-F238E27FC236}">
                <a16:creationId xmlns:a16="http://schemas.microsoft.com/office/drawing/2014/main" id="{75A9957F-7791-49A3-984E-C594915805EE}"/>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08</a:t>
            </a:r>
          </a:p>
        </p:txBody>
      </p:sp>
      <p:graphicFrame>
        <p:nvGraphicFramePr>
          <p:cNvPr id="11" name=""/>
          <p:cNvGraphicFramePr/>
          <p:nvPr/>
        </p:nvGraphicFramePr>
        <p:xfrm>
          <a:off xmlns:a="http://schemas.openxmlformats.org/drawingml/2006/main" x="609600" y="2047875"/>
          <a:ext xmlns:a="http://schemas.openxmlformats.org/drawingml/2006/main" cx="5429250" cy="2562225"/>
        </p:xfrm>
        <a:graphic xmlns:a="http://schemas.openxmlformats.org/drawingml/2006/main">
          <a:graphicData uri="http://schemas.openxmlformats.org/drawingml/2006/table">
            <a:tbl>
              <a:tblPr/>
              <a:tblGrid>
                <a:gridCol w="2667000"/>
                <a:gridCol w="2762250"/>
              </a:tblGrid>
              <a:tr h="640556">
                <a:tc>
                  <a:txBody>
                    <a:bodyPr>
                      <a:noAutofit/>
                    </a:bodyPr>
                    <a:lstStyle/>
                    <a:p>
                      <a:r>
                        <a:rPr sz="1800" b="1">
                          <a:solidFill>
                            <a:srgbClr val="007F78"/>
                          </a:solidFill>
                          <a:latin typeface="Arial"/>
                          <a:ea typeface="Arial"/>
                          <a:cs typeface="Arial"/>
                        </a:rPr>
                        <a:t>Measure</a:t>
                      </a:r>
                    </a:p>
                  </a:txBody>
                  <a:tcPr marL="91440" marR="91440" marT="45720" marB="45720">
                    <a:solidFill>
                      <a:srgbClr val="EAF4F1"/>
                    </a:solidFill>
                  </a:tcPr>
                </a:tc>
                <a:tc>
                  <a:txBody>
                    <a:bodyPr>
                      <a:noAutofit/>
                    </a:bodyPr>
                    <a:lstStyle/>
                    <a:p>
                      <a:r>
                        <a:rPr sz="1800" b="1">
                          <a:solidFill>
                            <a:srgbClr val="007F78"/>
                          </a:solidFill>
                          <a:latin typeface="Arial"/>
                          <a:ea typeface="Arial"/>
                          <a:cs typeface="Arial"/>
                        </a:rPr>
                        <a:t>Recorded result</a:t>
                      </a:r>
                    </a:p>
                  </a:txBody>
                  <a:tcPr marL="91440" marR="91440" marT="45720" marB="45720">
                    <a:solidFill>
                      <a:srgbClr val="EAF4F1"/>
                    </a:solidFill>
                  </a:tcPr>
                </a:tc>
              </a:tr>
              <a:tr h="640556">
                <a:tc>
                  <a:txBody>
                    <a:bodyPr>
                      <a:noAutofit/>
                    </a:bodyPr>
                    <a:lstStyle/>
                    <a:p>
                      <a:r>
                        <a:rPr sz="1800" b="0">
                          <a:solidFill>
                            <a:srgbClr val="152B35"/>
                          </a:solidFill>
                          <a:latin typeface="Arial"/>
                          <a:ea typeface="Arial"/>
                          <a:cs typeface="Arial"/>
                        </a:rPr>
                        <a:t>Subagent launches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9</a:t>
                      </a:r>
                    </a:p>
                  </a:txBody>
                  <a:tcPr marL="91440" marR="91440" marT="45720" marB="45720">
                    <a:solidFill>
                      <a:srgbClr val="FFFFFF"/>
                    </a:solidFill>
                  </a:tcPr>
                </a:tc>
              </a:tr>
              <a:tr h="640556">
                <a:tc>
                  <a:txBody>
                    <a:bodyPr>
                      <a:noAutofit/>
                    </a:bodyPr>
                    <a:lstStyle/>
                    <a:p>
                      <a:r>
                        <a:rPr sz="1800" b="0">
                          <a:solidFill>
                            <a:srgbClr val="152B35"/>
                          </a:solidFill>
                          <a:latin typeface="Arial"/>
                          <a:ea typeface="Arial"/>
                          <a:cs typeface="Arial"/>
                        </a:rPr>
                        <a:t>Elapsed time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About 1 h 31 min</a:t>
                      </a:r>
                    </a:p>
                  </a:txBody>
                  <a:tcPr marL="91440" marR="91440" marT="45720" marB="45720">
                    <a:solidFill>
                      <a:srgbClr val="FFFFFF"/>
                    </a:solidFill>
                  </a:tcPr>
                </a:tc>
              </a:tr>
              <a:tr h="640556">
                <a:tc>
                  <a:txBody>
                    <a:bodyPr>
                      <a:noAutofit/>
                    </a:bodyPr>
                    <a:lstStyle/>
                    <a:p>
                      <a:r>
                        <a:rPr sz="1800" b="0">
                          <a:solidFill>
                            <a:srgbClr val="152B35"/>
                          </a:solidFill>
                          <a:latin typeface="Arial"/>
                          <a:ea typeface="Arial"/>
                          <a:cs typeface="Arial"/>
                        </a:rPr>
                        <a:t>Subagent tokens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1,097,667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2FBB024-9331-4725-BED4-DA4F48D5E53C}"/>
              </a:ext>
            </a:extLst>
          </p:cNvPr>
          <p:cNvSpPr>
            <a:spLocks xmlns:a="http://schemas.openxmlformats.org/drawingml/2006/main" noGrp="1"/>
          </p:cNvSpPr>
          <p:nvPr/>
        </p:nvSpPr>
        <p:spPr>
          <a:xfrm xmlns:a="http://schemas.openxmlformats.org/drawingml/2006/main">
            <a:off x="609600" y="4972050"/>
            <a:ext cx="523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35"/>
                </a:solidFill>
                <a:latin typeface="Arial"/>
                <a:ea typeface="Arial"/>
                <a:cs typeface="Arial"/>
              </a:defRPr>
            </a:pPr>
            <a:r>
              <a:rPr sz="2175" b="0">
                <a:solidFill>
                  <a:srgbClr val="152B35"/>
                </a:solidFill>
                <a:latin typeface="Arial"/>
                <a:ea typeface="Arial"/>
                <a:cs typeface="Arial"/>
              </a:rPr>
              <a:t>3 developer, 3 reviewer,</a:t>
            </a:r>
          </a:p>
          <a:p xmlns:a="http://schemas.openxmlformats.org/drawingml/2006/main">
            <a:pPr>
              <a:defRPr sz="2175" b="0">
                <a:solidFill>
                  <a:srgbClr val="152B35"/>
                </a:solidFill>
                <a:latin typeface="Arial"/>
                <a:ea typeface="Arial"/>
                <a:cs typeface="Arial"/>
              </a:defRPr>
            </a:pPr>
            <a:r>
              <a:rPr sz="2175" b="0">
                <a:solidFill>
                  <a:srgbClr val="152B35"/>
                </a:solidFill>
                <a:latin typeface="Arial"/>
                <a:ea typeface="Arial"/>
                <a:cs typeface="Arial"/>
              </a:rPr>
              <a:t>2 QA, 1 planner</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5ff1a14dba6473a"/>
          <a:srcRect xmlns:a="http://schemas.openxmlformats.org/drawingml/2006/main" l="4632" t="11960" r="40987" b="50332"/>
          <a:stretch xmlns:a="http://schemas.openxmlformats.org/drawingml/2006/main">
            <a:fillRect l="0" t="0" r="0" b="0"/>
          </a:stretch>
        </p:blipFill>
        <p:spPr>
          <a:xfrm xmlns:a="http://schemas.openxmlformats.org/drawingml/2006/main">
            <a:off x="6562725" y="1905000"/>
            <a:ext cx="5019675" cy="422024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7FFF21B-3ADF-43A6-B48F-BF4064B16A0D}"/>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Orchestrator tokens excluded. No comparable single-agent control run.</a:t>
            </a:r>
          </a:p>
        </p:txBody>
      </p:sp>
    </p:spTree>
    <p:extLst>
      <p:ext uri="{BB962C8B-B14F-4D97-AF65-F5344CB8AC3E}">
        <p14:creationId xmlns:p14="http://schemas.microsoft.com/office/powerpoint/2010/main" val="6208573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5609C0-C000-4100-99E6-E4EFDDAF2AB9}"/>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What I changed and what comes next</a:t>
            </a:r>
          </a:p>
        </p:txBody>
      </p:sp>
      <p:sp>
        <p:nvSpPr>
          <p:cNvPr id="2" name="">
            <a:extLst xmlns:a="http://schemas.openxmlformats.org/drawingml/2006/main">
              <a:ext uri="{FF2B5EF4-FFF2-40B4-BE49-F238E27FC236}">
                <a16:creationId xmlns:a16="http://schemas.microsoft.com/office/drawing/2014/main" id="{727D2CF2-AEEA-4F47-AFBE-07AFE8B67A0C}"/>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Observations from the run feed back into the process</a:t>
            </a:r>
          </a:p>
        </p:txBody>
      </p:sp>
      <p:sp>
        <p:nvSpPr>
          <p:cNvPr id="3" name="">
            <a:extLst xmlns:a="http://schemas.openxmlformats.org/drawingml/2006/main">
              <a:ext uri="{FF2B5EF4-FFF2-40B4-BE49-F238E27FC236}">
                <a16:creationId xmlns:a16="http://schemas.microsoft.com/office/drawing/2014/main" id="{C8EF67FB-6D14-4AE6-9029-E34BB217E00D}"/>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09</a:t>
            </a:r>
          </a:p>
        </p:txBody>
      </p:sp>
      <p:graphicFrame>
        <p:nvGraphicFramePr>
          <p:cNvPr id="11" name=""/>
          <p:cNvGraphicFramePr/>
          <p:nvPr/>
        </p:nvGraphicFramePr>
        <p:xfrm>
          <a:off xmlns:a="http://schemas.openxmlformats.org/drawingml/2006/main" x="609600" y="1895475"/>
          <a:ext xmlns:a="http://schemas.openxmlformats.org/drawingml/2006/main" cx="10972800" cy="3076575"/>
        </p:xfrm>
        <a:graphic xmlns:a="http://schemas.openxmlformats.org/drawingml/2006/main">
          <a:graphicData uri="http://schemas.openxmlformats.org/drawingml/2006/table">
            <a:tbl>
              <a:tblPr/>
              <a:tblGrid>
                <a:gridCol w="5238750"/>
                <a:gridCol w="5734050"/>
              </a:tblGrid>
              <a:tr h="615315">
                <a:tc>
                  <a:txBody>
                    <a:bodyPr>
                      <a:noAutofit/>
                    </a:bodyPr>
                    <a:lstStyle/>
                    <a:p>
                      <a:r>
                        <a:rPr sz="1800" b="1">
                          <a:solidFill>
                            <a:srgbClr val="007F78"/>
                          </a:solidFill>
                          <a:latin typeface="Arial"/>
                          <a:ea typeface="Arial"/>
                          <a:cs typeface="Arial"/>
                        </a:rPr>
                        <a:t>Observation</a:t>
                      </a:r>
                    </a:p>
                  </a:txBody>
                  <a:tcPr marL="91440" marR="91440" marT="45720" marB="45720">
                    <a:solidFill>
                      <a:srgbClr val="EAF4F1"/>
                    </a:solidFill>
                  </a:tcPr>
                </a:tc>
                <a:tc>
                  <a:txBody>
                    <a:bodyPr>
                      <a:noAutofit/>
                    </a:bodyPr>
                    <a:lstStyle/>
                    <a:p>
                      <a:r>
                        <a:rPr sz="1800" b="1">
                          <a:solidFill>
                            <a:srgbClr val="007F78"/>
                          </a:solidFill>
                          <a:latin typeface="Arial"/>
                          <a:ea typeface="Arial"/>
                          <a:cs typeface="Arial"/>
                        </a:rPr>
                        <a:t>Response</a:t>
                      </a:r>
                    </a:p>
                  </a:txBody>
                  <a:tcPr marL="91440" marR="91440" marT="45720" marB="45720">
                    <a:solidFill>
                      <a:srgbClr val="EAF4F1"/>
                    </a:solidFill>
                  </a:tcPr>
                </a:tc>
              </a:tr>
              <a:tr h="615315">
                <a:tc>
                  <a:txBody>
                    <a:bodyPr>
                      <a:noAutofit/>
                    </a:bodyPr>
                    <a:lstStyle/>
                    <a:p>
                      <a:r>
                        <a:rPr sz="1800" b="0">
                          <a:solidFill>
                            <a:srgbClr val="152B35"/>
                          </a:solidFill>
                          <a:latin typeface="Arial"/>
                          <a:ea typeface="Arial"/>
                          <a:cs typeface="Arial"/>
                        </a:rPr>
                        <a:t>QA fixes change reviewed code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Another review before QA</a:t>
                      </a:r>
                    </a:p>
                  </a:txBody>
                  <a:tcPr marL="91440" marR="91440" marT="45720" marB="45720">
                    <a:solidFill>
                      <a:srgbClr val="FFFFFF"/>
                    </a:solidFill>
                  </a:tcPr>
                </a:tc>
              </a:tr>
              <a:tr h="615315">
                <a:tc>
                  <a:txBody>
                    <a:bodyPr>
                      <a:noAutofit/>
                    </a:bodyPr>
                    <a:lstStyle/>
                    <a:p>
                      <a:r>
                        <a:rPr sz="1800" b="0">
                          <a:solidFill>
                            <a:srgbClr val="152B35"/>
                          </a:solidFill>
                          <a:latin typeface="Arial"/>
                          <a:ea typeface="Arial"/>
                          <a:cs typeface="Arial"/>
                        </a:rPr>
                        <a:t>Project facts drift</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A shared profile, corrected from evidence</a:t>
                      </a:r>
                    </a:p>
                  </a:txBody>
                  <a:tcPr marL="91440" marR="91440" marT="45720" marB="45720">
                    <a:solidFill>
                      <a:srgbClr val="FFFFFF"/>
                    </a:solidFill>
                  </a:tcPr>
                </a:tc>
              </a:tr>
              <a:tr h="615315">
                <a:tc>
                  <a:txBody>
                    <a:bodyPr>
                      <a:noAutofit/>
                    </a:bodyPr>
                    <a:lstStyle/>
                    <a:p>
                      <a:r>
                        <a:rPr sz="1800" b="0">
                          <a:solidFill>
                            <a:srgbClr val="152B35"/>
                          </a:solidFill>
                          <a:latin typeface="Arial"/>
                          <a:ea typeface="Arial"/>
                          <a:cs typeface="Arial"/>
                        </a:rPr>
                        <a:t>Text rules can be skipped</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Next: enforce transitions in the runtime</a:t>
                      </a:r>
                    </a:p>
                  </a:txBody>
                  <a:tcPr marL="91440" marR="91440" marT="45720" marB="45720">
                    <a:solidFill>
                      <a:srgbClr val="FFFFFF"/>
                    </a:solidFill>
                  </a:tcPr>
                </a:tc>
              </a:tr>
              <a:tr h="615315">
                <a:tc>
                  <a:txBody>
                    <a:bodyPr>
                      <a:noAutofit/>
                    </a:bodyPr>
                    <a:lstStyle/>
                    <a:p>
                      <a:r>
                        <a:rPr sz="1800" b="0">
                          <a:solidFill>
                            <a:srgbClr val="152B35"/>
                          </a:solidFill>
                          <a:latin typeface="Arial"/>
                          <a:ea typeface="Arial"/>
                          <a:cs typeface="Arial"/>
                        </a:rPr>
                        <a:t>Coordination consumes resources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Next: measure human intervention too</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30F21B1-F26C-46CE-841B-FF4E3A3F68F6}"/>
              </a:ext>
            </a:extLst>
          </p:cNvPr>
          <p:cNvSpPr>
            <a:spLocks xmlns:a="http://schemas.openxmlformats.org/drawingml/2006/main" noGrp="1"/>
          </p:cNvSpPr>
          <p:nvPr/>
        </p:nvSpPr>
        <p:spPr>
          <a:xfrm xmlns:a="http://schemas.openxmlformats.org/drawingml/2006/main">
            <a:off x="609600" y="523875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78"/>
                </a:solidFill>
                <a:latin typeface="Arial"/>
                <a:ea typeface="Arial"/>
                <a:cs typeface="Arial"/>
              </a:defRPr>
            </a:pPr>
            <a:r>
              <a:rPr sz="1950" b="1">
                <a:solidFill>
                  <a:srgbClr val="007F78"/>
                </a:solidFill>
                <a:latin typeface="Arial"/>
                <a:ea typeface="Arial"/>
                <a:cs typeface="Arial"/>
              </a:rPr>
              <a:t>Profile correction:</a:t>
            </a:r>
          </a:p>
          <a:p xmlns:a="http://schemas.openxmlformats.org/drawingml/2006/main">
            <a:pPr>
              <a:defRPr sz="1950" b="1">
                <a:solidFill>
                  <a:srgbClr val="007F78"/>
                </a:solidFill>
                <a:latin typeface="Arial"/>
                <a:ea typeface="Arial"/>
                <a:cs typeface="Arial"/>
              </a:defRPr>
            </a:pPr>
            <a:r>
              <a:rPr sz="1950" b="1">
                <a:solidFill>
                  <a:srgbClr val="007F78"/>
                </a:solidFill>
                <a:latin typeface="Arial"/>
                <a:ea typeface="Arial"/>
                <a:cs typeface="Arial"/>
              </a:rPr>
              <a:t>13 to 15 test files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cb28e6a36524157"/>
          <a:srcRect xmlns:a="http://schemas.openxmlformats.org/drawingml/2006/main" l="9567" t="53821" r="32528" b="40781"/>
          <a:stretch xmlns:a="http://schemas.openxmlformats.org/drawingml/2006/main">
            <a:fillRect l="0" t="0" r="0" b="0"/>
          </a:stretch>
        </p:blipFill>
        <p:spPr>
          <a:xfrm xmlns:a="http://schemas.openxmlformats.org/drawingml/2006/main">
            <a:off x="6172200" y="5219700"/>
            <a:ext cx="5381625" cy="60835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97AA351-76B5-47AD-99E3-63E10211EBA2}"/>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Current routing relies mainly on prompts. Runtime enforcement is a proposed improvement.</a:t>
            </a:r>
          </a:p>
        </p:txBody>
      </p:sp>
    </p:spTree>
    <p:extLst>
      <p:ext uri="{BB962C8B-B14F-4D97-AF65-F5344CB8AC3E}">
        <p14:creationId xmlns:p14="http://schemas.microsoft.com/office/powerpoint/2010/main" val="15202275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E83129-B9B6-4F4C-87CA-0F2E4C52FC64}"/>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Tuning the process from real runs</a:t>
            </a:r>
          </a:p>
        </p:txBody>
      </p:sp>
      <p:sp>
        <p:nvSpPr>
          <p:cNvPr id="2" name="">
            <a:extLst xmlns:a="http://schemas.openxmlformats.org/drawingml/2006/main">
              <a:ext uri="{FF2B5EF4-FFF2-40B4-BE49-F238E27FC236}">
                <a16:creationId xmlns:a16="http://schemas.microsoft.com/office/drawing/2014/main" id="{85AF463D-A6E6-4180-9E99-4CC24F83BEE6}"/>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F28FD01E-FA8D-4191-AFCF-DDBED98B6B56}"/>
              </a:ext>
            </a:extLst>
          </p:cNvPr>
          <p:cNvSpPr>
            <a:spLocks xmlns:a="http://schemas.openxmlformats.org/drawingml/2006/main" noGrp="1"/>
          </p:cNvSpPr>
          <p:nvPr/>
        </p:nvSpPr>
        <p:spPr>
          <a:xfrm xmlns:a="http://schemas.openxmlformats.org/drawingml/2006/main">
            <a:off x="609600" y="195262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F78"/>
                </a:solidFill>
                <a:latin typeface="Arial"/>
                <a:ea typeface="Arial"/>
                <a:cs typeface="Arial"/>
              </a:defRPr>
            </a:pPr>
            <a:r>
              <a:rPr sz="2700" b="1">
                <a:solidFill>
                  <a:srgbClr val="007F78"/>
                </a:solidFill>
                <a:latin typeface="Arial"/>
                <a:ea typeface="Arial"/>
                <a:cs typeface="Arial"/>
              </a:rPr>
              <a:t>One task type</a:t>
            </a:r>
          </a:p>
        </p:txBody>
      </p:sp>
      <p:sp>
        <p:nvSpPr>
          <p:cNvPr id="4" name="">
            <a:extLst xmlns:a="http://schemas.openxmlformats.org/drawingml/2006/main">
              <a:ext uri="{FF2B5EF4-FFF2-40B4-BE49-F238E27FC236}">
                <a16:creationId xmlns:a16="http://schemas.microsoft.com/office/drawing/2014/main" id="{7222CADD-46D7-494E-9B2F-0011C83FCF4C}"/>
              </a:ext>
            </a:extLst>
          </p:cNvPr>
          <p:cNvSpPr>
            <a:spLocks xmlns:a="http://schemas.openxmlformats.org/drawingml/2006/main" noGrp="1"/>
          </p:cNvSpPr>
          <p:nvPr/>
        </p:nvSpPr>
        <p:spPr>
          <a:xfrm xmlns:a="http://schemas.openxmlformats.org/drawingml/2006/main">
            <a:off x="609600" y="25050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52B35"/>
                </a:solidFill>
                <a:latin typeface="Arial"/>
                <a:ea typeface="Arial"/>
                <a:cs typeface="Arial"/>
              </a:defRPr>
            </a:pPr>
            <a:r>
              <a:rPr sz="2625" b="0">
                <a:solidFill>
                  <a:srgbClr val="152B35"/>
                </a:solidFill>
                <a:latin typeface="Arial"/>
                <a:ea typeface="Arial"/>
                <a:cs typeface="Arial"/>
              </a:rPr>
              <a:t>A checkable result for every stage</a:t>
            </a:r>
          </a:p>
        </p:txBody>
      </p:sp>
      <p:sp>
        <p:nvSpPr>
          <p:cNvPr id="5" name="">
            <a:extLst xmlns:a="http://schemas.openxmlformats.org/drawingml/2006/main">
              <a:ext uri="{FF2B5EF4-FFF2-40B4-BE49-F238E27FC236}">
                <a16:creationId xmlns:a16="http://schemas.microsoft.com/office/drawing/2014/main" id="{3A42B8A3-B9B1-4A9C-AE8B-28664328F77A}"/>
              </a:ext>
            </a:extLst>
          </p:cNvPr>
          <p:cNvSpPr>
            <a:spLocks xmlns:a="http://schemas.openxmlformats.org/drawingml/2006/main" noGrp="1"/>
          </p:cNvSpPr>
          <p:nvPr/>
        </p:nvSpPr>
        <p:spPr>
          <a:xfrm xmlns:a="http://schemas.openxmlformats.org/drawingml/2006/main">
            <a:off x="609600" y="35528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F78"/>
                </a:solidFill>
                <a:latin typeface="Arial"/>
                <a:ea typeface="Arial"/>
                <a:cs typeface="Arial"/>
              </a:defRPr>
            </a:pPr>
            <a:r>
              <a:rPr sz="2700" b="1">
                <a:solidFill>
                  <a:srgbClr val="007F78"/>
                </a:solidFill>
                <a:latin typeface="Arial"/>
                <a:ea typeface="Arial"/>
                <a:cs typeface="Arial"/>
              </a:rPr>
              <a:t>A saved record of each run</a:t>
            </a:r>
          </a:p>
        </p:txBody>
      </p:sp>
      <p:sp>
        <p:nvSpPr>
          <p:cNvPr id="6" name="">
            <a:extLst xmlns:a="http://schemas.openxmlformats.org/drawingml/2006/main">
              <a:ext uri="{FF2B5EF4-FFF2-40B4-BE49-F238E27FC236}">
                <a16:creationId xmlns:a16="http://schemas.microsoft.com/office/drawing/2014/main" id="{61F3A802-FB1D-4FE3-ADCC-275196B37CCD}"/>
              </a:ext>
            </a:extLst>
          </p:cNvPr>
          <p:cNvSpPr>
            <a:spLocks xmlns:a="http://schemas.openxmlformats.org/drawingml/2006/main" noGrp="1"/>
          </p:cNvSpPr>
          <p:nvPr/>
        </p:nvSpPr>
        <p:spPr>
          <a:xfrm xmlns:a="http://schemas.openxmlformats.org/drawingml/2006/main">
            <a:off x="609600" y="41243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B35"/>
                </a:solidFill>
                <a:latin typeface="Arial"/>
                <a:ea typeface="Arial"/>
                <a:cs typeface="Arial"/>
              </a:defRPr>
            </a:pPr>
            <a:r>
              <a:rPr sz="2475" b="0">
                <a:solidFill>
                  <a:srgbClr val="152B35"/>
                </a:solidFill>
                <a:latin typeface="Arial"/>
                <a:ea typeface="Arial"/>
                <a:cs typeface="Arial"/>
              </a:rPr>
              <a:t>Findings, instruction version, costs and human intervention</a:t>
            </a:r>
          </a:p>
        </p:txBody>
      </p:sp>
      <p:sp>
        <p:nvSpPr>
          <p:cNvPr id="7" name="">
            <a:extLst xmlns:a="http://schemas.openxmlformats.org/drawingml/2006/main">
              <a:ext uri="{FF2B5EF4-FFF2-40B4-BE49-F238E27FC236}">
                <a16:creationId xmlns:a16="http://schemas.microsoft.com/office/drawing/2014/main" id="{3079B8E2-6A97-4640-A442-5D85ACD42C59}"/>
              </a:ext>
            </a:extLst>
          </p:cNvPr>
          <p:cNvSpPr>
            <a:spLocks xmlns:a="http://schemas.openxmlformats.org/drawingml/2006/main" noGrp="1"/>
          </p:cNvSpPr>
          <p:nvPr/>
        </p:nvSpPr>
        <p:spPr>
          <a:xfrm xmlns:a="http://schemas.openxmlformats.org/drawingml/2006/main">
            <a:off x="609600" y="539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36871"/>
                </a:solidFill>
                <a:latin typeface="Arial"/>
                <a:ea typeface="Arial"/>
                <a:cs typeface="Arial"/>
              </a:defRPr>
            </a:pPr>
            <a:r>
              <a:rPr sz="2175" b="0">
                <a:solidFill>
                  <a:srgbClr val="536871"/>
                </a:solidFill>
                <a:latin typeface="Arial"/>
                <a:ea typeface="Arial"/>
                <a:cs typeface="Arial"/>
              </a:rPr>
              <a:t>Roles, project profiles and run reports</a:t>
            </a:r>
          </a:p>
        </p:txBody>
      </p:sp>
      <p:sp>
        <p:nvSpPr>
          <p:cNvPr id="8" name="">
            <a:extLst xmlns:a="http://schemas.openxmlformats.org/drawingml/2006/main">
              <a:ext uri="{FF2B5EF4-FFF2-40B4-BE49-F238E27FC236}">
                <a16:creationId xmlns:a16="http://schemas.microsoft.com/office/drawing/2014/main" id="{CA11BA7A-5520-4706-9C05-E4C513D82050}"/>
              </a:ext>
            </a:extLst>
          </p:cNvPr>
          <p:cNvSpPr>
            <a:spLocks xmlns:a="http://schemas.openxmlformats.org/drawingml/2006/main" noGrp="1"/>
          </p:cNvSpPr>
          <p:nvPr/>
        </p:nvSpPr>
        <p:spPr>
          <a:xfrm xmlns:a="http://schemas.openxmlformats.org/drawingml/2006/main">
            <a:off x="609600" y="58674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hlinkClick xmlns:r="http://schemas.openxmlformats.org/officeDocument/2006/relationships" r:id="Rc98428ee226e42e3"/>
              </a:rPr>
              <a:t>github.com/TeleginS/agent-orchestration</a:t>
            </a:r>
          </a:p>
        </p:txBody>
      </p:sp>
    </p:spTree>
    <p:extLst>
      <p:ext uri="{BB962C8B-B14F-4D97-AF65-F5344CB8AC3E}">
        <p14:creationId xmlns:p14="http://schemas.microsoft.com/office/powerpoint/2010/main" val="1599928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2026-09-06T11:54:35.9660000Z</dcterms:created>
  <dcterms:modified xsi:type="dcterms:W3CDTF">2026-09-06T11:54:35.9660000Z</dcterms:modified>
</coreProperties>
</file>
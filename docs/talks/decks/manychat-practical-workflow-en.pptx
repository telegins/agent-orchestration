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5c0b7918f34eea" /><Relationship Type="http://schemas.openxmlformats.org/officeDocument/2006/relationships/extended-properties" Target="/docProps/app.xml" Id="R58897c359333453e" /><Relationship Type="http://schemas.openxmlformats.org/officeDocument/2006/relationships/officeDocument" Target="/ppt/presentation.xml" Id="R134433f8bfdd4da4" /></Relationships>
</file>

<file path=ppt/presentation.xml><?xml version="1.0" encoding="utf-8"?>
<p:presentation xmlns:p="http://schemas.openxmlformats.org/presentationml/2006/main">
  <p:sldMasterIdLst>
    <p:sldMasterId xmlns:r="http://schemas.openxmlformats.org/officeDocument/2006/relationships" id="2147483648" r:id="R35866ebb149949f1"/>
  </p:sldMasterIdLst>
  <p:notesMasterIdLst>
    <p:notesMasterId xmlns:r="http://schemas.openxmlformats.org/officeDocument/2006/relationships" r:id="R6cae3fe6dfa94ab1"/>
  </p:notesMasterIdLst>
  <p:sldIdLst>
    <p:sldId xmlns:r="http://schemas.openxmlformats.org/officeDocument/2006/relationships" id="256" r:id="Re13bdefabe534326"/>
    <p:sldId xmlns:r="http://schemas.openxmlformats.org/officeDocument/2006/relationships" id="257" r:id="Rc0bbdc74662e4c19"/>
    <p:sldId xmlns:r="http://schemas.openxmlformats.org/officeDocument/2006/relationships" id="258" r:id="Rde199ba011584519"/>
    <p:sldId xmlns:r="http://schemas.openxmlformats.org/officeDocument/2006/relationships" id="259" r:id="R4aea433faf354cfc"/>
    <p:sldId xmlns:r="http://schemas.openxmlformats.org/officeDocument/2006/relationships" id="260" r:id="Rbd1e02881fa942c1"/>
    <p:sldId xmlns:r="http://schemas.openxmlformats.org/officeDocument/2006/relationships" id="261" r:id="Rf65155e323054456"/>
    <p:sldId xmlns:r="http://schemas.openxmlformats.org/officeDocument/2006/relationships" id="262" r:id="Re03bf52915514119"/>
    <p:sldId xmlns:r="http://schemas.openxmlformats.org/officeDocument/2006/relationships" id="263" r:id="R93383e6efbf241cb"/>
    <p:sldId xmlns:r="http://schemas.openxmlformats.org/officeDocument/2006/relationships" id="264" r:id="R0fc5223429ac4231"/>
    <p:sldId xmlns:r="http://schemas.openxmlformats.org/officeDocument/2006/relationships" id="265" r:id="Rd5ccec12eae545be"/>
    <p:sldId xmlns:r="http://schemas.openxmlformats.org/officeDocument/2006/relationships" id="266" r:id="Rb03fd97b39404c89"/>
    <p:sldId xmlns:r="http://schemas.openxmlformats.org/officeDocument/2006/relationships" id="267" r:id="R3f23b7d5f17a49eb"/>
    <p:sldId xmlns:r="http://schemas.openxmlformats.org/officeDocument/2006/relationships" id="268" r:id="R0be34613cb394d16"/>
    <p:sldId xmlns:r="http://schemas.openxmlformats.org/officeDocument/2006/relationships" id="269" r:id="Rb4272b5120d7479e"/>
    <p:sldId xmlns:r="http://schemas.openxmlformats.org/officeDocument/2006/relationships" id="270" r:id="R4b8880c4722948e8"/>
    <p:sldId xmlns:r="http://schemas.openxmlformats.org/officeDocument/2006/relationships" id="271" r:id="R4444dd25493d4a6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aef2b10c674999" /><Relationship Type="http://schemas.openxmlformats.org/officeDocument/2006/relationships/slideMaster" Target="/ppt/slideMasters/slideMaster1.xml" Id="R35866ebb149949f1" /><Relationship Type="http://schemas.openxmlformats.org/officeDocument/2006/relationships/notesMaster" Target="/ppt/notesMasters/notesMaster1.xml" Id="R6cae3fe6dfa94ab1" /><Relationship Type="http://schemas.openxmlformats.org/officeDocument/2006/relationships/presProps" Target="/ppt/presProps.xml" Id="R446bf04dfb87488b" /><Relationship Type="http://schemas.openxmlformats.org/officeDocument/2006/relationships/tableStyles" Target="/ppt/tableStyles.xml" Id="R8a0f29b7426d4abf" /><Relationship Type="http://schemas.openxmlformats.org/officeDocument/2006/relationships/slide" Target="/ppt/slides/slide1.xml" Id="Re13bdefabe534326" /><Relationship Type="http://schemas.openxmlformats.org/officeDocument/2006/relationships/slide" Target="/ppt/slides/slide2.xml" Id="Rc0bbdc74662e4c19" /><Relationship Type="http://schemas.openxmlformats.org/officeDocument/2006/relationships/slide" Target="/ppt/slides/slide3.xml" Id="Rde199ba011584519" /><Relationship Type="http://schemas.openxmlformats.org/officeDocument/2006/relationships/slide" Target="/ppt/slides/slide4.xml" Id="R4aea433faf354cfc" /><Relationship Type="http://schemas.openxmlformats.org/officeDocument/2006/relationships/slide" Target="/ppt/slides/slide5.xml" Id="Rbd1e02881fa942c1" /><Relationship Type="http://schemas.openxmlformats.org/officeDocument/2006/relationships/slide" Target="/ppt/slides/slide6.xml" Id="Rf65155e323054456" /><Relationship Type="http://schemas.openxmlformats.org/officeDocument/2006/relationships/slide" Target="/ppt/slides/slide7.xml" Id="Re03bf52915514119" /><Relationship Type="http://schemas.openxmlformats.org/officeDocument/2006/relationships/slide" Target="/ppt/slides/slide8.xml" Id="R93383e6efbf241cb" /><Relationship Type="http://schemas.openxmlformats.org/officeDocument/2006/relationships/slide" Target="/ppt/slides/slide9.xml" Id="R0fc5223429ac4231" /><Relationship Type="http://schemas.openxmlformats.org/officeDocument/2006/relationships/slide" Target="/ppt/slides/slide10.xml" Id="Rd5ccec12eae545be" /><Relationship Type="http://schemas.openxmlformats.org/officeDocument/2006/relationships/slide" Target="/ppt/slides/slide11.xml" Id="Rb03fd97b39404c89" /><Relationship Type="http://schemas.openxmlformats.org/officeDocument/2006/relationships/slide" Target="/ppt/slides/slide12.xml" Id="R3f23b7d5f17a49eb" /><Relationship Type="http://schemas.openxmlformats.org/officeDocument/2006/relationships/slide" Target="/ppt/slides/slide13.xml" Id="R0be34613cb394d16" /><Relationship Type="http://schemas.openxmlformats.org/officeDocument/2006/relationships/slide" Target="/ppt/slides/slide14.xml" Id="Rb4272b5120d7479e" /><Relationship Type="http://schemas.openxmlformats.org/officeDocument/2006/relationships/slide" Target="/ppt/slides/slide15.xml" Id="R4b8880c4722948e8" /><Relationship Type="http://schemas.openxmlformats.org/officeDocument/2006/relationships/slide" Target="/ppt/slides/slide16.xml" Id="R4444dd25493d4a6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be58c4e8284f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aafd09fb32435b" /><Relationship Type="http://schemas.openxmlformats.org/officeDocument/2006/relationships/notesMaster" Target="/ppt/notesMasters/notesMaster1.xml" Id="R75da47bb7eba43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61303556984bd3" /><Relationship Type="http://schemas.openxmlformats.org/officeDocument/2006/relationships/notesMaster" Target="/ppt/notesMasters/notesMaster1.xml" Id="Rcb49ac822f954e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e99a9d2ba5e47c7" /><Relationship Type="http://schemas.openxmlformats.org/officeDocument/2006/relationships/notesMaster" Target="/ppt/notesMasters/notesMaster1.xml" Id="R129f35c0499049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3be28224a64933" /><Relationship Type="http://schemas.openxmlformats.org/officeDocument/2006/relationships/notesMaster" Target="/ppt/notesMasters/notesMaster1.xml" Id="R613348f23e4c4c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aba2662d24428b" /><Relationship Type="http://schemas.openxmlformats.org/officeDocument/2006/relationships/notesMaster" Target="/ppt/notesMasters/notesMaster1.xml" Id="Rf287aeee8070474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4c716254024ebf" /><Relationship Type="http://schemas.openxmlformats.org/officeDocument/2006/relationships/notesMaster" Target="/ppt/notesMasters/notesMaster1.xml" Id="R58e3b65507f04e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61802cfa2245c3" /><Relationship Type="http://schemas.openxmlformats.org/officeDocument/2006/relationships/notesMaster" Target="/ppt/notesMasters/notesMaster1.xml" Id="R27517414e10d46b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72af9059d84426" /><Relationship Type="http://schemas.openxmlformats.org/officeDocument/2006/relationships/notesMaster" Target="/ppt/notesMasters/notesMaster1.xml" Id="Rceff9ecaaa944a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75866086404eb2" /><Relationship Type="http://schemas.openxmlformats.org/officeDocument/2006/relationships/notesMaster" Target="/ppt/notesMasters/notesMaster1.xml" Id="R6a4dec8a038f4b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d0c125c1644ad7" /><Relationship Type="http://schemas.openxmlformats.org/officeDocument/2006/relationships/notesMaster" Target="/ppt/notesMasters/notesMaster1.xml" Id="R168f7930d2cf4d0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b109e84330430e" /><Relationship Type="http://schemas.openxmlformats.org/officeDocument/2006/relationships/notesMaster" Target="/ppt/notesMasters/notesMaster1.xml" Id="R0cad5357151b42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f2bd4fea7240c8" /><Relationship Type="http://schemas.openxmlformats.org/officeDocument/2006/relationships/notesMaster" Target="/ppt/notesMasters/notesMaster1.xml" Id="R36f218fa70f141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4ab1e173b84ac5" /><Relationship Type="http://schemas.openxmlformats.org/officeDocument/2006/relationships/notesMaster" Target="/ppt/notesMasters/notesMaster1.xml" Id="Re811f4bd451740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c68d73b6af496f" /><Relationship Type="http://schemas.openxmlformats.org/officeDocument/2006/relationships/notesMaster" Target="/ppt/notesMasters/notesMaster1.xml" Id="Rd4c7fdaf7d3e4c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6eceed737645ee" /><Relationship Type="http://schemas.openxmlformats.org/officeDocument/2006/relationships/notesMaster" Target="/ppt/notesMasters/notesMaster1.xml" Id="Ra84b0df490d747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e57edbfa37b44b7" /><Relationship Type="http://schemas.openxmlformats.org/officeDocument/2006/relationships/notesMaster" Target="/ppt/notesMasters/notesMaster1.xml" Id="R18180c469cc143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Orchestration</a:t>
            </a:r>
          </a:p>
          <a:p xmlns:a="http://schemas.openxmlformats.org/drawingml/2006/main">
            <a:r>
              <a:t>0:00–0:15</a:t>
            </a:r>
          </a:p>
          <a:p xmlns:a="http://schemas.openxmlformats.org/drawingml/2006/main">
            <a:r>
              <a:t/>
            </a:r>
          </a:p>
          <a:p xmlns:a="http://schemas.openxmlformats.org/drawingml/2006/main">
            <a:r>
              <a:t>Hi, I’m Sergei Telegin. I’ll show you one real task from my AI development workflow: what the agents checked, why the work came back, and what those extra passes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157 tests passed. QA blocked the PR.</a:t>
            </a:r>
          </a:p>
          <a:p xmlns:a="http://schemas.openxmlformats.org/drawingml/2006/main">
            <a:r>
              <a:t>0:15–1:00</a:t>
            </a:r>
          </a:p>
          <a:p xmlns:a="http://schemas.openxmlformats.org/drawingml/2006/main">
            <a:r>
              <a:t/>
            </a:r>
          </a:p>
          <a:p xmlns:a="http://schemas.openxmlformats.org/drawingml/2006/main">
            <a:r>
              <a:t>TrafficRulesApp is my personal iOS app for the Spanish driving theory exam. In this task, agents were adding tests. The reviewer approved the change. All 157 tests passed. QA still blocked the pull request.</a:t>
            </a:r>
          </a:p>
          <a:p xmlns:a="http://schemas.openxmlformats.org/drawingml/2006/main">
            <a:r>
              <a:t/>
            </a:r>
          </a:p>
          <a:p xmlns:a="http://schemas.openxmlformats.org/drawingml/2006/main">
            <a:r>
              <a:t>The problem was in what some of those tests could prove. We’ll follow the task through one map, see the finding and its repair, and look at the cost. The question to keep in mind is: what evidence should one stage give the next?</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https://github.com/TeleginS/TrafficRulesApp/pull/198#issuecomment-5500803440</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https://github.com/TeleginS/TrafficRulesApp/issues/201</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is a loop</a:t>
            </a:r>
          </a:p>
          <a:p xmlns:a="http://schemas.openxmlformats.org/drawingml/2006/main">
            <a:r>
              <a:t>1:00–2:00</a:t>
            </a:r>
          </a:p>
          <a:p xmlns:a="http://schemas.openxmlformats.org/drawingml/2006/main">
            <a:r>
              <a:t/>
            </a:r>
          </a:p>
          <a:p xmlns:a="http://schemas.openxmlformats.org/drawingml/2006/main">
            <a:r>
              <a:t>An agent works through a loop. The model receives context and chooses an action. A tool reads a file, edits code, or runs a test. The execution environment, often called a harness, performs that action and returns the result.</a:t>
            </a:r>
          </a:p>
          <a:p xmlns:a="http://schemas.openxmlformats.org/drawingml/2006/main">
            <a:r>
              <a:t/>
            </a:r>
          </a:p>
          <a:p xmlns:a="http://schemas.openxmlformats.org/drawingml/2006/main">
            <a:r>
              <a:t>The model can then choose another action. A developer might inspect code, make a change, read a test failure and try again.</a:t>
            </a:r>
          </a:p>
          <a:p xmlns:a="http://schemas.openxmlformats.org/drawingml/2006/main">
            <a:r>
              <a:t/>
            </a:r>
          </a:p>
          <a:p xmlns:a="http://schemas.openxmlformats.org/drawingml/2006/main">
            <a:r>
              <a:t>For this talk, that is enough theory. The next question is how several such loops work together. Someone must provide the task and decide what result allows the next role to begin. My orchestrator coordinates that through written instructions. The diagram we’ll use describes those instructions; it does not enforce them.</a:t>
            </a:r>
          </a:p>
          <a:p xmlns:a="http://schemas.openxmlformats.org/drawingml/2006/main">
            <a:r>
              <a:t/>
            </a:r>
          </a:p>
          <a:p xmlns:a="http://schemas.openxmlformats.org/drawingml/2006/main">
            <a:r>
              <a:t>SOURCES</a:t>
            </a:r>
          </a:p>
          <a:p xmlns:a="http://schemas.openxmlformats.org/drawingml/2006/main">
            <a:r>
              <a:t>/Users/sergei/Developer/agent-orchestration/docs/talks/resources/transcripts/ai-agents-harness.md</a:t>
            </a:r>
          </a:p>
          <a:p xmlns:a="http://schemas.openxmlformats.org/drawingml/2006/main">
            <a:r>
              <a:t>/Users/sergei/Developer/agent-orchestration/docs/talks/manychat-meetup-agent-orchestration-talk-graph-walkthrough.md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map, four responsibilities</a:t>
            </a:r>
          </a:p>
          <a:p xmlns:a="http://schemas.openxmlformats.org/drawingml/2006/main">
            <a:r>
              <a:t>2:00–3:30</a:t>
            </a:r>
          </a:p>
          <a:p xmlns:a="http://schemas.openxmlformats.org/drawingml/2006/main">
            <a:r>
              <a:t/>
            </a:r>
          </a:p>
          <a:p xmlns:a="http://schemas.openxmlformats.org/drawingml/2006/main">
            <a:r>
              <a:t>Here is the map we’ll keep using. Four responsibilities: planning, implementation, review and QA.</a:t>
            </a:r>
          </a:p>
          <a:p xmlns:a="http://schemas.openxmlformats.org/drawingml/2006/main">
            <a:r>
              <a:t/>
            </a:r>
          </a:p>
          <a:p xmlns:a="http://schemas.openxmlformats.org/drawingml/2006/main">
            <a:r>
              <a:t>The planner turns the request into acceptance criteria and work items. The developer implements those requirements and supplies the change and its checks. The reviewer examines the actual diff against the task. QA runs the suite and checks the acceptance criteria and relevant behavior.</a:t>
            </a:r>
          </a:p>
          <a:p xmlns:a="http://schemas.openxmlformats.org/drawingml/2006/main">
            <a:r>
              <a:t/>
            </a:r>
          </a:p>
          <a:p xmlns:a="http://schemas.openxmlformats.org/drawingml/2006/main">
            <a:r>
              <a:t>These responsibilities overlap. Separate contexts do not make the agents statistically independent: they can share a model and repeat an assumption. The useful distinction is the additional check each role is asked to perform.</a:t>
            </a:r>
          </a:p>
          <a:p xmlns:a="http://schemas.openxmlformats.org/drawingml/2006/main">
            <a:r>
              <a:t/>
            </a:r>
          </a:p>
          <a:p xmlns:a="http://schemas.openxmlformats.org/drawingml/2006/main">
            <a:r>
              <a:t>The orchestrator coordinates the whole route. It carries the task, the project profile and previous results between stages. It also handles preparation and completion: clarification, branch hygiene, artifact review and issue cleanup. We’ll keep those details on a backup slide.</a:t>
            </a:r>
          </a:p>
          <a:p xmlns:a="http://schemas.openxmlformats.org/drawingml/2006/main">
            <a:r>
              <a:t/>
            </a:r>
          </a:p>
          <a:p xmlns:a="http://schemas.openxmlformats.org/drawingml/2006/main">
            <a:r>
              <a:t>Notice the labels between the boxes. A stage hands over something another stage can inspect. A message saying “done” is not enough to explain why the task should move forward.</a:t>
            </a:r>
          </a:p>
          <a:p xmlns:a="http://schemas.openxmlformats.org/drawingml/2006/main">
            <a:r>
              <a:t/>
            </a:r>
          </a:p>
          <a:p xmlns:a="http://schemas.openxmlformats.org/drawingml/2006/main">
            <a:r>
              <a:t>SOURCES</a:t>
            </a:r>
          </a:p>
          <a:p xmlns:a="http://schemas.openxmlformats.org/drawingml/2006/main">
            <a:r>
              <a:t>/Users/sergei/Developer/agent-orchestration/README.md</a:t>
            </a:r>
          </a:p>
          <a:p xmlns:a="http://schemas.openxmlformats.org/drawingml/2006/main">
            <a:r>
              <a:t>/Users/sergei/Developer/agent-orchestration/PIPELINE.md</a:t>
            </a:r>
          </a:p>
          <a:p xmlns:a="http://schemas.openxmlformats.org/drawingml/2006/main">
            <a:r>
              <a:t>/Users/sergei/Developer/agent-orchestration/PIPELINE-GRAPH.md</a:t>
            </a:r>
          </a:p>
          <a:p xmlns:a="http://schemas.openxmlformats.org/drawingml/2006/main">
            <a:r>
              <a:t>/Users/sergei/Developer/agent-orchestration/skills/README.md</a:t>
            </a:r>
          </a:p>
          <a:p xmlns:a="http://schemas.openxmlformats.org/drawingml/2006/main">
            <a:r>
              <a:t>/Users/sergei/Developer/agent-orchestration/adapters/README.md</a:t>
            </a:r>
          </a:p>
          <a:p xmlns:a="http://schemas.openxmlformats.org/drawingml/2006/main">
            <a:r>
              <a:t>/Users/sergei/Developer/agent-orchestration/adapters/codex/README.md</a:t>
            </a:r>
          </a:p>
          <a:p xmlns:a="http://schemas.openxmlformats.org/drawingml/2006/main">
            <a:r>
              <a:t>/Users/sergei/Developer/agent-orchestration/memory/RULES.md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Changed code needs fresh evidence</a:t>
            </a:r>
          </a:p>
          <a:p xmlns:a="http://schemas.openxmlformats.org/drawingml/2006/main">
            <a:r>
              <a:t>3:30–5:00</a:t>
            </a:r>
          </a:p>
          <a:p xmlns:a="http://schemas.openxmlformats.org/drawingml/2006/main">
            <a:r>
              <a:t/>
            </a:r>
          </a:p>
          <a:p xmlns:a="http://schemas.openxmlformats.org/drawingml/2006/main">
            <a:r>
              <a:t>There are two ways back. Review findings can send the patch to the developer. QA findings can also send it back, but a QA fix goes through review before QA tests it again.</a:t>
            </a:r>
          </a:p>
          <a:p xmlns:a="http://schemas.openxmlformats.org/drawingml/2006/main">
            <a:r>
              <a:t/>
            </a:r>
          </a:p>
          <a:p xmlns:a="http://schemas.openxmlformats.org/drawingml/2006/main">
            <a:r>
              <a:t>The reason is simple: the fix changes the code. Approval of an earlier version does not cover that change automatically.</a:t>
            </a:r>
          </a:p>
          <a:p xmlns:a="http://schemas.openxmlformats.org/drawingml/2006/main">
            <a:r>
              <a:t/>
            </a:r>
          </a:p>
          <a:p xmlns:a="http://schemas.openxmlformats.org/drawingml/2006/main">
            <a:r>
              <a:t>There is a short history behind this rule. In July, QA found double-counted session time after a reviewer had approved PR 143. On August 26, a versioned change explicitly added review of QA fixes to the instructions: rule eleven.</a:t>
            </a:r>
          </a:p>
          <a:p xmlns:a="http://schemas.openxmlformats.org/drawingml/2006/main">
            <a:r>
              <a:t/>
            </a:r>
          </a:p>
          <a:p xmlns:a="http://schemas.openxmlformats.org/drawingml/2006/main">
            <a:r>
              <a:t>That establishes a documented process change. It does not establish that the July bug was its only cause, or reconstruct every setting in the old sessions.</a:t>
            </a:r>
          </a:p>
          <a:p xmlns:a="http://schemas.openxmlformats.org/drawingml/2006/main">
            <a:r>
              <a:t/>
            </a:r>
          </a:p>
          <a:p xmlns:a="http://schemas.openxmlformats.org/drawingml/2006/main">
            <a:r>
              <a:t>Today, both repair loops have a three-iteration limit, then escalation with the remaining blockers. Those limits and transitions are instructions the orchestrator must follow. Now we can look at a later run where the additional review is visible in the reports.</a:t>
            </a:r>
          </a:p>
          <a:p xmlns:a="http://schemas.openxmlformats.org/drawingml/2006/main">
            <a:r>
              <a:t/>
            </a:r>
          </a:p>
          <a:p xmlns:a="http://schemas.openxmlformats.org/drawingml/2006/main">
            <a:r>
              <a:t>SOURCES</a:t>
            </a:r>
          </a:p>
          <a:p xmlns:a="http://schemas.openxmlformats.org/drawingml/2006/main">
            <a:r>
              <a:t>https://github.com/TeleginS/TrafficRulesApp/pull/143</a:t>
            </a:r>
          </a:p>
          <a:p xmlns:a="http://schemas.openxmlformats.org/drawingml/2006/main">
            <a:r>
              <a:t>https://github.com/TeleginS/TrafficRulesApp/issues/144</a:t>
            </a:r>
          </a:p>
          <a:p xmlns:a="http://schemas.openxmlformats.org/drawingml/2006/main">
            <a:r>
              <a:t>https://github.com/TeleginS/TrafficRulesApp/commit/47fe4917052c82e7181e9de5321511ed8194c11c</a:t>
            </a:r>
          </a:p>
          <a:p xmlns:a="http://schemas.openxmlformats.org/drawingml/2006/main">
            <a:r>
              <a:t>/Users/sergei/Developer/agent-orchestration/README.md</a:t>
            </a:r>
          </a:p>
          <a:p xmlns:a="http://schemas.openxmlformats.org/drawingml/2006/main">
            <a:r>
              <a:t>/Users/sergei/Developer/agent-orchestration/PIPELINE.md</a:t>
            </a:r>
          </a:p>
          <a:p xmlns:a="http://schemas.openxmlformats.org/drawingml/2006/main">
            <a:r>
              <a:t>/Users/sergei/Developer/agent-orchestration/PIPELINE-GRAPH.md</a:t>
            </a:r>
          </a:p>
          <a:p xmlns:a="http://schemas.openxmlformats.org/drawingml/2006/main">
            <a:r>
              <a:t>/Users/sergei/Developer/agent-orchestration/skills/README.md</a:t>
            </a:r>
          </a:p>
          <a:p xmlns:a="http://schemas.openxmlformats.org/drawingml/2006/main">
            <a:r>
              <a:t>/Users/sergei/Developer/agent-orchestration/adapters/README.md</a:t>
            </a:r>
          </a:p>
          <a:p xmlns:a="http://schemas.openxmlformats.org/drawingml/2006/main">
            <a:r>
              <a:t>/Users/sergei/Developer/agent-orchestration/adapters/codex/README.md</a:t>
            </a:r>
          </a:p>
          <a:p xmlns:a="http://schemas.openxmlformats.org/drawingml/2006/main">
            <a:r>
              <a:t>/Users/sergei/Developer/agent-orchestration/memory/RULES.md</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 new tests. One delivery route.</a:t>
            </a:r>
          </a:p>
          <a:p xmlns:a="http://schemas.openxmlformats.org/drawingml/2006/main">
            <a:r>
              <a:t>5:00–6:30</a:t>
            </a:r>
          </a:p>
          <a:p xmlns:a="http://schemas.openxmlformats.org/drawingml/2006/main">
            <a:r>
              <a:t/>
            </a:r>
          </a:p>
          <a:p xmlns:a="http://schemas.openxmlformats.org/drawingml/2006/main">
            <a:r>
              <a:t>The task in PR 198 was to add unit tests for ProgressStore and for recording progress when a test session ends. That included the protection against counting time twice after completion, connecting this work to the earlier bug.</a:t>
            </a:r>
          </a:p>
          <a:p xmlns:a="http://schemas.openxmlformats.org/drawingml/2006/main">
            <a:r>
              <a:t/>
            </a:r>
          </a:p>
          <a:p xmlns:a="http://schemas.openxmlformats.org/drawingml/2006/main">
            <a:r>
              <a:t>The final change contained 32 new tests. The suite grew from 125 to 157. It also added a project profile, with commands and project-specific constraints. Application code did not need to change.</a:t>
            </a:r>
          </a:p>
          <a:p xmlns:a="http://schemas.openxmlformats.org/drawingml/2006/main">
            <a:r>
              <a:t/>
            </a:r>
          </a:p>
          <a:p xmlns:a="http://schemas.openxmlformats.org/drawingml/2006/main">
            <a:r>
              <a:t>We are looking at saved reports and screenshots from that run, not a new test session performed for this presentation. The map is our guide to the intended route; the reports show the visits we can actually trace.</a:t>
            </a:r>
          </a:p>
          <a:p xmlns:a="http://schemas.openxmlformats.org/drawingml/2006/main">
            <a:r>
              <a:t/>
            </a:r>
          </a:p>
          <a:p xmlns:a="http://schemas.openxmlformats.org/drawingml/2006/main">
            <a:r>
              <a:t>Keep the task’s goal in mind: useful tests of existing behavior. Success required more than increasing the test count. A test needed to fail when the behavior it claimed to protect was broken. That is where both review and QA had work to do.</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https://github.com/TeleginS/agent-orchestration/blob/693c5cd291e35d773c9f68f99888ca420dbbf30a/examples/run-progress-store-tests/README.md#measured-subagent-tokens</a:t>
            </a:r>
          </a:p>
          <a:p xmlns:a="http://schemas.openxmlformats.org/drawingml/2006/main">
            <a:r>
              <a:t>https://github.com/TeleginS/TrafficRulesApp/commit/9a26da875489315c3164ebeb14e1b8af7c57b177</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improved the patch</a:t>
            </a:r>
          </a:p>
          <a:p xmlns:a="http://schemas.openxmlformats.org/drawingml/2006/main">
            <a:r>
              <a:t>6:30–7:30</a:t>
            </a:r>
          </a:p>
          <a:p xmlns:a="http://schemas.openxmlformats.org/drawingml/2006/main">
            <a:r>
              <a:t/>
            </a:r>
          </a:p>
          <a:p xmlns:a="http://schemas.openxmlformats.org/drawingml/2006/main">
            <a:r>
              <a:t>The first review gave conditional approval with quality findings. It did not report critical blockers. Two findings were worth a short follow-up: a missing integration check for an important progress rule, and a check connecting the expected theme count to the bundled data.</a:t>
            </a:r>
          </a:p>
          <a:p xmlns:a="http://schemas.openxmlformats.org/drawingml/2006/main">
            <a:r>
              <a:t/>
            </a:r>
          </a:p>
          <a:p xmlns:a="http://schemas.openxmlformats.org/drawingml/2006/main">
            <a:r>
              <a:t>The developer addressed them. The second review approved the patch after examining those changes and running the suite.</a:t>
            </a:r>
          </a:p>
          <a:p xmlns:a="http://schemas.openxmlformats.org/drawingml/2006/main">
            <a:r>
              <a:t/>
            </a:r>
          </a:p>
          <a:p xmlns:a="http://schemas.openxmlformats.org/drawingml/2006/main">
            <a:r>
              <a:t>That was useful work. The point of the next finding is not that review did nothing. It improved the patch, and QA then found a different weakness.</a:t>
            </a:r>
          </a:p>
          <a:p xmlns:a="http://schemas.openxmlformats.org/drawingml/2006/main">
            <a:r>
              <a:t/>
            </a:r>
          </a:p>
          <a:p xmlns:a="http://schemas.openxmlformats.org/drawingml/2006/main">
            <a:r>
              <a:t>On our map, we have visited the same reviewer twice. Each visit concerns a different state of the code. The second approval is what takes this task into QA.</a:t>
            </a:r>
          </a:p>
          <a:p xmlns:a="http://schemas.openxmlformats.org/drawingml/2006/main">
            <a:r>
              <a:t/>
            </a:r>
          </a:p>
          <a:p xmlns:a="http://schemas.openxmlformats.org/drawingml/2006/main">
            <a:r>
              <a:t>SOURCES</a:t>
            </a:r>
          </a:p>
          <a:p xmlns:a="http://schemas.openxmlformats.org/drawingml/2006/main">
            <a:r>
              <a:t>https://github.com/TeleginS/TrafficRulesApp/pull/198#issuecomment-5500796064</a:t>
            </a:r>
          </a:p>
          <a:p xmlns:a="http://schemas.openxmlformats.org/drawingml/2006/main">
            <a:r>
              <a:t>https://github.com/TeleginS/TrafficRulesApp/pull/198#issuecomment-5500799535</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tests. Weak evidence.</a:t>
            </a:r>
          </a:p>
          <a:p xmlns:a="http://schemas.openxmlformats.org/drawingml/2006/main">
            <a:r>
              <a:t>7:30–9:00</a:t>
            </a:r>
          </a:p>
          <a:p xmlns:a="http://schemas.openxmlformats.org/drawingml/2006/main">
            <a:r>
              <a:t/>
            </a:r>
          </a:p>
          <a:p xmlns:a="http://schemas.openxmlformats.org/drawingml/2006/main">
            <a:r>
              <a:t>The QA report records successful runs on two simulator destinations, including a full run with parallel testing disabled. It also says BLOCKED, with three in-scope findings.</a:t>
            </a:r>
          </a:p>
          <a:p xmlns:a="http://schemas.openxmlformats.org/drawingml/2006/main">
            <a:r>
              <a:t/>
            </a:r>
          </a:p>
          <a:p xmlns:a="http://schemas.openxmlformats.org/drawingml/2006/main">
            <a:r>
              <a:t>Two findings belong together. Five tests asserted that accumulated session time was greater than zero. The tests also used shared storage and manually cleared a list of keys.</a:t>
            </a:r>
          </a:p>
          <a:p xmlns:a="http://schemas.openxmlformats.org/drawingml/2006/main">
            <a:r>
              <a:t/>
            </a:r>
          </a:p>
          <a:p xmlns:a="http://schemas.openxmlformats.org/drawingml/2006/main">
            <a:r>
              <a:t>The task required each terminal action to contribute time. A positive total did not necessarily show that this particular action had contributed anything. Old values could make the assertion pass.</a:t>
            </a:r>
          </a:p>
          <a:p xmlns:a="http://schemas.openxmlformats.org/drawingml/2006/main">
            <a:r>
              <a:t/>
            </a:r>
          </a:p>
          <a:p xmlns:a="http://schemas.openxmlformats.org/drawingml/2006/main">
            <a:r>
              <a:t>The third finding concerned distinguishing two exit branches. We’ll leave its details for questions.</a:t>
            </a:r>
          </a:p>
          <a:p xmlns:a="http://schemas.openxmlformats.org/drawingml/2006/main">
            <a:r>
              <a:t/>
            </a:r>
          </a:p>
          <a:p xmlns:a="http://schemas.openxmlformats.org/drawingml/2006/main">
            <a:r>
              <a:t>This does not make all 157 tests useless. QA specifically identified the affected checks and acknowledged checks that were sound. The useful distinction is between a test executing successfully and the test establishing the behavior its name and acceptance criterion promise. Let’s make that distinction concrete.</a:t>
            </a:r>
          </a:p>
          <a:p xmlns:a="http://schemas.openxmlformats.org/drawingml/2006/main">
            <a:r>
              <a:t/>
            </a:r>
          </a:p>
          <a:p xmlns:a="http://schemas.openxmlformats.org/drawingml/2006/main">
            <a:r>
              <a:t>SOURCES</a:t>
            </a:r>
          </a:p>
          <a:p xmlns:a="http://schemas.openxmlformats.org/drawingml/2006/main">
            <a:r>
              <a:t>https://github.com/TeleginS/TrafficRulesApp/pull/198#issuecomment-5500803440</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https://github.com/TeleginS/TrafficRulesApp/issues/201</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Prove the change, isolate the state</a:t>
            </a:r>
          </a:p>
          <a:p xmlns:a="http://schemas.openxmlformats.org/drawingml/2006/main">
            <a:r>
              <a:t>9:00–11:00</a:t>
            </a:r>
          </a:p>
          <a:p xmlns:a="http://schemas.openxmlformats.org/drawingml/2006/main">
            <a:r>
              <a:t/>
            </a:r>
          </a:p>
          <a:p xmlns:a="http://schemas.openxmlformats.org/drawingml/2006/main">
            <a:r>
              <a:t>Imagine the store contains 500 seconds before the call. The call adds nothing. Afterward, the store still contains 500 seconds.</a:t>
            </a:r>
          </a:p>
          <a:p xmlns:a="http://schemas.openxmlformats.org/drawingml/2006/main">
            <a:r>
              <a:t/>
            </a:r>
          </a:p>
          <a:p xmlns:a="http://schemas.openxmlformats.org/drawingml/2006/main">
            <a:r>
              <a:t>“Is the total greater than zero?” passes. “Did the total increase after this call?” fails. Pause on those two questions: they establish different things. Five hundred is an illustrative value, not a measurement from this QA run.</a:t>
            </a:r>
          </a:p>
          <a:p xmlns:a="http://schemas.openxmlformats.org/drawingml/2006/main">
            <a:r>
              <a:t/>
            </a:r>
          </a:p>
          <a:p xmlns:a="http://schemas.openxmlformats.org/drawingml/2006/main">
            <a:r>
              <a:t>Why could there be an old value? These tests used UserDefaults.standard, shared application storage. They cleared a known list of keys, but that did not give each test control over every possible source of starting state. The saved findings describe contamination encountered during implementation.</a:t>
            </a:r>
          </a:p>
          <a:p xmlns:a="http://schemas.openxmlformats.org/drawingml/2006/main">
            <a:r>
              <a:t/>
            </a:r>
          </a:p>
          <a:p xmlns:a="http://schemas.openxmlformats.org/drawingml/2006/main">
            <a:r>
              <a:t>The repair had two parts. Each test received its own temporary storage suite through injection points already present in the application. The assertions captured the value just before the terminal call and checked for an increase afterward.</a:t>
            </a:r>
          </a:p>
          <a:p xmlns:a="http://schemas.openxmlformats.org/drawingml/2006/main">
            <a:r>
              <a:t/>
            </a:r>
          </a:p>
          <a:p xmlns:a="http://schemas.openxmlformats.org/drawingml/2006/main">
            <a:r>
              <a:t>Isolation controls the starting state. The comparison expresses the contribution of the action under test. Both matter to the explanation; we should examine the fixture and the assertion together.</a:t>
            </a:r>
          </a:p>
          <a:p xmlns:a="http://schemas.openxmlformats.org/drawingml/2006/main">
            <a:r>
              <a:t/>
            </a:r>
          </a:p>
          <a:p xmlns:a="http://schemas.openxmlformats.org/drawingml/2006/main">
            <a:r>
              <a:t>There is a qualification: in the repaired isolated fixture, the starting value is zero. The two comparisons are numerically equivalent there. We should not credit the whole improvement to the new assertion alone.</a:t>
            </a:r>
          </a:p>
          <a:p xmlns:a="http://schemas.openxmlformats.org/drawingml/2006/main">
            <a:r>
              <a:t/>
            </a:r>
          </a:p>
          <a:p xmlns:a="http://schemas.openxmlformats.org/drawingml/2006/main">
            <a:r>
              <a:t>The developer made these changes in the test files without changing production code. But the work is not finished when the developer reports the fix. We have changed the patch, so we need fresh review evidence before another QA verdict.</a:t>
            </a:r>
          </a:p>
          <a:p xmlns:a="http://schemas.openxmlformats.org/drawingml/2006/main">
            <a:r>
              <a:t/>
            </a:r>
          </a:p>
          <a:p xmlns:a="http://schemas.openxmlformats.org/drawingml/2006/main">
            <a:r>
              <a:t>SOURCES</a:t>
            </a:r>
          </a:p>
          <a:p xmlns:a="http://schemas.openxmlformats.org/drawingml/2006/main">
            <a:r>
              <a:t>https://github.com/TeleginS/TrafficRulesApp/pull/198#issuecomment-5500803440</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https://github.com/TeleginS/TrafficRulesApp/issues/201</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Fix → review → QA</a:t>
            </a:r>
          </a:p>
          <a:p xmlns:a="http://schemas.openxmlformats.org/drawingml/2006/main">
            <a:r>
              <a:t>11:00–12:30</a:t>
            </a:r>
          </a:p>
          <a:p xmlns:a="http://schemas.openxmlformats.org/drawingml/2006/main">
            <a:r>
              <a:t/>
            </a:r>
          </a:p>
          <a:p xmlns:a="http://schemas.openxmlformats.org/drawingml/2006/main">
            <a:r>
              <a:t>The developer pushed the fixes to the same pull request. Review iteration three explicitly invoked rule eleven and checked the QA fixes before the work returned to QA.</a:t>
            </a:r>
          </a:p>
          <a:p xmlns:a="http://schemas.openxmlformats.org/drawingml/2006/main">
            <a:r>
              <a:t/>
            </a:r>
          </a:p>
          <a:p xmlns:a="http://schemas.openxmlformats.org/drawingml/2006/main">
            <a:r>
              <a:t>The reviewer approved and explicitly made the qualification we just discussed: in the isolated fixture, “before” is zero. The explanation must account for both changes. The delta form expresses the requirement; isolation removes the shared-state problem.</a:t>
            </a:r>
          </a:p>
          <a:p xmlns:a="http://schemas.openxmlformats.org/drawingml/2006/main">
            <a:r>
              <a:t/>
            </a:r>
          </a:p>
          <a:p xmlns:a="http://schemas.openxmlformats.org/drawingml/2006/main">
            <a:r>
              <a:t>That is useful scrutiny of both the patch and the explanation of what it proves.</a:t>
            </a:r>
          </a:p>
          <a:p xmlns:a="http://schemas.openxmlformats.org/drawingml/2006/main">
            <a:r>
              <a:t/>
            </a:r>
          </a:p>
          <a:p xmlns:a="http://schemas.openxmlformats.org/drawingml/2006/main">
            <a:r>
              <a:t>QA then returned GREEN. Its report records four full runs with 157 passing tests each, including a deliberately polluted shared store to test the isolation.</a:t>
            </a:r>
          </a:p>
          <a:p xmlns:a="http://schemas.openxmlformats.org/drawingml/2006/main">
            <a:r>
              <a:t/>
            </a:r>
          </a:p>
          <a:p xmlns:a="http://schemas.openxmlformats.org/drawingml/2006/main">
            <a:r>
              <a:t>At the September 6 screenshot capture, the PR was still open. We have a recorded approval and green QA, not evidence of a merge. Completion work still follows on the map. Now let’s attach costs to the visits we just saw.</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observed cost</a:t>
            </a:r>
          </a:p>
          <a:p xmlns:a="http://schemas.openxmlformats.org/drawingml/2006/main">
            <a:r>
              <a:t>12:30–14:00</a:t>
            </a:r>
          </a:p>
          <a:p xmlns:a="http://schemas.openxmlformats.org/drawingml/2006/main">
            <a:r>
              <a:t/>
            </a:r>
          </a:p>
          <a:p xmlns:a="http://schemas.openxmlformats.org/drawingml/2006/main">
            <a:r>
              <a:t>The saved report gives us nine subagent launches and 1,097,667 subagent tokens. The recorded stage wall times add up to about one hour and thirty-one minutes. That is the sum of those stage durations, not a separate measurement of my total time on the task.</a:t>
            </a:r>
          </a:p>
          <a:p xmlns:a="http://schemas.openxmlformats.org/drawingml/2006/main">
            <a:r>
              <a:t/>
            </a:r>
          </a:p>
          <a:p xmlns:a="http://schemas.openxmlformats.org/drawingml/2006/main">
            <a:r>
              <a:t>The visits explain the count: one planner, three developer passes, three reviews and two QA passes. Review used slightly more tokens than implementation in this run.</a:t>
            </a:r>
          </a:p>
          <a:p xmlns:a="http://schemas.openxmlformats.org/drawingml/2006/main">
            <a:r>
              <a:t/>
            </a:r>
          </a:p>
          <a:p xmlns:a="http://schemas.openxmlformats.org/drawingml/2006/main">
            <a:r>
              <a:t>Orchestrator tokens were mixed into the main conversation and estimated separately, so they are excluded here. I’m also keeping estimated dollar costs off this slide.</a:t>
            </a:r>
          </a:p>
          <a:p xmlns:a="http://schemas.openxmlformats.org/drawingml/2006/main">
            <a:r>
              <a:t/>
            </a:r>
          </a:p>
          <a:p xmlns:a="http://schemas.openxmlformats.org/drawingml/2006/main">
            <a:r>
              <a:t>For 32 new tests, these are substantial coordination costs. We saw useful findings, but there was no matched single-agent run. This example does not establish a general quality or cost advantage.</a:t>
            </a:r>
          </a:p>
          <a:p xmlns:a="http://schemas.openxmlformats.org/drawingml/2006/main">
            <a:r>
              <a:t/>
            </a:r>
          </a:p>
          <a:p xmlns:a="http://schemas.openxmlformats.org/drawingml/2006/main">
            <a:r>
              <a:t>What I would measure next is confirmed findings, missed defects and human intervention time, alongside tokens and duration. That would help decide which checks are worth retaining for this kind of task.</a:t>
            </a:r>
          </a:p>
          <a:p xmlns:a="http://schemas.openxmlformats.org/drawingml/2006/main">
            <a:r>
              <a:t/>
            </a:r>
          </a:p>
          <a:p xmlns:a="http://schemas.openxmlformats.org/drawingml/2006/main">
            <a:r>
              <a:t>SOURCES</a:t>
            </a:r>
          </a:p>
          <a:p xmlns:a="http://schemas.openxmlformats.org/drawingml/2006/main">
            <a:r>
              <a:t>https://github.com/TeleginS/agent-orchestration/blob/693c5cd291e35d773c9f68f99888ca420dbbf30a/examples/run-progress-store-tests/README.md#measured-subagent-tokens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the repository works today</a:t>
            </a:r>
          </a:p>
          <a:p xmlns:a="http://schemas.openxmlformats.org/drawingml/2006/main">
            <a:r>
              <a:t>14:00–15:00</a:t>
            </a:r>
          </a:p>
          <a:p xmlns:a="http://schemas.openxmlformats.org/drawingml/2006/main">
            <a:r>
              <a:t/>
            </a:r>
          </a:p>
          <a:p xmlns:a="http://schemas.openxmlformats.org/drawingml/2006/main">
            <a:r>
              <a:t>The repository has since changed its packaging. The reusable procedures now live in canonical skills. The orchestrator stays in the main conversation, where it can clarify requirements, and delegates the stages to separate agents.</a:t>
            </a:r>
          </a:p>
          <a:p xmlns:a="http://schemas.openxmlformats.org/drawingml/2006/main">
            <a:r>
              <a:t/>
            </a:r>
          </a:p>
          <a:p xmlns:a="http://schemas.openxmlformats.org/drawingml/2006/main">
            <a:r>
              <a:t>Thin host adapters provide launch behavior and model configuration. Model and reasoning choices can be configured per role where the host supports them; otherwise its defaults apply. A skill contains instructions. Loading it alone does not create an independent agent.</a:t>
            </a:r>
          </a:p>
          <a:p xmlns:a="http://schemas.openxmlformats.org/drawingml/2006/main">
            <a:r>
              <a:t/>
            </a:r>
          </a:p>
          <a:p xmlns:a="http://schemas.openxmlformats.org/drawingml/2006/main">
            <a:r>
              <a:t>The project profile supplies commands and constraints. Each role explicitly reads relevant shared project memory under common rules.</a:t>
            </a:r>
          </a:p>
          <a:p xmlns:a="http://schemas.openxmlformats.org/drawingml/2006/main">
            <a:r>
              <a:t/>
            </a:r>
          </a:p>
          <a:p xmlns:a="http://schemas.openxmlformats.org/drawingml/2006/main">
            <a:r>
              <a:t>These changes make the responsibilities of the files clearer. The historical run we just examined predates this packaging. I am not claiming measured improvements in cost or quality from the migration.</a:t>
            </a:r>
          </a:p>
          <a:p xmlns:a="http://schemas.openxmlformats.org/drawingml/2006/main">
            <a:r>
              <a:t/>
            </a:r>
          </a:p>
          <a:p xmlns:a="http://schemas.openxmlformats.org/drawingml/2006/main">
            <a:r>
              <a:t>SOURCES</a:t>
            </a:r>
          </a:p>
          <a:p xmlns:a="http://schemas.openxmlformats.org/drawingml/2006/main">
            <a:r>
              <a:t>/Users/sergei/Developer/agent-orchestration/README.md</a:t>
            </a:r>
          </a:p>
          <a:p xmlns:a="http://schemas.openxmlformats.org/drawingml/2006/main">
            <a:r>
              <a:t>/Users/sergei/Developer/agent-orchestration/PIPELINE.md</a:t>
            </a:r>
          </a:p>
          <a:p xmlns:a="http://schemas.openxmlformats.org/drawingml/2006/main">
            <a:r>
              <a:t>/Users/sergei/Developer/agent-orchestration/PIPELINE-GRAPH.md</a:t>
            </a:r>
          </a:p>
          <a:p xmlns:a="http://schemas.openxmlformats.org/drawingml/2006/main">
            <a:r>
              <a:t>/Users/sergei/Developer/agent-orchestration/skills/README.md</a:t>
            </a:r>
          </a:p>
          <a:p xmlns:a="http://schemas.openxmlformats.org/drawingml/2006/main">
            <a:r>
              <a:t>/Users/sergei/Developer/agent-orchestration/adapters/README.md</a:t>
            </a:r>
          </a:p>
          <a:p xmlns:a="http://schemas.openxmlformats.org/drawingml/2006/main">
            <a:r>
              <a:t>/Users/sergei/Developer/agent-orchestration/adapters/codex/README.md</a:t>
            </a:r>
          </a:p>
          <a:p xmlns:a="http://schemas.openxmlformats.org/drawingml/2006/main">
            <a:r>
              <a:t>/Users/sergei/Developer/agent-orchestration/memory/RULES.md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what each stage hands over</a:t>
            </a:r>
          </a:p>
          <a:p xmlns:a="http://schemas.openxmlformats.org/drawingml/2006/main">
            <a:r>
              <a:t>15:00–17:00</a:t>
            </a:r>
          </a:p>
          <a:p xmlns:a="http://schemas.openxmlformats.org/drawingml/2006/main">
            <a:r>
              <a:t/>
            </a:r>
          </a:p>
          <a:p xmlns:a="http://schemas.openxmlformats.org/drawingml/2006/main">
            <a:r>
              <a:t>Here is the part you can apply without copying my entire workflow: define what each stage hands over.</a:t>
            </a:r>
          </a:p>
          <a:p xmlns:a="http://schemas.openxmlformats.org/drawingml/2006/main">
            <a:r>
              <a:t/>
            </a:r>
          </a:p>
          <a:p xmlns:a="http://schemas.openxmlformats.org/drawingml/2006/main">
            <a:r>
              <a:t>For the planner, I want criteria someone can actually check, dependencies and linked work items with a clear scope. The developer needs those criteria, project context and execution constraints. It returns a pull request and diff, the version it changed, and what it built or tested.</a:t>
            </a:r>
          </a:p>
          <a:p xmlns:a="http://schemas.openxmlformats.org/drawingml/2006/main">
            <a:r>
              <a:t/>
            </a:r>
          </a:p>
          <a:p xmlns:a="http://schemas.openxmlformats.org/drawingml/2006/main">
            <a:r>
              <a:t>The reviewer needs the actual diff and requirements, not only the developer’s summary. Its report should identify the reviewed version, prioritized findings or explicit approval. After a fix, the next reviewer also needs the previous findings so it can establish what changed.</a:t>
            </a:r>
          </a:p>
          <a:p xmlns:a="http://schemas.openxmlformats.org/drawingml/2006/main">
            <a:r>
              <a:t/>
            </a:r>
          </a:p>
          <a:p xmlns:a="http://schemas.openxmlformats.org/drawingml/2006/main">
            <a:r>
              <a:t>QA needs the same requirements and current change. It returns evidence for acceptance criteria, test results, classified bugs and an explicit GREEN or BLOCKED verdict. Calling a bug pre-existing needs evidence from the base version; uncertainty is not a reason to mark the work green.</a:t>
            </a:r>
          </a:p>
          <a:p xmlns:a="http://schemas.openxmlformats.org/drawingml/2006/main">
            <a:r>
              <a:t/>
            </a:r>
          </a:p>
          <a:p xmlns:a="http://schemas.openxmlformats.org/drawingml/2006/main">
            <a:r>
              <a:t>The orchestrator carries these results onward while preserving the task’s constraints. That includes the branch, ownership, mode and any limits on writes. In a dry run, local plans, diffs and findings replace tracker and PR artifacts.</a:t>
            </a:r>
          </a:p>
          <a:p xmlns:a="http://schemas.openxmlformats.org/drawingml/2006/main">
            <a:r>
              <a:t/>
            </a:r>
          </a:p>
          <a:p xmlns:a="http://schemas.openxmlformats.org/drawingml/2006/main">
            <a:r>
              <a:t>Today this is largely an instruction contract. A future controller could check that required artifacts exist and refer to the current version. It could reject stale approval. It would still not prove that the review itself was correct.</a:t>
            </a:r>
          </a:p>
          <a:p xmlns:a="http://schemas.openxmlformats.org/drawingml/2006/main">
            <a:r>
              <a:t/>
            </a:r>
          </a:p>
          <a:p xmlns:a="http://schemas.openxmlformats.org/drawingml/2006/main">
            <a:r>
              <a:t>SOURCES</a:t>
            </a:r>
          </a:p>
          <a:p xmlns:a="http://schemas.openxmlformats.org/drawingml/2006/main">
            <a:r>
              <a:t>/Users/sergei/Developer/agent-orchestration/README.md</a:t>
            </a:r>
          </a:p>
          <a:p xmlns:a="http://schemas.openxmlformats.org/drawingml/2006/main">
            <a:r>
              <a:t>/Users/sergei/Developer/agent-orchestration/PIPELINE.md</a:t>
            </a:r>
          </a:p>
          <a:p xmlns:a="http://schemas.openxmlformats.org/drawingml/2006/main">
            <a:r>
              <a:t>/Users/sergei/Developer/agent-orchestration/PIPELINE-GRAPH.md</a:t>
            </a:r>
          </a:p>
          <a:p xmlns:a="http://schemas.openxmlformats.org/drawingml/2006/main">
            <a:r>
              <a:t>/Users/sergei/Developer/agent-orchestration/skills/README.md</a:t>
            </a:r>
          </a:p>
          <a:p xmlns:a="http://schemas.openxmlformats.org/drawingml/2006/main">
            <a:r>
              <a:t>/Users/sergei/Developer/agent-orchestration/adapters/README.md</a:t>
            </a:r>
          </a:p>
          <a:p xmlns:a="http://schemas.openxmlformats.org/drawingml/2006/main">
            <a:r>
              <a:t>/Users/sergei/Developer/agent-orchestration/adapters/codex/README.md</a:t>
            </a:r>
          </a:p>
          <a:p xmlns:a="http://schemas.openxmlformats.org/drawingml/2006/main">
            <a:r>
              <a:t>/Users/sergei/Developer/agent-orchestration/memory/RULES.md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things to take back</a:t>
            </a:r>
          </a:p>
          <a:p xmlns:a="http://schemas.openxmlformats.org/drawingml/2006/main">
            <a:r>
              <a:t>17:00–18:00</a:t>
            </a:r>
          </a:p>
          <a:p xmlns:a="http://schemas.openxmlformats.org/drawingml/2006/main">
            <a:r>
              <a:t/>
            </a:r>
          </a:p>
          <a:p xmlns:a="http://schemas.openxmlformats.org/drawingml/2006/main">
            <a:r>
              <a:t>Three things to take back.</a:t>
            </a:r>
          </a:p>
          <a:p xmlns:a="http://schemas.openxmlformats.org/drawingml/2006/main">
            <a:r>
              <a:t/>
            </a:r>
          </a:p>
          <a:p xmlns:a="http://schemas.openxmlformats.org/drawingml/2006/main">
            <a:r>
              <a:t>First, define the output of each stage. Say what it must deliver and what permits the next stage to begin.</a:t>
            </a:r>
          </a:p>
          <a:p xmlns:a="http://schemas.openxmlformats.org/drawingml/2006/main">
            <a:r>
              <a:t/>
            </a:r>
          </a:p>
          <a:p xmlns:a="http://schemas.openxmlformats.org/drawingml/2006/main">
            <a:r>
              <a:t>Second, pass artifacts that others can verify: requirements, the actual diff, findings and test results. Give the next role something it can inspect.</a:t>
            </a:r>
          </a:p>
          <a:p xmlns:a="http://schemas.openxmlformats.org/drawingml/2006/main">
            <a:r>
              <a:t/>
            </a:r>
          </a:p>
          <a:p xmlns:a="http://schemas.openxmlformats.org/drawingml/2006/main">
            <a:r>
              <a:t>Third, repeat verification after code changes. A fix needs evidence for the new version, including review before fresh QA.</a:t>
            </a:r>
          </a:p>
          <a:p xmlns:a="http://schemas.openxmlformats.org/drawingml/2006/main">
            <a:r>
              <a:t/>
            </a:r>
          </a:p>
          <a:p xmlns:a="http://schemas.openxmlformats.org/drawingml/2006/main">
            <a:r>
              <a:t>Start with one type of task and inspect the handoffs in real runs. The repository includes the skills, profiles, workflow and saved examples we discussed. Thank you. I’m happy to take questions after the talk.</a:t>
            </a:r>
          </a:p>
          <a:p xmlns:a="http://schemas.openxmlformats.org/drawingml/2006/main">
            <a:r>
              <a:t/>
            </a:r>
          </a:p>
          <a:p xmlns:a="http://schemas.openxmlformats.org/drawingml/2006/main">
            <a:r>
              <a:t>SOURCES</a:t>
            </a:r>
          </a:p>
          <a:p xmlns:a="http://schemas.openxmlformats.org/drawingml/2006/main">
            <a:r>
              <a:t>/Users/sergei/Developer/agent-orchestration/README.md</a:t>
            </a:r>
          </a:p>
          <a:p xmlns:a="http://schemas.openxmlformats.org/drawingml/2006/main">
            <a:r>
              <a:t>/Users/sergei/Developer/agent-orchestration/PIPELINE.md</a:t>
            </a:r>
          </a:p>
          <a:p xmlns:a="http://schemas.openxmlformats.org/drawingml/2006/main">
            <a:r>
              <a:t>/Users/sergei/Developer/agent-orchestration/PIPELINE-GRAPH.md</a:t>
            </a:r>
          </a:p>
          <a:p xmlns:a="http://schemas.openxmlformats.org/drawingml/2006/main">
            <a:r>
              <a:t>/Users/sergei/Developer/agent-orchestration/skills/README.md</a:t>
            </a:r>
          </a:p>
          <a:p xmlns:a="http://schemas.openxmlformats.org/drawingml/2006/main">
            <a:r>
              <a:t>/Users/sergei/Developer/agent-orchestration/adapters/README.md</a:t>
            </a:r>
          </a:p>
          <a:p xmlns:a="http://schemas.openxmlformats.org/drawingml/2006/main">
            <a:r>
              <a:t>/Users/sergei/Developer/agent-orchestration/adapters/codex/README.md</a:t>
            </a:r>
          </a:p>
          <a:p xmlns:a="http://schemas.openxmlformats.org/drawingml/2006/main">
            <a:r>
              <a:t>/Users/sergei/Developer/agent-orchestration/memory/RULES.md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workflow and transition conditions</a:t>
            </a:r>
          </a:p>
          <a:p xmlns:a="http://schemas.openxmlformats.org/drawingml/2006/main">
            <a:r>
              <a:t>Backup — questions only</a:t>
            </a:r>
          </a:p>
          <a:p xmlns:a="http://schemas.openxmlformats.org/drawingml/2006/main">
            <a:r>
              <a:t/>
            </a:r>
          </a:p>
          <a:p xmlns:a="http://schemas.openxmlformats.org/drawingml/2006/main">
            <a:r>
              <a:t>This is the complete documented workflow. The main conversation first resolves project context and any missing product decisions. Planning establishes the work, branch preparation protects unrelated changes, and the developer produces the patch.</a:t>
            </a:r>
          </a:p>
          <a:p xmlns:a="http://schemas.openxmlformats.org/drawingml/2006/main">
            <a:r>
              <a:t/>
            </a:r>
          </a:p>
          <a:p xmlns:a="http://schemas.openxmlformats.org/drawingml/2006/main">
            <a:r>
              <a:t>The review loop permits up to three completed verdicts, counting the initial review. The QA repair loop counts each developer fix and its review as an iteration, even if review blocks a return to QA. Moving between roles does not reset that counter.</a:t>
            </a:r>
          </a:p>
          <a:p xmlns:a="http://schemas.openxmlformats.org/drawingml/2006/main">
            <a:r>
              <a:t/>
            </a:r>
          </a:p>
          <a:p xmlns:a="http://schemas.openxmlformats.org/drawingml/2006/main">
            <a:r>
              <a:t>A verified pre-existing bug is recorded as separate work and does not block this change. Its classification needs comparable base-version evidence. An unconfirmed origin remains a blocker until classified.</a:t>
            </a:r>
          </a:p>
          <a:p xmlns:a="http://schemas.openxmlformats.org/drawingml/2006/main">
            <a:r>
              <a:t/>
            </a:r>
          </a:p>
          <a:p xmlns:a="http://schemas.openxmlformats.org/drawingml/2006/main">
            <a:r>
              <a:t>After green QA, artifact review, issue cleanup and any applicable settings work still happen. Unmerged work keeps its issue references and stays open. In dry-run mode, planning and findings stay local and the workflow writes neither to the tracker nor the remote.</a:t>
            </a:r>
          </a:p>
          <a:p xmlns:a="http://schemas.openxmlformats.org/drawingml/2006/main">
            <a:r>
              <a:t/>
            </a:r>
          </a:p>
          <a:p xmlns:a="http://schemas.openxmlformats.org/drawingml/2006/main">
            <a:r>
              <a:t>The diagram documents these transitions. It is not an executable controller and does not provide automatic recovery.</a:t>
            </a:r>
          </a:p>
          <a:p xmlns:a="http://schemas.openxmlformats.org/drawingml/2006/main">
            <a:r>
              <a:t/>
            </a:r>
          </a:p>
          <a:p xmlns:a="http://schemas.openxmlformats.org/drawingml/2006/main">
            <a:r>
              <a:t>SOURCES</a:t>
            </a:r>
          </a:p>
          <a:p xmlns:a="http://schemas.openxmlformats.org/drawingml/2006/main">
            <a:r>
              <a:t>/Users/sergei/Developer/agent-orchestration/README.md</a:t>
            </a:r>
          </a:p>
          <a:p xmlns:a="http://schemas.openxmlformats.org/drawingml/2006/main">
            <a:r>
              <a:t>/Users/sergei/Developer/agent-orchestration/PIPELINE.md</a:t>
            </a:r>
          </a:p>
          <a:p xmlns:a="http://schemas.openxmlformats.org/drawingml/2006/main">
            <a:r>
              <a:t>/Users/sergei/Developer/agent-orchestration/PIPELINE-GRAPH.md</a:t>
            </a:r>
          </a:p>
          <a:p xmlns:a="http://schemas.openxmlformats.org/drawingml/2006/main">
            <a:r>
              <a:t>/Users/sergei/Developer/agent-orchestration/skills/README.md</a:t>
            </a:r>
          </a:p>
          <a:p xmlns:a="http://schemas.openxmlformats.org/drawingml/2006/main">
            <a:r>
              <a:t>/Users/sergei/Developer/agent-orchestration/adapters/README.md</a:t>
            </a:r>
          </a:p>
          <a:p xmlns:a="http://schemas.openxmlformats.org/drawingml/2006/main">
            <a:r>
              <a:t>/Users/sergei/Developer/agent-orchestration/adapters/codex/README.md</a:t>
            </a:r>
          </a:p>
          <a:p xmlns:a="http://schemas.openxmlformats.org/drawingml/2006/main">
            <a:r>
              <a:t>/Users/sergei/Developer/agent-orchestration/memory/RULES.md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zero-baseline caveat</a:t>
            </a:r>
          </a:p>
          <a:p xmlns:a="http://schemas.openxmlformats.org/drawingml/2006/main">
            <a:r>
              <a:t>Backup — questions only</a:t>
            </a:r>
          </a:p>
          <a:p xmlns:a="http://schemas.openxmlformats.org/drawingml/2006/main">
            <a:r>
              <a:t/>
            </a:r>
          </a:p>
          <a:p xmlns:a="http://schemas.openxmlformats.org/drawingml/2006/main">
            <a:r>
              <a:t>The dirty-store example explains the original risk. If the store was already positive, an assertion on the absolute total could pass when the terminal action added nothing.</a:t>
            </a:r>
          </a:p>
          <a:p xmlns:a="http://schemas.openxmlformats.org/drawingml/2006/main">
            <a:r>
              <a:t/>
            </a:r>
          </a:p>
          <a:p xmlns:a="http://schemas.openxmlformats.org/drawingml/2006/main">
            <a:r>
              <a:t>The repair also changed the fixture. In the committed isolated tests, the initial value is zero. Therefore greater than zero and greater than the prior value are numerically equivalent in that fixture. The reviewer explicitly pointed this out.</a:t>
            </a:r>
          </a:p>
          <a:p xmlns:a="http://schemas.openxmlformats.org/drawingml/2006/main">
            <a:r>
              <a:t/>
            </a:r>
          </a:p>
          <a:p xmlns:a="http://schemas.openxmlformats.org/drawingml/2006/main">
            <a:r>
              <a:t>The delta form states the intended contribution and remains useful if a future fixture starts with seeded progress. Isolation removes dependence on shared old values. Both changes are reasonable, but the mutation demonstration with a dirty store should not be presented as the starting state of the repaired suite.</a:t>
            </a:r>
          </a:p>
          <a:p xmlns:a="http://schemas.openxmlformats.org/drawingml/2006/main">
            <a:r>
              <a:t/>
            </a:r>
          </a:p>
          <a:p xmlns:a="http://schemas.openxmlformats.org/drawingml/2006/main">
            <a:r>
              <a:t>The third finding added checks distinguishing the two exit branches. If you want the full discussion, the saved issues and the final review and QA reports contain the details.</a:t>
            </a:r>
          </a:p>
          <a:p xmlns:a="http://schemas.openxmlformats.org/drawingml/2006/main">
            <a:r>
              <a:t/>
            </a:r>
          </a:p>
          <a:p xmlns:a="http://schemas.openxmlformats.org/drawingml/2006/main">
            <a:r>
              <a:t>SOURCES</a:t>
            </a:r>
          </a:p>
          <a:p xmlns:a="http://schemas.openxmlformats.org/drawingml/2006/main">
            <a:r>
              <a:t>https://github.com/TeleginS/TrafficRulesApp/pull/198#issuecomment-5500803440</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https://github.com/TeleginS/TrafficRulesApp/issues/201</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Historical reports captured 6 September 2026; private originals may require access. Local snapshots: /Users/sergei/Developer/agent-orchestration/docs/talks/resources/trafficrulesapp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a583569a6649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4b9cedb2554da9" /><Relationship Type="http://schemas.openxmlformats.org/officeDocument/2006/relationships/slideLayout" Target="/ppt/slideLayouts/slideLayout1.xml" Id="R92a1f90f6d6144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a1f90f6d6144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5822594b024dd6" /><Relationship Type="http://schemas.openxmlformats.org/officeDocument/2006/relationships/hyperlink" Target="https://github.com/TeleginS/agent-orchestration" TargetMode="External" Id="R8ef7d0b5037a4cc4" /><Relationship Type="http://schemas.openxmlformats.org/officeDocument/2006/relationships/notesSlide" Target="/ppt/notesSlides/notesSlide1.xml" Id="Re76e5a2a84ce4f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ada5f0d0fc4d8d" /><Relationship Type="http://schemas.openxmlformats.org/officeDocument/2006/relationships/image" Target="/ppt/media/image.jpeg" Id="Rbbd9057b8f1d41da" /><Relationship Type="http://schemas.openxmlformats.org/officeDocument/2006/relationships/notesSlide" Target="/ppt/notesSlides/notesSlide2.xml" Id="Re5f5bc92824348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fb5d5697e74988" /><Relationship Type="http://schemas.openxmlformats.org/officeDocument/2006/relationships/notesSlide" Target="/ppt/notesSlides/notesSlide3.xml" Id="Rc7a91a783a8443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84973248bd445a" /><Relationship Type="http://schemas.openxmlformats.org/officeDocument/2006/relationships/notesSlide" Target="/ppt/notesSlides/notesSlide4.xml" Id="Rba037c37015a44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cd1b62f9d54049" /><Relationship Type="http://schemas.openxmlformats.org/officeDocument/2006/relationships/notesSlide" Target="/ppt/notesSlides/notesSlide5.xml" Id="R1a1d12193d744d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b897c8e3b824274" /><Relationship Type="http://schemas.openxmlformats.org/officeDocument/2006/relationships/notesSlide" Target="/ppt/notesSlides/notesSlide6.xml" Id="R062c679420f84b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d7438d935f4c4e" /><Relationship Type="http://schemas.openxmlformats.org/officeDocument/2006/relationships/image" Target="/ppt/media/image2.jpeg" Id="R79ca7b93dc674026" /><Relationship Type="http://schemas.openxmlformats.org/officeDocument/2006/relationships/image" Target="/ppt/media/image3.jpeg" Id="Re165df02cece45be" /><Relationship Type="http://schemas.openxmlformats.org/officeDocument/2006/relationships/notesSlide" Target="/ppt/notesSlides/notesSlide7.xml" Id="R92158f81212a4f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6f21052b76479f" /><Relationship Type="http://schemas.openxmlformats.org/officeDocument/2006/relationships/image" Target="/ppt/media/image4.jpeg" Id="Ra5c7ee27ef5a4147" /><Relationship Type="http://schemas.openxmlformats.org/officeDocument/2006/relationships/notesSlide" Target="/ppt/notesSlides/notesSlide8.xml" Id="R36c32f1baf4b42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a8b987a82fb41b5" /><Relationship Type="http://schemas.openxmlformats.org/officeDocument/2006/relationships/notesSlide" Target="/ppt/notesSlides/notesSlide9.xml" Id="R4358cf090e6240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df98b3373724ad8" /><Relationship Type="http://schemas.openxmlformats.org/officeDocument/2006/relationships/image" Target="/ppt/media/image5.jpeg" Id="R55658273a7d24bd4" /><Relationship Type="http://schemas.openxmlformats.org/officeDocument/2006/relationships/image" Target="/ppt/media/image6.jpeg" Id="Rd117c5c42a4a4860" /><Relationship Type="http://schemas.openxmlformats.org/officeDocument/2006/relationships/notesSlide" Target="/ppt/notesSlides/notesSlide10.xml" Id="R4035ca72ece748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1c07ba50f3247ae" /><Relationship Type="http://schemas.openxmlformats.org/officeDocument/2006/relationships/image" Target="/ppt/media/image7.jpeg" Id="R48311e731fc44556" /><Relationship Type="http://schemas.openxmlformats.org/officeDocument/2006/relationships/notesSlide" Target="/ppt/notesSlides/notesSlide11.xml" Id="Rdeaac118529a4d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1fe4748a054013" /><Relationship Type="http://schemas.openxmlformats.org/officeDocument/2006/relationships/notesSlide" Target="/ppt/notesSlides/notesSlide12.xml" Id="R9b30ff87f72847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c5be9d09a284e63" /><Relationship Type="http://schemas.openxmlformats.org/officeDocument/2006/relationships/notesSlide" Target="/ppt/notesSlides/notesSlide13.xml" Id="Ra623952adaed4fe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4fef0eae38b4e11" /><Relationship Type="http://schemas.openxmlformats.org/officeDocument/2006/relationships/hyperlink" Target="https://github.com/TeleginS/agent-orchestration" TargetMode="External" Id="Rde78c5e606ab440f" /><Relationship Type="http://schemas.openxmlformats.org/officeDocument/2006/relationships/notesSlide" Target="/ppt/notesSlides/notesSlide14.xml" Id="R04bfd65a3f6b43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43ae343bd34a96" /><Relationship Type="http://schemas.openxmlformats.org/officeDocument/2006/relationships/notesSlide" Target="/ppt/notesSlides/notesSlide15.xml" Id="R63a258bac8594c1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b9c82e3925345be" /><Relationship Type="http://schemas.openxmlformats.org/officeDocument/2006/relationships/image" Target="/ppt/media/image8.jpeg" Id="R6b52687c55174d96" /><Relationship Type="http://schemas.openxmlformats.org/officeDocument/2006/relationships/image" Target="/ppt/media/image9.jpeg" Id="R3c0ed86d88544529" /><Relationship Type="http://schemas.openxmlformats.org/officeDocument/2006/relationships/notesSlide" Target="/ppt/notesSlides/notesSlide16.xml" Id="R4a2dcf9d6e6e4b5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Agent Orchestration">
            <a:extLst xmlns:a="http://schemas.openxmlformats.org/drawingml/2006/main">
              <a:ext uri="{FF2B5EF4-FFF2-40B4-BE49-F238E27FC236}">
                <a16:creationId xmlns:a16="http://schemas.microsoft.com/office/drawing/2014/main" id="{0A9FB228-DD3E-483F-A836-555C49FFAD22}"/>
              </a:ext>
            </a:extLst>
          </p:cNvPr>
          <p:cNvSpPr>
            <a:spLocks xmlns:a="http://schemas.openxmlformats.org/drawingml/2006/main" noGrp="1"/>
          </p:cNvSpPr>
          <p:nvPr/>
        </p:nvSpPr>
        <p:spPr>
          <a:xfrm xmlns:a="http://schemas.openxmlformats.org/drawingml/2006/main">
            <a:off x="762000" y="207645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950" b="1">
                <a:solidFill>
                  <a:srgbClr val="172D38"/>
                </a:solidFill>
                <a:latin typeface="Arial"/>
                <a:ea typeface="Arial"/>
                <a:cs typeface="Arial"/>
              </a:defRPr>
            </a:pPr>
            <a:r>
              <a:rPr sz="4950" b="1">
                <a:solidFill>
                  <a:srgbClr val="172D38"/>
                </a:solidFill>
                <a:latin typeface="Arial"/>
                <a:ea typeface="Arial"/>
                <a:cs typeface="Arial"/>
              </a:rPr>
              <a:t>Agent Orchestration</a:t>
            </a:r>
          </a:p>
        </p:txBody>
      </p:sp>
      <p:sp>
        <p:nvSpPr>
          <p:cNvPr id="2" name="Checks, handoffs and shared skills">
            <a:extLst xmlns:a="http://schemas.openxmlformats.org/drawingml/2006/main">
              <a:ext uri="{FF2B5EF4-FFF2-40B4-BE49-F238E27FC236}">
                <a16:creationId xmlns:a16="http://schemas.microsoft.com/office/drawing/2014/main" id="{23570408-211D-45D0-88DD-7950326EDB16}"/>
              </a:ext>
            </a:extLst>
          </p:cNvPr>
          <p:cNvSpPr>
            <a:spLocks xmlns:a="http://schemas.openxmlformats.org/drawingml/2006/main" noGrp="1"/>
          </p:cNvSpPr>
          <p:nvPr/>
        </p:nvSpPr>
        <p:spPr>
          <a:xfrm xmlns:a="http://schemas.openxmlformats.org/drawingml/2006/main">
            <a:off x="800100" y="3086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566E7B"/>
                </a:solidFill>
                <a:latin typeface="Arial"/>
                <a:ea typeface="Arial"/>
                <a:cs typeface="Arial"/>
              </a:defRPr>
            </a:pPr>
            <a:r>
              <a:rPr sz="2400" b="0">
                <a:solidFill>
                  <a:srgbClr val="566E7B"/>
                </a:solidFill>
                <a:latin typeface="Arial"/>
                <a:ea typeface="Arial"/>
                <a:cs typeface="Arial"/>
              </a:rPr>
              <a:t>Checks, handoffs and shared skills</a:t>
            </a:r>
          </a:p>
        </p:txBody>
      </p:sp>
      <p:sp>
        <p:nvSpPr>
          <p:cNvPr id="3" name="Sergei Telegin">
            <a:extLst xmlns:a="http://schemas.openxmlformats.org/drawingml/2006/main">
              <a:ext uri="{FF2B5EF4-FFF2-40B4-BE49-F238E27FC236}">
                <a16:creationId xmlns:a16="http://schemas.microsoft.com/office/drawing/2014/main" id="{B2ABA674-A6F6-4711-A43E-6F298D024BD5}"/>
              </a:ext>
            </a:extLst>
          </p:cNvPr>
          <p:cNvSpPr>
            <a:spLocks xmlns:a="http://schemas.openxmlformats.org/drawingml/2006/main" noGrp="1"/>
          </p:cNvSpPr>
          <p:nvPr/>
        </p:nvSpPr>
        <p:spPr>
          <a:xfrm xmlns:a="http://schemas.openxmlformats.org/drawingml/2006/main">
            <a:off x="800100" y="39052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72D38"/>
                </a:solidFill>
                <a:latin typeface="Arial"/>
                <a:ea typeface="Arial"/>
                <a:cs typeface="Arial"/>
              </a:defRPr>
            </a:pPr>
            <a:r>
              <a:rPr sz="2850" b="0">
                <a:solidFill>
                  <a:srgbClr val="172D38"/>
                </a:solidFill>
                <a:latin typeface="Arial"/>
                <a:ea typeface="Arial"/>
                <a:cs typeface="Arial"/>
              </a:rPr>
              <a:t>Sergei Telegin</a:t>
            </a:r>
          </a:p>
        </p:txBody>
      </p:sp>
      <p:sp>
        <p:nvSpPr>
          <p:cNvPr id="4" name="github.com/TeleginS/agent-orchestration">
            <a:extLst xmlns:a="http://schemas.openxmlformats.org/drawingml/2006/main">
              <a:ext uri="{FF2B5EF4-FFF2-40B4-BE49-F238E27FC236}">
                <a16:creationId xmlns:a16="http://schemas.microsoft.com/office/drawing/2014/main" id="{6BCAAED0-2BE8-45A1-9934-3B3AE7BF4AF5}"/>
              </a:ext>
            </a:extLst>
          </p:cNvPr>
          <p:cNvSpPr>
            <a:spLocks xmlns:a="http://schemas.openxmlformats.org/drawingml/2006/main" noGrp="1"/>
          </p:cNvSpPr>
          <p:nvPr/>
        </p:nvSpPr>
        <p:spPr>
          <a:xfrm xmlns:a="http://schemas.openxmlformats.org/drawingml/2006/main">
            <a:off x="800100" y="542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008B84"/>
                </a:solidFill>
                <a:latin typeface="Arial"/>
                <a:ea typeface="Arial"/>
                <a:cs typeface="Arial"/>
              </a:defRPr>
            </a:pPr>
            <a:r>
              <a:rPr sz="2100" b="0">
                <a:solidFill>
                  <a:srgbClr val="008B84"/>
                </a:solidFill>
                <a:latin typeface="Arial"/>
                <a:ea typeface="Arial"/>
                <a:cs typeface="Arial"/>
                <a:hlinkClick xmlns:r="http://schemas.openxmlformats.org/officeDocument/2006/relationships" r:id="R8ef7d0b5037a4cc4"/>
              </a:rPr>
              <a:t>github.com/TeleginS/agent-orchestration</a:t>
            </a:r>
          </a:p>
        </p:txBody>
      </p:sp>
    </p:spTree>
    <p:extLst>
      <p:ext uri="{BB962C8B-B14F-4D97-AF65-F5344CB8AC3E}">
        <p14:creationId xmlns:p14="http://schemas.microsoft.com/office/powerpoint/2010/main" val="3654849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157 tests passed. QA blocked the PR">
            <a:extLst xmlns:a="http://schemas.openxmlformats.org/drawingml/2006/main">
              <a:ext uri="{FF2B5EF4-FFF2-40B4-BE49-F238E27FC236}">
                <a16:creationId xmlns:a16="http://schemas.microsoft.com/office/drawing/2014/main" id="{AD533A6C-214D-4069-8F6D-51F28268EADE}"/>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157 tests passed. QA blocked the PR</a:t>
            </a:r>
          </a:p>
        </p:txBody>
      </p:sp>
      <p:sp>
        <p:nvSpPr>
          <p:cNvPr id="2" name="TrafficRulesApp: my iOS app for the Spanish driving theory e">
            <a:extLst xmlns:a="http://schemas.openxmlformats.org/drawingml/2006/main">
              <a:ext uri="{FF2B5EF4-FFF2-40B4-BE49-F238E27FC236}">
                <a16:creationId xmlns:a16="http://schemas.microsoft.com/office/drawing/2014/main" id="{EEAC3AC6-705F-402B-9034-E2AF670F307C}"/>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TrafficRulesApp: my iOS app for the Spanish driving theory exam</a:t>
            </a:r>
          </a:p>
        </p:txBody>
      </p:sp>
      <p:sp>
        <p:nvSpPr>
          <p:cNvPr id="3" name="02">
            <a:extLst xmlns:a="http://schemas.openxmlformats.org/drawingml/2006/main">
              <a:ext uri="{FF2B5EF4-FFF2-40B4-BE49-F238E27FC236}">
                <a16:creationId xmlns:a16="http://schemas.microsoft.com/office/drawing/2014/main" id="{46FD0653-3E93-4B81-9FE0-FB8425061E34}"/>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02</a:t>
            </a:r>
          </a:p>
        </p:txBody>
      </p:sp>
      <p:sp>
        <p:nvSpPr>
          <p:cNvPr id="4" name="32 new tests">
            <a:extLst xmlns:a="http://schemas.openxmlformats.org/drawingml/2006/main">
              <a:ext uri="{FF2B5EF4-FFF2-40B4-BE49-F238E27FC236}">
                <a16:creationId xmlns:a16="http://schemas.microsoft.com/office/drawing/2014/main" id="{5EE929D1-A3B0-4C68-91BE-20A2A6B1EC35}"/>
              </a:ext>
            </a:extLst>
          </p:cNvPr>
          <p:cNvSpPr>
            <a:spLocks xmlns:a="http://schemas.openxmlformats.org/drawingml/2006/main" noGrp="1"/>
          </p:cNvSpPr>
          <p:nvPr/>
        </p:nvSpPr>
        <p:spPr>
          <a:xfrm xmlns:a="http://schemas.openxmlformats.org/drawingml/2006/main">
            <a:off x="704850" y="21336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008B84"/>
                </a:solidFill>
                <a:latin typeface="Arial"/>
                <a:ea typeface="Arial"/>
                <a:cs typeface="Arial"/>
              </a:defRPr>
            </a:pPr>
            <a:r>
              <a:rPr sz="3225" b="1">
                <a:solidFill>
                  <a:srgbClr val="008B84"/>
                </a:solidFill>
                <a:latin typeface="Arial"/>
                <a:ea typeface="Arial"/>
                <a:cs typeface="Arial"/>
              </a:rPr>
              <a:t>32 new tests</a:t>
            </a:r>
          </a:p>
        </p:txBody>
      </p:sp>
      <p:sp>
        <p:nvSpPr>
          <p:cNvPr id="5" name="Review approved&#10;the change">
            <a:extLst xmlns:a="http://schemas.openxmlformats.org/drawingml/2006/main">
              <a:ext uri="{FF2B5EF4-FFF2-40B4-BE49-F238E27FC236}">
                <a16:creationId xmlns:a16="http://schemas.microsoft.com/office/drawing/2014/main" id="{566D4380-48FE-4193-8801-AA0ACA1BE196}"/>
              </a:ext>
            </a:extLst>
          </p:cNvPr>
          <p:cNvSpPr>
            <a:spLocks xmlns:a="http://schemas.openxmlformats.org/drawingml/2006/main" noGrp="1"/>
          </p:cNvSpPr>
          <p:nvPr/>
        </p:nvSpPr>
        <p:spPr>
          <a:xfrm xmlns:a="http://schemas.openxmlformats.org/drawingml/2006/main">
            <a:off x="704850" y="309562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172D38"/>
                </a:solidFill>
                <a:latin typeface="Arial"/>
                <a:ea typeface="Arial"/>
                <a:cs typeface="Arial"/>
              </a:defRPr>
            </a:pPr>
            <a:r>
              <a:rPr sz="2550" b="0">
                <a:solidFill>
                  <a:srgbClr val="172D38"/>
                </a:solidFill>
                <a:latin typeface="Arial"/>
                <a:ea typeface="Arial"/>
                <a:cs typeface="Arial"/>
              </a:rPr>
              <a:t>Review approved</a:t>
            </a:r>
          </a:p>
          <a:p xmlns:a="http://schemas.openxmlformats.org/drawingml/2006/main">
            <a:pPr algn="l">
              <a:defRPr sz="2550" b="0">
                <a:solidFill>
                  <a:srgbClr val="172D38"/>
                </a:solidFill>
                <a:latin typeface="Arial"/>
                <a:ea typeface="Arial"/>
                <a:cs typeface="Arial"/>
              </a:defRPr>
            </a:pPr>
            <a:r>
              <a:rPr sz="2550" b="0">
                <a:solidFill>
                  <a:srgbClr val="172D38"/>
                </a:solidFill>
                <a:latin typeface="Arial"/>
                <a:ea typeface="Arial"/>
                <a:cs typeface="Arial"/>
              </a:rPr>
              <a:t>the change</a:t>
            </a:r>
          </a:p>
        </p:txBody>
      </p:sp>
      <p:sp>
        <p:nvSpPr>
          <p:cNvPr id="6" name="QA questioned what&#10;the tests proved">
            <a:extLst xmlns:a="http://schemas.openxmlformats.org/drawingml/2006/main">
              <a:ext uri="{FF2B5EF4-FFF2-40B4-BE49-F238E27FC236}">
                <a16:creationId xmlns:a16="http://schemas.microsoft.com/office/drawing/2014/main" id="{F2CE9B4D-58C3-4902-9D21-27A975A9F559}"/>
              </a:ext>
            </a:extLst>
          </p:cNvPr>
          <p:cNvSpPr>
            <a:spLocks xmlns:a="http://schemas.openxmlformats.org/drawingml/2006/main" noGrp="1"/>
          </p:cNvSpPr>
          <p:nvPr/>
        </p:nvSpPr>
        <p:spPr>
          <a:xfrm xmlns:a="http://schemas.openxmlformats.org/drawingml/2006/main">
            <a:off x="704850" y="436245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AE6800"/>
                </a:solidFill>
                <a:latin typeface="Arial"/>
                <a:ea typeface="Arial"/>
                <a:cs typeface="Arial"/>
              </a:defRPr>
            </a:pPr>
            <a:r>
              <a:rPr sz="2550" b="1">
                <a:solidFill>
                  <a:srgbClr val="AE6800"/>
                </a:solidFill>
                <a:latin typeface="Arial"/>
                <a:ea typeface="Arial"/>
                <a:cs typeface="Arial"/>
              </a:rPr>
              <a:t>QA questioned what</a:t>
            </a:r>
          </a:p>
          <a:p xmlns:a="http://schemas.openxmlformats.org/drawingml/2006/main">
            <a:pPr algn="l">
              <a:defRPr sz="2550" b="1">
                <a:solidFill>
                  <a:srgbClr val="AE6800"/>
                </a:solidFill>
                <a:latin typeface="Arial"/>
                <a:ea typeface="Arial"/>
                <a:cs typeface="Arial"/>
              </a:defRPr>
            </a:pPr>
            <a:r>
              <a:rPr sz="2550" b="1">
                <a:solidFill>
                  <a:srgbClr val="AE6800"/>
                </a:solidFill>
                <a:latin typeface="Arial"/>
                <a:ea typeface="Arial"/>
                <a:cs typeface="Arial"/>
              </a:rPr>
              <a:t>the tests proved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bd9057b8f1d41da"/>
          <a:srcRect xmlns:a="http://schemas.openxmlformats.org/drawingml/2006/main" l="9265" t="11960" r="31923" b="50664"/>
          <a:stretch xmlns:a="http://schemas.openxmlformats.org/drawingml/2006/main"/>
        </p:blipFill>
        <p:spPr>
          <a:xfrm xmlns:a="http://schemas.openxmlformats.org/drawingml/2006/main">
            <a:off x="6191250" y="1962150"/>
            <a:ext cx="5286375" cy="4073406"/>
          </a:xfrm>
          <a:prstGeom xmlns:a="http://schemas.openxmlformats.org/drawingml/2006/main" prst="rect">
            <a:avLst/>
          </a:prstGeom>
        </p:spPr>
      </p:pic>
      <p:sp>
        <p:nvSpPr>
          <p:cNvPr id="8" name="PR #198 · Recorded evidence captured on 6 September 2026">
            <a:extLst xmlns:a="http://schemas.openxmlformats.org/drawingml/2006/main">
              <a:ext uri="{FF2B5EF4-FFF2-40B4-BE49-F238E27FC236}">
                <a16:creationId xmlns:a16="http://schemas.microsoft.com/office/drawing/2014/main" id="{1AAA5313-0BE7-4E3F-81D1-C646450E04FE}"/>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PR #198 · Recorded evidence captured on 6 September 2026</a:t>
            </a:r>
          </a:p>
        </p:txBody>
      </p:sp>
    </p:spTree>
    <p:extLst>
      <p:ext uri="{BB962C8B-B14F-4D97-AF65-F5344CB8AC3E}">
        <p14:creationId xmlns:p14="http://schemas.microsoft.com/office/powerpoint/2010/main" val="5535543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An agent is a loop">
            <a:extLst xmlns:a="http://schemas.openxmlformats.org/drawingml/2006/main">
              <a:ext uri="{FF2B5EF4-FFF2-40B4-BE49-F238E27FC236}">
                <a16:creationId xmlns:a16="http://schemas.microsoft.com/office/drawing/2014/main" id="{A05478EB-CBFB-4722-873E-3CE91B73F3A7}"/>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An agent is a loop</a:t>
            </a:r>
          </a:p>
        </p:txBody>
      </p:sp>
      <p:sp>
        <p:nvSpPr>
          <p:cNvPr id="2" name="A model decides. The execution environment runs tools and re">
            <a:extLst xmlns:a="http://schemas.openxmlformats.org/drawingml/2006/main">
              <a:ext uri="{FF2B5EF4-FFF2-40B4-BE49-F238E27FC236}">
                <a16:creationId xmlns:a16="http://schemas.microsoft.com/office/drawing/2014/main" id="{314236D3-66D1-4430-AB4C-162213FF5D1A}"/>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A model decides. The execution environment runs tools and returns results.</a:t>
            </a:r>
          </a:p>
        </p:txBody>
      </p:sp>
      <p:sp>
        <p:nvSpPr>
          <p:cNvPr id="3" name="03">
            <a:extLst xmlns:a="http://schemas.openxmlformats.org/drawingml/2006/main">
              <a:ext uri="{FF2B5EF4-FFF2-40B4-BE49-F238E27FC236}">
                <a16:creationId xmlns:a16="http://schemas.microsoft.com/office/drawing/2014/main" id="{367254D2-CB3F-4D90-98AA-B617B583424C}"/>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03</a:t>
            </a:r>
          </a:p>
        </p:txBody>
      </p:sp>
      <p:sp>
        <p:nvSpPr>
          <p:cNvPr id="4" name="Context">
            <a:extLst xmlns:a="http://schemas.openxmlformats.org/drawingml/2006/main">
              <a:ext uri="{FF2B5EF4-FFF2-40B4-BE49-F238E27FC236}">
                <a16:creationId xmlns:a16="http://schemas.microsoft.com/office/drawing/2014/main" id="{5A4F6332-F369-483E-B9F8-F7FC56CF61CD}"/>
              </a:ext>
            </a:extLst>
          </p:cNvPr>
          <p:cNvSpPr>
            <a:spLocks xmlns:a="http://schemas.openxmlformats.org/drawingml/2006/main" noGrp="1"/>
          </p:cNvSpPr>
          <p:nvPr/>
        </p:nvSpPr>
        <p:spPr>
          <a:xfrm xmlns:a="http://schemas.openxmlformats.org/drawingml/2006/main">
            <a:off x="704850" y="2400300"/>
            <a:ext cx="2047875" cy="8001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Context</a:t>
            </a:r>
          </a:p>
        </p:txBody>
      </p:sp>
      <p:sp>
        <p:nvSpPr>
          <p:cNvPr id="5" name="Model">
            <a:extLst xmlns:a="http://schemas.openxmlformats.org/drawingml/2006/main">
              <a:ext uri="{FF2B5EF4-FFF2-40B4-BE49-F238E27FC236}">
                <a16:creationId xmlns:a16="http://schemas.microsoft.com/office/drawing/2014/main" id="{2D8478C1-2D35-4164-9D6A-87529E04E5F1}"/>
              </a:ext>
            </a:extLst>
          </p:cNvPr>
          <p:cNvSpPr>
            <a:spLocks xmlns:a="http://schemas.openxmlformats.org/drawingml/2006/main" noGrp="1"/>
          </p:cNvSpPr>
          <p:nvPr/>
        </p:nvSpPr>
        <p:spPr>
          <a:xfrm xmlns:a="http://schemas.openxmlformats.org/drawingml/2006/main">
            <a:off x="3381375" y="2400300"/>
            <a:ext cx="2047875" cy="8001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Model</a:t>
            </a:r>
          </a:p>
        </p:txBody>
      </p:sp>
      <p:sp>
        <p:nvSpPr>
          <p:cNvPr id="6" name="Tool call">
            <a:extLst xmlns:a="http://schemas.openxmlformats.org/drawingml/2006/main">
              <a:ext uri="{FF2B5EF4-FFF2-40B4-BE49-F238E27FC236}">
                <a16:creationId xmlns:a16="http://schemas.microsoft.com/office/drawing/2014/main" id="{366754E0-4CF7-4B2D-A191-F641A22A1EDA}"/>
              </a:ext>
            </a:extLst>
          </p:cNvPr>
          <p:cNvSpPr>
            <a:spLocks xmlns:a="http://schemas.openxmlformats.org/drawingml/2006/main" noGrp="1"/>
          </p:cNvSpPr>
          <p:nvPr/>
        </p:nvSpPr>
        <p:spPr>
          <a:xfrm xmlns:a="http://schemas.openxmlformats.org/drawingml/2006/main">
            <a:off x="6057900" y="2400300"/>
            <a:ext cx="2047875" cy="8001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Tool call</a:t>
            </a:r>
          </a:p>
        </p:txBody>
      </p:sp>
      <p:sp>
        <p:nvSpPr>
          <p:cNvPr id="7" name="Tool result">
            <a:extLst xmlns:a="http://schemas.openxmlformats.org/drawingml/2006/main">
              <a:ext uri="{FF2B5EF4-FFF2-40B4-BE49-F238E27FC236}">
                <a16:creationId xmlns:a16="http://schemas.microsoft.com/office/drawing/2014/main" id="{91A4B89C-690D-4196-9922-2699968CAF93}"/>
              </a:ext>
            </a:extLst>
          </p:cNvPr>
          <p:cNvSpPr>
            <a:spLocks xmlns:a="http://schemas.openxmlformats.org/drawingml/2006/main" noGrp="1"/>
          </p:cNvSpPr>
          <p:nvPr/>
        </p:nvSpPr>
        <p:spPr>
          <a:xfrm xmlns:a="http://schemas.openxmlformats.org/drawingml/2006/main">
            <a:off x="8734425" y="2400300"/>
            <a:ext cx="2733675" cy="8001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Tool result</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2752725" y="2800350"/>
            <a:ext cx="628650"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a:off x="5429250" y="2800350"/>
            <a:ext cx="628650"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24" name=""/>
          <p:cNvCxnSpPr>
            <a:stCxn xmlns:a="http://schemas.openxmlformats.org/drawingml/2006/main" id="6" idx="3"/>
            <a:endCxn xmlns:a="http://schemas.openxmlformats.org/drawingml/2006/main" id="7" idx="1"/>
          </p:cNvCxnSpPr>
          <p:nvPr/>
        </p:nvCxnSpPr>
        <p:spPr>
          <a:xfrm xmlns:a="http://schemas.openxmlformats.org/drawingml/2006/main">
            <a:off x="8105775" y="2800350"/>
            <a:ext cx="628650"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25" name=""/>
          <p:cNvCxnSpPr>
            <a:stCxn xmlns:a="http://schemas.openxmlformats.org/drawingml/2006/main" id="7" idx="2"/>
            <a:endCxn xmlns:a="http://schemas.openxmlformats.org/drawingml/2006/main" id="5" idx="2"/>
          </p:cNvCxnSpPr>
          <p:nvPr/>
        </p:nvCxnSpPr>
        <p:spPr>
          <a:xfrm xmlns:a="http://schemas.openxmlformats.org/drawingml/2006/main" flipH="1">
            <a:off x="4405313" y="3200400"/>
            <a:ext cx="5695950" cy="228600"/>
          </a:xfrm>
          <a:prstGeom xmlns:a="http://schemas.openxmlformats.org/drawingml/2006/main" prst="bentConnector4">
            <a:avLst/>
          </a:prstGeom>
          <a:ln xmlns:a="http://schemas.openxmlformats.org/drawingml/2006/main" w="19050">
            <a:solidFill>
              <a:srgbClr val="008B84"/>
            </a:solidFill>
            <a:tailEnd type="triangle" w="sm" len="sm"/>
          </a:ln>
        </p:spPr>
      </p:cxnSp>
      <p:sp>
        <p:nvSpPr>
          <p:cNvPr id="12" name="Result becomes new context for the next decision">
            <a:extLst xmlns:a="http://schemas.openxmlformats.org/drawingml/2006/main">
              <a:ext uri="{FF2B5EF4-FFF2-40B4-BE49-F238E27FC236}">
                <a16:creationId xmlns:a16="http://schemas.microsoft.com/office/drawing/2014/main" id="{788B7237-813A-4E4F-A4D9-89A38AD172F4}"/>
              </a:ext>
            </a:extLst>
          </p:cNvPr>
          <p:cNvSpPr>
            <a:spLocks xmlns:a="http://schemas.openxmlformats.org/drawingml/2006/main" noGrp="1"/>
          </p:cNvSpPr>
          <p:nvPr/>
        </p:nvSpPr>
        <p:spPr>
          <a:xfrm xmlns:a="http://schemas.openxmlformats.org/drawingml/2006/main">
            <a:off x="3381375" y="371475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008B84"/>
                </a:solidFill>
                <a:latin typeface="Arial"/>
                <a:ea typeface="Arial"/>
                <a:cs typeface="Arial"/>
              </a:defRPr>
            </a:pPr>
            <a:r>
              <a:rPr sz="2175" b="1">
                <a:solidFill>
                  <a:srgbClr val="008B84"/>
                </a:solidFill>
                <a:latin typeface="Arial"/>
                <a:ea typeface="Arial"/>
                <a:cs typeface="Arial"/>
              </a:rPr>
              <a:t>Result becomes new context for the next decision</a:t>
            </a:r>
          </a:p>
        </p:txBody>
      </p:sp>
      <p:sp>
        <p:nvSpPr>
          <p:cNvPr id="13" name="The harness manages the loop, permissions and tool execution">
            <a:extLst xmlns:a="http://schemas.openxmlformats.org/drawingml/2006/main">
              <a:ext uri="{FF2B5EF4-FFF2-40B4-BE49-F238E27FC236}">
                <a16:creationId xmlns:a16="http://schemas.microsoft.com/office/drawing/2014/main" id="{1769ABBC-A3AD-43A8-80F1-B2374CCC4D26}"/>
              </a:ext>
            </a:extLst>
          </p:cNvPr>
          <p:cNvSpPr>
            <a:spLocks xmlns:a="http://schemas.openxmlformats.org/drawingml/2006/main" noGrp="1"/>
          </p:cNvSpPr>
          <p:nvPr/>
        </p:nvSpPr>
        <p:spPr>
          <a:xfrm xmlns:a="http://schemas.openxmlformats.org/drawingml/2006/main">
            <a:off x="704850" y="47720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The harness manages the loop, permissions and tool execution.</a:t>
            </a:r>
          </a:p>
        </p:txBody>
      </p:sp>
      <p:sp>
        <p:nvSpPr>
          <p:cNvPr id="14" name="A skill supplies instructions. The host supplies execution.">
            <a:extLst xmlns:a="http://schemas.openxmlformats.org/drawingml/2006/main">
              <a:ext uri="{FF2B5EF4-FFF2-40B4-BE49-F238E27FC236}">
                <a16:creationId xmlns:a16="http://schemas.microsoft.com/office/drawing/2014/main" id="{708D094C-FC76-407F-AFA9-A8CDE68B6EA2}"/>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A skill supplies instructions. The host supplies execution.</a:t>
            </a:r>
          </a:p>
        </p:txBody>
      </p:sp>
    </p:spTree>
    <p:extLst>
      <p:ext uri="{BB962C8B-B14F-4D97-AF65-F5344CB8AC3E}">
        <p14:creationId xmlns:p14="http://schemas.microsoft.com/office/powerpoint/2010/main" val="166639121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One map, four responsibilities">
            <a:extLst xmlns:a="http://schemas.openxmlformats.org/drawingml/2006/main">
              <a:ext uri="{FF2B5EF4-FFF2-40B4-BE49-F238E27FC236}">
                <a16:creationId xmlns:a16="http://schemas.microsoft.com/office/drawing/2014/main" id="{4EB60434-DA80-4BC6-AA73-B53C6950ACEB}"/>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One map, four responsibilities</a:t>
            </a:r>
          </a:p>
        </p:txBody>
      </p:sp>
      <p:sp>
        <p:nvSpPr>
          <p:cNvPr id="2" name="Current documented workflow · Full steps in the backup">
            <a:extLst xmlns:a="http://schemas.openxmlformats.org/drawingml/2006/main">
              <a:ext uri="{FF2B5EF4-FFF2-40B4-BE49-F238E27FC236}">
                <a16:creationId xmlns:a16="http://schemas.microsoft.com/office/drawing/2014/main" id="{AA719471-749F-4C4E-95D1-5EA0E94E4FF3}"/>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Current documented workflow · Full steps in the backup</a:t>
            </a:r>
          </a:p>
        </p:txBody>
      </p:sp>
      <p:sp>
        <p:nvSpPr>
          <p:cNvPr id="3" name="04">
            <a:extLst xmlns:a="http://schemas.openxmlformats.org/drawingml/2006/main">
              <a:ext uri="{FF2B5EF4-FFF2-40B4-BE49-F238E27FC236}">
                <a16:creationId xmlns:a16="http://schemas.microsoft.com/office/drawing/2014/main" id="{75D5D18E-F4D9-42ED-87BD-24EB27E10CB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04</a:t>
            </a:r>
          </a:p>
        </p:txBody>
      </p:sp>
      <p:sp>
        <p:nvSpPr>
          <p:cNvPr id="4" name="Plan">
            <a:extLst xmlns:a="http://schemas.openxmlformats.org/drawingml/2006/main">
              <a:ext uri="{FF2B5EF4-FFF2-40B4-BE49-F238E27FC236}">
                <a16:creationId xmlns:a16="http://schemas.microsoft.com/office/drawing/2014/main" id="{A39F3DF3-D308-4EA8-B173-09EA7B851B52}"/>
              </a:ext>
            </a:extLst>
          </p:cNvPr>
          <p:cNvSpPr>
            <a:spLocks xmlns:a="http://schemas.openxmlformats.org/drawingml/2006/main" noGrp="1"/>
          </p:cNvSpPr>
          <p:nvPr/>
        </p:nvSpPr>
        <p:spPr>
          <a:xfrm xmlns:a="http://schemas.openxmlformats.org/drawingml/2006/main">
            <a:off x="70485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Plan</a:t>
            </a:r>
          </a:p>
        </p:txBody>
      </p:sp>
      <p:sp>
        <p:nvSpPr>
          <p:cNvPr id="5" name="Develop">
            <a:extLst xmlns:a="http://schemas.openxmlformats.org/drawingml/2006/main">
              <a:ext uri="{FF2B5EF4-FFF2-40B4-BE49-F238E27FC236}">
                <a16:creationId xmlns:a16="http://schemas.microsoft.com/office/drawing/2014/main" id="{85F2766E-3455-4505-BE8A-295CE984B62E}"/>
              </a:ext>
            </a:extLst>
          </p:cNvPr>
          <p:cNvSpPr>
            <a:spLocks xmlns:a="http://schemas.openxmlformats.org/drawingml/2006/main" noGrp="1"/>
          </p:cNvSpPr>
          <p:nvPr/>
        </p:nvSpPr>
        <p:spPr>
          <a:xfrm xmlns:a="http://schemas.openxmlformats.org/drawingml/2006/main">
            <a:off x="350520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Develop</a:t>
            </a:r>
          </a:p>
        </p:txBody>
      </p: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31242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7" name="Review">
            <a:extLst xmlns:a="http://schemas.openxmlformats.org/drawingml/2006/main">
              <a:ext uri="{FF2B5EF4-FFF2-40B4-BE49-F238E27FC236}">
                <a16:creationId xmlns:a16="http://schemas.microsoft.com/office/drawing/2014/main" id="{69F7B8E6-4986-4AC3-AE7B-5F82DF4A69F1}"/>
              </a:ext>
            </a:extLst>
          </p:cNvPr>
          <p:cNvSpPr>
            <a:spLocks xmlns:a="http://schemas.openxmlformats.org/drawingml/2006/main" noGrp="1"/>
          </p:cNvSpPr>
          <p:nvPr/>
        </p:nvSpPr>
        <p:spPr>
          <a:xfrm xmlns:a="http://schemas.openxmlformats.org/drawingml/2006/main">
            <a:off x="630555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Review</a:t>
            </a:r>
          </a:p>
        </p:txBody>
      </p:sp>
      <p:cxnSp>
        <p:nvCxnSpPr>
          <p:cNvPr id="27" name=""/>
          <p:cNvCxnSpPr>
            <a:stCxn xmlns:a="http://schemas.openxmlformats.org/drawingml/2006/main" id="5" idx="3"/>
            <a:endCxn xmlns:a="http://schemas.openxmlformats.org/drawingml/2006/main" id="7" idx="1"/>
          </p:cNvCxnSpPr>
          <p:nvPr/>
        </p:nvCxnSpPr>
        <p:spPr>
          <a:xfrm xmlns:a="http://schemas.openxmlformats.org/drawingml/2006/main">
            <a:off x="592455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9" name="QA">
            <a:extLst xmlns:a="http://schemas.openxmlformats.org/drawingml/2006/main">
              <a:ext uri="{FF2B5EF4-FFF2-40B4-BE49-F238E27FC236}">
                <a16:creationId xmlns:a16="http://schemas.microsoft.com/office/drawing/2014/main" id="{52E7A242-9CF4-42EB-AD69-B39CD62B6956}"/>
              </a:ext>
            </a:extLst>
          </p:cNvPr>
          <p:cNvSpPr>
            <a:spLocks xmlns:a="http://schemas.openxmlformats.org/drawingml/2006/main" noGrp="1"/>
          </p:cNvSpPr>
          <p:nvPr/>
        </p:nvSpPr>
        <p:spPr>
          <a:xfrm xmlns:a="http://schemas.openxmlformats.org/drawingml/2006/main">
            <a:off x="910590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QA</a:t>
            </a:r>
          </a:p>
        </p:txBody>
      </p: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87249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11" name="Acceptance criteria&#10;and dependencies">
            <a:extLst xmlns:a="http://schemas.openxmlformats.org/drawingml/2006/main">
              <a:ext uri="{FF2B5EF4-FFF2-40B4-BE49-F238E27FC236}">
                <a16:creationId xmlns:a16="http://schemas.microsoft.com/office/drawing/2014/main" id="{F2B5E1C2-59B7-4E7E-A23B-07A68087C3D7}"/>
              </a:ext>
            </a:extLst>
          </p:cNvPr>
          <p:cNvSpPr>
            <a:spLocks xmlns:a="http://schemas.openxmlformats.org/drawingml/2006/main" noGrp="1"/>
          </p:cNvSpPr>
          <p:nvPr/>
        </p:nvSpPr>
        <p:spPr>
          <a:xfrm xmlns:a="http://schemas.openxmlformats.org/drawingml/2006/main">
            <a:off x="704850" y="3152775"/>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Acceptance criteria</a:t>
            </a:r>
          </a:p>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and dependencies</a:t>
            </a:r>
          </a:p>
        </p:txBody>
      </p:sp>
      <p:sp>
        <p:nvSpPr>
          <p:cNvPr id="12" name="PR and&#10;check results">
            <a:extLst xmlns:a="http://schemas.openxmlformats.org/drawingml/2006/main">
              <a:ext uri="{FF2B5EF4-FFF2-40B4-BE49-F238E27FC236}">
                <a16:creationId xmlns:a16="http://schemas.microsoft.com/office/drawing/2014/main" id="{5D6575ED-7B40-413C-8261-02E3C5512F80}"/>
              </a:ext>
            </a:extLst>
          </p:cNvPr>
          <p:cNvSpPr>
            <a:spLocks xmlns:a="http://schemas.openxmlformats.org/drawingml/2006/main" noGrp="1"/>
          </p:cNvSpPr>
          <p:nvPr/>
        </p:nvSpPr>
        <p:spPr>
          <a:xfrm xmlns:a="http://schemas.openxmlformats.org/drawingml/2006/main">
            <a:off x="3505200" y="3152775"/>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PR and</a:t>
            </a:r>
          </a:p>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check results</a:t>
            </a:r>
          </a:p>
        </p:txBody>
      </p:sp>
      <p:sp>
        <p:nvSpPr>
          <p:cNvPr id="13" name="Prioritized findings&#10;or approval">
            <a:extLst xmlns:a="http://schemas.openxmlformats.org/drawingml/2006/main">
              <a:ext uri="{FF2B5EF4-FFF2-40B4-BE49-F238E27FC236}">
                <a16:creationId xmlns:a16="http://schemas.microsoft.com/office/drawing/2014/main" id="{15C76BF6-9831-4555-9E9C-C889C2F3E982}"/>
              </a:ext>
            </a:extLst>
          </p:cNvPr>
          <p:cNvSpPr>
            <a:spLocks xmlns:a="http://schemas.openxmlformats.org/drawingml/2006/main" noGrp="1"/>
          </p:cNvSpPr>
          <p:nvPr/>
        </p:nvSpPr>
        <p:spPr>
          <a:xfrm xmlns:a="http://schemas.openxmlformats.org/drawingml/2006/main">
            <a:off x="6305550" y="3152775"/>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Prioritized findings</a:t>
            </a:r>
          </a:p>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or approval</a:t>
            </a:r>
          </a:p>
        </p:txBody>
      </p:sp>
      <p:sp>
        <p:nvSpPr>
          <p:cNvPr id="14" name="Test evidence&#10;and verdict">
            <a:extLst xmlns:a="http://schemas.openxmlformats.org/drawingml/2006/main">
              <a:ext uri="{FF2B5EF4-FFF2-40B4-BE49-F238E27FC236}">
                <a16:creationId xmlns:a16="http://schemas.microsoft.com/office/drawing/2014/main" id="{A137BF2E-794D-42C2-BAE5-2DC1EEB833AB}"/>
              </a:ext>
            </a:extLst>
          </p:cNvPr>
          <p:cNvSpPr>
            <a:spLocks xmlns:a="http://schemas.openxmlformats.org/drawingml/2006/main" noGrp="1"/>
          </p:cNvSpPr>
          <p:nvPr/>
        </p:nvSpPr>
        <p:spPr>
          <a:xfrm xmlns:a="http://schemas.openxmlformats.org/drawingml/2006/main">
            <a:off x="9105900" y="3152775"/>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Test evidence</a:t>
            </a:r>
          </a:p>
          <a:p xmlns:a="http://schemas.openxmlformats.org/drawingml/2006/main">
            <a:pPr algn="l">
              <a:defRPr sz="2025" b="0">
                <a:solidFill>
                  <a:srgbClr val="172D38"/>
                </a:solidFill>
                <a:latin typeface="Arial"/>
                <a:ea typeface="Arial"/>
                <a:cs typeface="Arial"/>
              </a:defRPr>
            </a:pPr>
            <a:r>
              <a:rPr sz="2025" b="0">
                <a:solidFill>
                  <a:srgbClr val="172D38"/>
                </a:solidFill>
                <a:latin typeface="Arial"/>
                <a:ea typeface="Arial"/>
                <a:cs typeface="Arial"/>
              </a:rPr>
              <a:t>and verdict</a:t>
            </a:r>
          </a:p>
        </p:txBody>
      </p:sp>
      <p:sp>
        <p:nvSpPr>
          <p:cNvPr id="15" name="Orchestrator">
            <a:extLst xmlns:a="http://schemas.openxmlformats.org/drawingml/2006/main">
              <a:ext uri="{FF2B5EF4-FFF2-40B4-BE49-F238E27FC236}">
                <a16:creationId xmlns:a16="http://schemas.microsoft.com/office/drawing/2014/main" id="{733A4B13-90D0-4D66-8974-505D476C844C}"/>
              </a:ext>
            </a:extLst>
          </p:cNvPr>
          <p:cNvSpPr>
            <a:spLocks xmlns:a="http://schemas.openxmlformats.org/drawingml/2006/main" noGrp="1"/>
          </p:cNvSpPr>
          <p:nvPr/>
        </p:nvSpPr>
        <p:spPr>
          <a:xfrm xmlns:a="http://schemas.openxmlformats.org/drawingml/2006/main">
            <a:off x="704850" y="45720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08B84"/>
                </a:solidFill>
                <a:latin typeface="Arial"/>
                <a:ea typeface="Arial"/>
                <a:cs typeface="Arial"/>
              </a:defRPr>
            </a:pPr>
            <a:r>
              <a:rPr sz="2325" b="1">
                <a:solidFill>
                  <a:srgbClr val="008B84"/>
                </a:solidFill>
                <a:latin typeface="Arial"/>
                <a:ea typeface="Arial"/>
                <a:cs typeface="Arial"/>
              </a:rPr>
              <a:t>Orchestrator</a:t>
            </a:r>
          </a:p>
        </p:txBody>
      </p:sp>
      <p:sp>
        <p:nvSpPr>
          <p:cNvPr id="16" name="Clarify decisions, pass artifacts, choose the next stage">
            <a:extLst xmlns:a="http://schemas.openxmlformats.org/drawingml/2006/main">
              <a:ext uri="{FF2B5EF4-FFF2-40B4-BE49-F238E27FC236}">
                <a16:creationId xmlns:a16="http://schemas.microsoft.com/office/drawing/2014/main" id="{5A57E1B0-BDF1-4B07-9E4C-DADB6164AE65}"/>
              </a:ext>
            </a:extLst>
          </p:cNvPr>
          <p:cNvSpPr>
            <a:spLocks xmlns:a="http://schemas.openxmlformats.org/drawingml/2006/main" noGrp="1"/>
          </p:cNvSpPr>
          <p:nvPr/>
        </p:nvSpPr>
        <p:spPr>
          <a:xfrm xmlns:a="http://schemas.openxmlformats.org/drawingml/2006/main">
            <a:off x="3381375" y="4572000"/>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Clarify decisions, pass artifacts, choose the next stage</a:t>
            </a:r>
          </a:p>
        </p:txBody>
      </p:sp>
      <p:sp>
        <p:nvSpPr>
          <p:cNvPr id="17" name="Project profile">
            <a:extLst xmlns:a="http://schemas.openxmlformats.org/drawingml/2006/main">
              <a:ext uri="{FF2B5EF4-FFF2-40B4-BE49-F238E27FC236}">
                <a16:creationId xmlns:a16="http://schemas.microsoft.com/office/drawing/2014/main" id="{B1963F9A-CD5B-4ECE-8763-8629CC73F6D9}"/>
              </a:ext>
            </a:extLst>
          </p:cNvPr>
          <p:cNvSpPr>
            <a:spLocks xmlns:a="http://schemas.openxmlformats.org/drawingml/2006/main" noGrp="1"/>
          </p:cNvSpPr>
          <p:nvPr/>
        </p:nvSpPr>
        <p:spPr>
          <a:xfrm xmlns:a="http://schemas.openxmlformats.org/drawingml/2006/main">
            <a:off x="704850" y="53625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08B84"/>
                </a:solidFill>
                <a:latin typeface="Arial"/>
                <a:ea typeface="Arial"/>
                <a:cs typeface="Arial"/>
              </a:defRPr>
            </a:pPr>
            <a:r>
              <a:rPr sz="2025" b="1">
                <a:solidFill>
                  <a:srgbClr val="008B84"/>
                </a:solidFill>
                <a:latin typeface="Arial"/>
                <a:ea typeface="Arial"/>
                <a:cs typeface="Arial"/>
              </a:rPr>
              <a:t>Project profile</a:t>
            </a:r>
          </a:p>
        </p:txBody>
      </p:sp>
      <p:sp>
        <p:nvSpPr>
          <p:cNvPr id="18" name="Shared commands and constraints">
            <a:extLst xmlns:a="http://schemas.openxmlformats.org/drawingml/2006/main">
              <a:ext uri="{FF2B5EF4-FFF2-40B4-BE49-F238E27FC236}">
                <a16:creationId xmlns:a16="http://schemas.microsoft.com/office/drawing/2014/main" id="{F73ABC90-B9B4-452A-8F04-931C3F02484F}"/>
              </a:ext>
            </a:extLst>
          </p:cNvPr>
          <p:cNvSpPr>
            <a:spLocks xmlns:a="http://schemas.openxmlformats.org/drawingml/2006/main" noGrp="1"/>
          </p:cNvSpPr>
          <p:nvPr/>
        </p:nvSpPr>
        <p:spPr>
          <a:xfrm xmlns:a="http://schemas.openxmlformats.org/drawingml/2006/main">
            <a:off x="3381375" y="5362575"/>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66E7B"/>
                </a:solidFill>
                <a:latin typeface="Arial"/>
                <a:ea typeface="Arial"/>
                <a:cs typeface="Arial"/>
              </a:defRPr>
            </a:pPr>
            <a:r>
              <a:rPr sz="2025" b="0">
                <a:solidFill>
                  <a:srgbClr val="566E7B"/>
                </a:solidFill>
                <a:latin typeface="Arial"/>
                <a:ea typeface="Arial"/>
                <a:cs typeface="Arial"/>
              </a:rPr>
              <a:t>Shared commands and constraints</a:t>
            </a:r>
          </a:p>
        </p:txBody>
      </p:sp>
      <p:sp>
        <p:nvSpPr>
          <p:cNvPr id="19" name="Preparation and completion checks surround this route. PIPEL">
            <a:extLst xmlns:a="http://schemas.openxmlformats.org/drawingml/2006/main">
              <a:ext uri="{FF2B5EF4-FFF2-40B4-BE49-F238E27FC236}">
                <a16:creationId xmlns:a16="http://schemas.microsoft.com/office/drawing/2014/main" id="{CBCF20CA-9EF8-4000-99C4-F6578D6202E7}"/>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Preparation and completion checks surround this route. PIPELINE.md documents the instructions.</a:t>
            </a:r>
          </a:p>
        </p:txBody>
      </p:sp>
    </p:spTree>
    <p:extLst>
      <p:ext uri="{BB962C8B-B14F-4D97-AF65-F5344CB8AC3E}">
        <p14:creationId xmlns:p14="http://schemas.microsoft.com/office/powerpoint/2010/main" val="10084119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Changed code needs fresh evidence">
            <a:extLst xmlns:a="http://schemas.openxmlformats.org/drawingml/2006/main">
              <a:ext uri="{FF2B5EF4-FFF2-40B4-BE49-F238E27FC236}">
                <a16:creationId xmlns:a16="http://schemas.microsoft.com/office/drawing/2014/main" id="{AF3D0E12-B727-4280-B9A0-2F44F7F82974}"/>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Changed code needs fresh evidence</a:t>
            </a:r>
          </a:p>
        </p:txBody>
      </p:sp>
      <p:sp>
        <p:nvSpPr>
          <p:cNvPr id="2" name="Current documented workflow · Both return routes include cod">
            <a:extLst xmlns:a="http://schemas.openxmlformats.org/drawingml/2006/main">
              <a:ext uri="{FF2B5EF4-FFF2-40B4-BE49-F238E27FC236}">
                <a16:creationId xmlns:a16="http://schemas.microsoft.com/office/drawing/2014/main" id="{073ACEA3-2153-4B00-BBA0-C4F0A4711942}"/>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Current documented workflow · Both return routes include code review</a:t>
            </a:r>
          </a:p>
        </p:txBody>
      </p:sp>
      <p:sp>
        <p:nvSpPr>
          <p:cNvPr id="3" name="05">
            <a:extLst xmlns:a="http://schemas.openxmlformats.org/drawingml/2006/main">
              <a:ext uri="{FF2B5EF4-FFF2-40B4-BE49-F238E27FC236}">
                <a16:creationId xmlns:a16="http://schemas.microsoft.com/office/drawing/2014/main" id="{8112F70E-6922-43FE-BEA7-D9938883A6B5}"/>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05</a:t>
            </a:r>
          </a:p>
        </p:txBody>
      </p:sp>
      <p:sp>
        <p:nvSpPr>
          <p:cNvPr id="4" name="Plan">
            <a:extLst xmlns:a="http://schemas.openxmlformats.org/drawingml/2006/main">
              <a:ext uri="{FF2B5EF4-FFF2-40B4-BE49-F238E27FC236}">
                <a16:creationId xmlns:a16="http://schemas.microsoft.com/office/drawing/2014/main" id="{03C34A15-E2B1-48FE-8198-08145DC599EA}"/>
              </a:ext>
            </a:extLst>
          </p:cNvPr>
          <p:cNvSpPr>
            <a:spLocks xmlns:a="http://schemas.openxmlformats.org/drawingml/2006/main" noGrp="1"/>
          </p:cNvSpPr>
          <p:nvPr/>
        </p:nvSpPr>
        <p:spPr>
          <a:xfrm xmlns:a="http://schemas.openxmlformats.org/drawingml/2006/main">
            <a:off x="70485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Plan</a:t>
            </a:r>
          </a:p>
        </p:txBody>
      </p:sp>
      <p:sp>
        <p:nvSpPr>
          <p:cNvPr id="5" name="Develop">
            <a:extLst xmlns:a="http://schemas.openxmlformats.org/drawingml/2006/main">
              <a:ext uri="{FF2B5EF4-FFF2-40B4-BE49-F238E27FC236}">
                <a16:creationId xmlns:a16="http://schemas.microsoft.com/office/drawing/2014/main" id="{DF7B0DAA-1706-4F79-9832-0D51220C0538}"/>
              </a:ext>
            </a:extLst>
          </p:cNvPr>
          <p:cNvSpPr>
            <a:spLocks xmlns:a="http://schemas.openxmlformats.org/drawingml/2006/main" noGrp="1"/>
          </p:cNvSpPr>
          <p:nvPr/>
        </p:nvSpPr>
        <p:spPr>
          <a:xfrm xmlns:a="http://schemas.openxmlformats.org/drawingml/2006/main">
            <a:off x="350520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Develop</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1242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7" name="Review">
            <a:extLst xmlns:a="http://schemas.openxmlformats.org/drawingml/2006/main">
              <a:ext uri="{FF2B5EF4-FFF2-40B4-BE49-F238E27FC236}">
                <a16:creationId xmlns:a16="http://schemas.microsoft.com/office/drawing/2014/main" id="{ABF0E640-B113-419E-9DA0-43D9AECB7BFC}"/>
              </a:ext>
            </a:extLst>
          </p:cNvPr>
          <p:cNvSpPr>
            <a:spLocks xmlns:a="http://schemas.openxmlformats.org/drawingml/2006/main" noGrp="1"/>
          </p:cNvSpPr>
          <p:nvPr/>
        </p:nvSpPr>
        <p:spPr>
          <a:xfrm xmlns:a="http://schemas.openxmlformats.org/drawingml/2006/main">
            <a:off x="630555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Review</a:t>
            </a:r>
          </a:p>
        </p:txBody>
      </p:sp>
      <p:cxnSp>
        <p:nvCxnSpPr>
          <p:cNvPr id="26" name=""/>
          <p:cNvCxnSpPr>
            <a:stCxn xmlns:a="http://schemas.openxmlformats.org/drawingml/2006/main" id="5" idx="3"/>
            <a:endCxn xmlns:a="http://schemas.openxmlformats.org/drawingml/2006/main" id="7" idx="1"/>
          </p:cNvCxnSpPr>
          <p:nvPr/>
        </p:nvCxnSpPr>
        <p:spPr>
          <a:xfrm xmlns:a="http://schemas.openxmlformats.org/drawingml/2006/main">
            <a:off x="592455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9" name="QA">
            <a:extLst xmlns:a="http://schemas.openxmlformats.org/drawingml/2006/main">
              <a:ext uri="{FF2B5EF4-FFF2-40B4-BE49-F238E27FC236}">
                <a16:creationId xmlns:a16="http://schemas.microsoft.com/office/drawing/2014/main" id="{4ED17D2A-809A-48D9-947A-4A3A3F27281B}"/>
              </a:ext>
            </a:extLst>
          </p:cNvPr>
          <p:cNvSpPr>
            <a:spLocks xmlns:a="http://schemas.openxmlformats.org/drawingml/2006/main" noGrp="1"/>
          </p:cNvSpPr>
          <p:nvPr/>
        </p:nvSpPr>
        <p:spPr>
          <a:xfrm xmlns:a="http://schemas.openxmlformats.org/drawingml/2006/main">
            <a:off x="910590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QA</a:t>
            </a:r>
          </a:p>
        </p:txBody>
      </p:sp>
      <p:cxnSp>
        <p:nvCxnSpPr>
          <p:cNvPr id="28" name=""/>
          <p:cNvCxnSpPr>
            <a:stCxn xmlns:a="http://schemas.openxmlformats.org/drawingml/2006/main" id="7" idx="3"/>
            <a:endCxn xmlns:a="http://schemas.openxmlformats.org/drawingml/2006/main" id="9" idx="1"/>
          </p:cNvCxnSpPr>
          <p:nvPr/>
        </p:nvCxnSpPr>
        <p:spPr>
          <a:xfrm xmlns:a="http://schemas.openxmlformats.org/drawingml/2006/main">
            <a:off x="87249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11" name="Review findings">
            <a:extLst xmlns:a="http://schemas.openxmlformats.org/drawingml/2006/main">
              <a:ext uri="{FF2B5EF4-FFF2-40B4-BE49-F238E27FC236}">
                <a16:creationId xmlns:a16="http://schemas.microsoft.com/office/drawing/2014/main" id="{AED126B9-C6BF-4626-8DF5-895CD5894FAB}"/>
              </a:ext>
            </a:extLst>
          </p:cNvPr>
          <p:cNvSpPr>
            <a:spLocks xmlns:a="http://schemas.openxmlformats.org/drawingml/2006/main" noGrp="1"/>
          </p:cNvSpPr>
          <p:nvPr/>
        </p:nvSpPr>
        <p:spPr>
          <a:xfrm xmlns:a="http://schemas.openxmlformats.org/drawingml/2006/main">
            <a:off x="704850" y="3162300"/>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AE6800"/>
                </a:solidFill>
                <a:latin typeface="Arial"/>
                <a:ea typeface="Arial"/>
                <a:cs typeface="Arial"/>
              </a:defRPr>
            </a:pPr>
            <a:r>
              <a:rPr sz="2100" b="1">
                <a:solidFill>
                  <a:srgbClr val="AE6800"/>
                </a:solidFill>
                <a:latin typeface="Arial"/>
                <a:ea typeface="Arial"/>
                <a:cs typeface="Arial"/>
              </a:rPr>
              <a:t>Review findings</a:t>
            </a:r>
          </a:p>
        </p:txBody>
      </p:sp>
      <p:sp>
        <p:nvSpPr>
          <p:cNvPr id="12" name="Develop → Review">
            <a:extLst xmlns:a="http://schemas.openxmlformats.org/drawingml/2006/main">
              <a:ext uri="{FF2B5EF4-FFF2-40B4-BE49-F238E27FC236}">
                <a16:creationId xmlns:a16="http://schemas.microsoft.com/office/drawing/2014/main" id="{61E37705-387F-4654-A757-81D3816C1367}"/>
              </a:ext>
            </a:extLst>
          </p:cNvPr>
          <p:cNvSpPr>
            <a:spLocks xmlns:a="http://schemas.openxmlformats.org/drawingml/2006/main" noGrp="1"/>
          </p:cNvSpPr>
          <p:nvPr/>
        </p:nvSpPr>
        <p:spPr>
          <a:xfrm xmlns:a="http://schemas.openxmlformats.org/drawingml/2006/main">
            <a:off x="704850" y="3714750"/>
            <a:ext cx="64484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172D38"/>
                </a:solidFill>
                <a:latin typeface="Arial"/>
                <a:ea typeface="Arial"/>
                <a:cs typeface="Arial"/>
              </a:defRPr>
            </a:pPr>
            <a:r>
              <a:rPr sz="2625" b="0">
                <a:solidFill>
                  <a:srgbClr val="172D38"/>
                </a:solidFill>
                <a:latin typeface="Arial"/>
                <a:ea typeface="Arial"/>
                <a:cs typeface="Arial"/>
              </a:rPr>
              <a:t>Develop → Review</a:t>
            </a:r>
          </a:p>
        </p:txBody>
      </p:sp>
      <p:sp>
        <p:nvSpPr>
          <p:cNvPr id="13" name="QA findings">
            <a:extLst xmlns:a="http://schemas.openxmlformats.org/drawingml/2006/main">
              <a:ext uri="{FF2B5EF4-FFF2-40B4-BE49-F238E27FC236}">
                <a16:creationId xmlns:a16="http://schemas.microsoft.com/office/drawing/2014/main" id="{29B6F1F8-709C-4929-97C0-A8DD8DA89A77}"/>
              </a:ext>
            </a:extLst>
          </p:cNvPr>
          <p:cNvSpPr>
            <a:spLocks xmlns:a="http://schemas.openxmlformats.org/drawingml/2006/main" noGrp="1"/>
          </p:cNvSpPr>
          <p:nvPr/>
        </p:nvSpPr>
        <p:spPr>
          <a:xfrm xmlns:a="http://schemas.openxmlformats.org/drawingml/2006/main">
            <a:off x="704850" y="4505325"/>
            <a:ext cx="609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AE6800"/>
                </a:solidFill>
                <a:latin typeface="Arial"/>
                <a:ea typeface="Arial"/>
                <a:cs typeface="Arial"/>
              </a:defRPr>
            </a:pPr>
            <a:r>
              <a:rPr sz="2100" b="1">
                <a:solidFill>
                  <a:srgbClr val="AE6800"/>
                </a:solidFill>
                <a:latin typeface="Arial"/>
                <a:ea typeface="Arial"/>
                <a:cs typeface="Arial"/>
              </a:rPr>
              <a:t>QA findings</a:t>
            </a:r>
          </a:p>
        </p:txBody>
      </p:sp>
      <p:sp>
        <p:nvSpPr>
          <p:cNvPr id="14" name="Develop → Review → QA">
            <a:extLst xmlns:a="http://schemas.openxmlformats.org/drawingml/2006/main">
              <a:ext uri="{FF2B5EF4-FFF2-40B4-BE49-F238E27FC236}">
                <a16:creationId xmlns:a16="http://schemas.microsoft.com/office/drawing/2014/main" id="{A96DE18B-D319-416D-9D2D-EDD7A90F08E1}"/>
              </a:ext>
            </a:extLst>
          </p:cNvPr>
          <p:cNvSpPr>
            <a:spLocks xmlns:a="http://schemas.openxmlformats.org/drawingml/2006/main" noGrp="1"/>
          </p:cNvSpPr>
          <p:nvPr/>
        </p:nvSpPr>
        <p:spPr>
          <a:xfrm xmlns:a="http://schemas.openxmlformats.org/drawingml/2006/main">
            <a:off x="704850" y="5048250"/>
            <a:ext cx="6515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172D38"/>
                </a:solidFill>
                <a:latin typeface="Arial"/>
                <a:ea typeface="Arial"/>
                <a:cs typeface="Arial"/>
              </a:defRPr>
            </a:pPr>
            <a:r>
              <a:rPr sz="2625" b="0">
                <a:solidFill>
                  <a:srgbClr val="172D38"/>
                </a:solidFill>
                <a:latin typeface="Arial"/>
                <a:ea typeface="Arial"/>
                <a:cs typeface="Arial"/>
              </a:rPr>
              <a:t>Develop → Review → QA</a:t>
            </a:r>
          </a:p>
        </p:txBody>
      </p:sp>
      <p:sp>
        <p:nvSpPr>
          <p:cNvPr id="15" name="Rule 11">
            <a:extLst xmlns:a="http://schemas.openxmlformats.org/drawingml/2006/main">
              <a:ext uri="{FF2B5EF4-FFF2-40B4-BE49-F238E27FC236}">
                <a16:creationId xmlns:a16="http://schemas.microsoft.com/office/drawing/2014/main" id="{A961D93C-70E1-43E0-8DE6-F9A342960093}"/>
              </a:ext>
            </a:extLst>
          </p:cNvPr>
          <p:cNvSpPr>
            <a:spLocks xmlns:a="http://schemas.openxmlformats.org/drawingml/2006/main" noGrp="1"/>
          </p:cNvSpPr>
          <p:nvPr/>
        </p:nvSpPr>
        <p:spPr>
          <a:xfrm xmlns:a="http://schemas.openxmlformats.org/drawingml/2006/main">
            <a:off x="8001000" y="31432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008B84"/>
                </a:solidFill>
                <a:latin typeface="Arial"/>
                <a:ea typeface="Arial"/>
                <a:cs typeface="Arial"/>
              </a:defRPr>
            </a:pPr>
            <a:r>
              <a:rPr sz="2700" b="1">
                <a:solidFill>
                  <a:srgbClr val="008B84"/>
                </a:solidFill>
                <a:latin typeface="Arial"/>
                <a:ea typeface="Arial"/>
                <a:cs typeface="Arial"/>
              </a:rPr>
              <a:t>Rule 11</a:t>
            </a:r>
          </a:p>
        </p:txBody>
      </p:sp>
      <p:sp>
        <p:nvSpPr>
          <p:cNvPr id="16" name="Review QA fixes&#10;before retesting">
            <a:extLst xmlns:a="http://schemas.openxmlformats.org/drawingml/2006/main">
              <a:ext uri="{FF2B5EF4-FFF2-40B4-BE49-F238E27FC236}">
                <a16:creationId xmlns:a16="http://schemas.microsoft.com/office/drawing/2014/main" id="{F3937DFD-258C-4202-B8E2-A60E1EA304C1}"/>
              </a:ext>
            </a:extLst>
          </p:cNvPr>
          <p:cNvSpPr>
            <a:spLocks xmlns:a="http://schemas.openxmlformats.org/drawingml/2006/main" noGrp="1"/>
          </p:cNvSpPr>
          <p:nvPr/>
        </p:nvSpPr>
        <p:spPr>
          <a:xfrm xmlns:a="http://schemas.openxmlformats.org/drawingml/2006/main">
            <a:off x="8001000" y="3771900"/>
            <a:ext cx="3476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72D38"/>
                </a:solidFill>
                <a:latin typeface="Arial"/>
                <a:ea typeface="Arial"/>
                <a:cs typeface="Arial"/>
              </a:defRPr>
            </a:pPr>
            <a:r>
              <a:rPr sz="2400" b="0">
                <a:solidFill>
                  <a:srgbClr val="172D38"/>
                </a:solidFill>
                <a:latin typeface="Arial"/>
                <a:ea typeface="Arial"/>
                <a:cs typeface="Arial"/>
              </a:rPr>
              <a:t>Review QA fixes</a:t>
            </a:r>
          </a:p>
          <a:p xmlns:a="http://schemas.openxmlformats.org/drawingml/2006/main">
            <a:pPr algn="l">
              <a:defRPr sz="2400" b="0">
                <a:solidFill>
                  <a:srgbClr val="172D38"/>
                </a:solidFill>
                <a:latin typeface="Arial"/>
                <a:ea typeface="Arial"/>
                <a:cs typeface="Arial"/>
              </a:defRPr>
            </a:pPr>
            <a:r>
              <a:rPr sz="2400" b="0">
                <a:solidFill>
                  <a:srgbClr val="172D38"/>
                </a:solidFill>
                <a:latin typeface="Arial"/>
                <a:ea typeface="Arial"/>
                <a:cs typeface="Arial"/>
              </a:rPr>
              <a:t>before retesting</a:t>
            </a:r>
          </a:p>
        </p:txBody>
      </p:sp>
      <p:sp>
        <p:nvSpPr>
          <p:cNvPr id="17" name="Added 26 August 2026">
            <a:extLst xmlns:a="http://schemas.openxmlformats.org/drawingml/2006/main">
              <a:ext uri="{FF2B5EF4-FFF2-40B4-BE49-F238E27FC236}">
                <a16:creationId xmlns:a16="http://schemas.microsoft.com/office/drawing/2014/main" id="{1662CFB1-9477-49C1-97E6-6CFC317A17D9}"/>
              </a:ext>
            </a:extLst>
          </p:cNvPr>
          <p:cNvSpPr>
            <a:spLocks xmlns:a="http://schemas.openxmlformats.org/drawingml/2006/main" noGrp="1"/>
          </p:cNvSpPr>
          <p:nvPr/>
        </p:nvSpPr>
        <p:spPr>
          <a:xfrm xmlns:a="http://schemas.openxmlformats.org/drawingml/2006/main">
            <a:off x="8001000" y="5200650"/>
            <a:ext cx="350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Added 26 August 2026</a:t>
            </a:r>
          </a:p>
        </p:txBody>
      </p:sp>
      <p:sp>
        <p:nvSpPr>
          <p:cNvPr id="18" name="Up to 3 iterations per repair loop, then escalate unresolved">
            <a:extLst xmlns:a="http://schemas.openxmlformats.org/drawingml/2006/main">
              <a:ext uri="{FF2B5EF4-FFF2-40B4-BE49-F238E27FC236}">
                <a16:creationId xmlns:a16="http://schemas.microsoft.com/office/drawing/2014/main" id="{C9C059DA-B3E0-42EE-8EA3-C804982890B8}"/>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Up to 3 iterations per repair loop, then escalate unresolved blockers. These are prompt instructions.</a:t>
            </a:r>
          </a:p>
        </p:txBody>
      </p:sp>
    </p:spTree>
    <p:extLst>
      <p:ext uri="{BB962C8B-B14F-4D97-AF65-F5344CB8AC3E}">
        <p14:creationId xmlns:p14="http://schemas.microsoft.com/office/powerpoint/2010/main" val="2016938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32 new tests. One delivery route.">
            <a:extLst xmlns:a="http://schemas.openxmlformats.org/drawingml/2006/main">
              <a:ext uri="{FF2B5EF4-FFF2-40B4-BE49-F238E27FC236}">
                <a16:creationId xmlns:a16="http://schemas.microsoft.com/office/drawing/2014/main" id="{4E32197D-5085-4316-B811-519886D95899}"/>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32 new tests. One delivery route.</a:t>
            </a:r>
          </a:p>
        </p:txBody>
      </p:sp>
      <p:sp>
        <p:nvSpPr>
          <p:cNvPr id="2" name="PR #198 · ProgressStore and TestSession coverage">
            <a:extLst xmlns:a="http://schemas.openxmlformats.org/drawingml/2006/main">
              <a:ext uri="{FF2B5EF4-FFF2-40B4-BE49-F238E27FC236}">
                <a16:creationId xmlns:a16="http://schemas.microsoft.com/office/drawing/2014/main" id="{D142F64A-807B-4281-8109-49B2389651F8}"/>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PR #198 · ProgressStore and TestSession coverage</a:t>
            </a:r>
          </a:p>
        </p:txBody>
      </p:sp>
      <p:sp>
        <p:nvSpPr>
          <p:cNvPr id="3" name="06">
            <a:extLst xmlns:a="http://schemas.openxmlformats.org/drawingml/2006/main">
              <a:ext uri="{FF2B5EF4-FFF2-40B4-BE49-F238E27FC236}">
                <a16:creationId xmlns:a16="http://schemas.microsoft.com/office/drawing/2014/main" id="{C6BC7B39-4F67-4ACF-9B85-08DF2185F2C8}"/>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06</a:t>
            </a:r>
          </a:p>
        </p:txBody>
      </p:sp>
      <p:sp>
        <p:nvSpPr>
          <p:cNvPr id="4" name="Plan">
            <a:extLst xmlns:a="http://schemas.openxmlformats.org/drawingml/2006/main">
              <a:ext uri="{FF2B5EF4-FFF2-40B4-BE49-F238E27FC236}">
                <a16:creationId xmlns:a16="http://schemas.microsoft.com/office/drawing/2014/main" id="{20B60202-FFF5-4512-89F4-81633A32CB39}"/>
              </a:ext>
            </a:extLst>
          </p:cNvPr>
          <p:cNvSpPr>
            <a:spLocks xmlns:a="http://schemas.openxmlformats.org/drawingml/2006/main" noGrp="1"/>
          </p:cNvSpPr>
          <p:nvPr/>
        </p:nvSpPr>
        <p:spPr>
          <a:xfrm xmlns:a="http://schemas.openxmlformats.org/drawingml/2006/main">
            <a:off x="70485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Plan</a:t>
            </a:r>
          </a:p>
        </p:txBody>
      </p:sp>
      <p:sp>
        <p:nvSpPr>
          <p:cNvPr id="5" name="Develop">
            <a:extLst xmlns:a="http://schemas.openxmlformats.org/drawingml/2006/main">
              <a:ext uri="{FF2B5EF4-FFF2-40B4-BE49-F238E27FC236}">
                <a16:creationId xmlns:a16="http://schemas.microsoft.com/office/drawing/2014/main" id="{DB864857-2563-4E5B-A3A8-6254D4EFDC2F}"/>
              </a:ext>
            </a:extLst>
          </p:cNvPr>
          <p:cNvSpPr>
            <a:spLocks xmlns:a="http://schemas.openxmlformats.org/drawingml/2006/main" noGrp="1"/>
          </p:cNvSpPr>
          <p:nvPr/>
        </p:nvSpPr>
        <p:spPr>
          <a:xfrm xmlns:a="http://schemas.openxmlformats.org/drawingml/2006/main">
            <a:off x="350520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Develop</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1242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7" name="Review">
            <a:extLst xmlns:a="http://schemas.openxmlformats.org/drawingml/2006/main">
              <a:ext uri="{FF2B5EF4-FFF2-40B4-BE49-F238E27FC236}">
                <a16:creationId xmlns:a16="http://schemas.microsoft.com/office/drawing/2014/main" id="{A4473E84-351E-497A-B583-1FE1D2519EE9}"/>
              </a:ext>
            </a:extLst>
          </p:cNvPr>
          <p:cNvSpPr>
            <a:spLocks xmlns:a="http://schemas.openxmlformats.org/drawingml/2006/main" noGrp="1"/>
          </p:cNvSpPr>
          <p:nvPr/>
        </p:nvSpPr>
        <p:spPr>
          <a:xfrm xmlns:a="http://schemas.openxmlformats.org/drawingml/2006/main">
            <a:off x="630555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Review</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592455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9" name="QA">
            <a:extLst xmlns:a="http://schemas.openxmlformats.org/drawingml/2006/main">
              <a:ext uri="{FF2B5EF4-FFF2-40B4-BE49-F238E27FC236}">
                <a16:creationId xmlns:a16="http://schemas.microsoft.com/office/drawing/2014/main" id="{C9225758-BE26-47EC-8977-E76E408FE0DC}"/>
              </a:ext>
            </a:extLst>
          </p:cNvPr>
          <p:cNvSpPr>
            <a:spLocks xmlns:a="http://schemas.openxmlformats.org/drawingml/2006/main" noGrp="1"/>
          </p:cNvSpPr>
          <p:nvPr/>
        </p:nvSpPr>
        <p:spPr>
          <a:xfrm xmlns:a="http://schemas.openxmlformats.org/drawingml/2006/main">
            <a:off x="910590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QA</a:t>
            </a:r>
          </a:p>
        </p:txBody>
      </p:sp>
      <p:cxnSp>
        <p:nvCxnSpPr>
          <p:cNvPr id="25" name=""/>
          <p:cNvCxnSpPr>
            <a:stCxn xmlns:a="http://schemas.openxmlformats.org/drawingml/2006/main" id="7" idx="3"/>
            <a:endCxn xmlns:a="http://schemas.openxmlformats.org/drawingml/2006/main" id="9" idx="1"/>
          </p:cNvCxnSpPr>
          <p:nvPr/>
        </p:nvCxnSpPr>
        <p:spPr>
          <a:xfrm xmlns:a="http://schemas.openxmlformats.org/drawingml/2006/main">
            <a:off x="87249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11" name="125 → 157">
            <a:extLst xmlns:a="http://schemas.openxmlformats.org/drawingml/2006/main">
              <a:ext uri="{FF2B5EF4-FFF2-40B4-BE49-F238E27FC236}">
                <a16:creationId xmlns:a16="http://schemas.microsoft.com/office/drawing/2014/main" id="{26D1D232-FBEF-4FD3-AF15-4B35676B79FC}"/>
              </a:ext>
            </a:extLst>
          </p:cNvPr>
          <p:cNvSpPr>
            <a:spLocks xmlns:a="http://schemas.openxmlformats.org/drawingml/2006/main" noGrp="1"/>
          </p:cNvSpPr>
          <p:nvPr/>
        </p:nvSpPr>
        <p:spPr>
          <a:xfrm xmlns:a="http://schemas.openxmlformats.org/drawingml/2006/main">
            <a:off x="704850" y="3219450"/>
            <a:ext cx="62865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5100" b="1">
                <a:solidFill>
                  <a:srgbClr val="008B84"/>
                </a:solidFill>
                <a:latin typeface="Arial"/>
                <a:ea typeface="Arial"/>
                <a:cs typeface="Arial"/>
              </a:defRPr>
            </a:pPr>
            <a:r>
              <a:rPr sz="5100" b="1">
                <a:solidFill>
                  <a:srgbClr val="008B84"/>
                </a:solidFill>
                <a:latin typeface="Arial"/>
                <a:ea typeface="Arial"/>
                <a:cs typeface="Arial"/>
              </a:rPr>
              <a:t>125 → 157</a:t>
            </a:r>
          </a:p>
        </p:txBody>
      </p:sp>
      <p:sp>
        <p:nvSpPr>
          <p:cNvPr id="12" name="Tests for cumulative progress&#10;and terminal session paths">
            <a:extLst xmlns:a="http://schemas.openxmlformats.org/drawingml/2006/main">
              <a:ext uri="{FF2B5EF4-FFF2-40B4-BE49-F238E27FC236}">
                <a16:creationId xmlns:a16="http://schemas.microsoft.com/office/drawing/2014/main" id="{594E258A-EE55-43A4-8A8F-03A21EFE4243}"/>
              </a:ext>
            </a:extLst>
          </p:cNvPr>
          <p:cNvSpPr>
            <a:spLocks xmlns:a="http://schemas.openxmlformats.org/drawingml/2006/main" noGrp="1"/>
          </p:cNvSpPr>
          <p:nvPr/>
        </p:nvSpPr>
        <p:spPr>
          <a:xfrm xmlns:a="http://schemas.openxmlformats.org/drawingml/2006/main">
            <a:off x="704850" y="4352925"/>
            <a:ext cx="609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Tests for cumulative progress</a:t>
            </a:r>
          </a:p>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and terminal session paths</a:t>
            </a:r>
          </a:p>
        </p:txBody>
      </p:sp>
      <p:sp>
        <p:nvSpPr>
          <p:cNvPr id="13" name="Scope">
            <a:extLst xmlns:a="http://schemas.openxmlformats.org/drawingml/2006/main">
              <a:ext uri="{FF2B5EF4-FFF2-40B4-BE49-F238E27FC236}">
                <a16:creationId xmlns:a16="http://schemas.microsoft.com/office/drawing/2014/main" id="{7CD1780D-C39C-4361-BD78-255C4F596AC4}"/>
              </a:ext>
            </a:extLst>
          </p:cNvPr>
          <p:cNvSpPr>
            <a:spLocks xmlns:a="http://schemas.openxmlformats.org/drawingml/2006/main" noGrp="1"/>
          </p:cNvSpPr>
          <p:nvPr/>
        </p:nvSpPr>
        <p:spPr>
          <a:xfrm xmlns:a="http://schemas.openxmlformats.org/drawingml/2006/main">
            <a:off x="7972425" y="3267075"/>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8B84"/>
                </a:solidFill>
                <a:latin typeface="Arial"/>
                <a:ea typeface="Arial"/>
                <a:cs typeface="Arial"/>
              </a:defRPr>
            </a:pPr>
            <a:r>
              <a:rPr sz="2250" b="1">
                <a:solidFill>
                  <a:srgbClr val="008B84"/>
                </a:solidFill>
                <a:latin typeface="Arial"/>
                <a:ea typeface="Arial"/>
                <a:cs typeface="Arial"/>
              </a:rPr>
              <a:t>Scope</a:t>
            </a:r>
          </a:p>
        </p:txBody>
      </p:sp>
      <p:sp>
        <p:nvSpPr>
          <p:cNvPr id="14" name="Tests + project profile&#10;No application code changes">
            <a:extLst xmlns:a="http://schemas.openxmlformats.org/drawingml/2006/main">
              <a:ext uri="{FF2B5EF4-FFF2-40B4-BE49-F238E27FC236}">
                <a16:creationId xmlns:a16="http://schemas.microsoft.com/office/drawing/2014/main" id="{77113433-9A46-4C23-AE2E-646BDFCD7B3B}"/>
              </a:ext>
            </a:extLst>
          </p:cNvPr>
          <p:cNvSpPr>
            <a:spLocks xmlns:a="http://schemas.openxmlformats.org/drawingml/2006/main" noGrp="1"/>
          </p:cNvSpPr>
          <p:nvPr/>
        </p:nvSpPr>
        <p:spPr>
          <a:xfrm xmlns:a="http://schemas.openxmlformats.org/drawingml/2006/main">
            <a:off x="7972425" y="3886200"/>
            <a:ext cx="3524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Tests + project profile</a:t>
            </a:r>
          </a:p>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No application code changes</a:t>
            </a:r>
          </a:p>
        </p:txBody>
      </p:sp>
      <p:sp>
        <p:nvSpPr>
          <p:cNvPr id="15" name="The historical run used role agents. The current skill packa">
            <a:extLst xmlns:a="http://schemas.openxmlformats.org/drawingml/2006/main">
              <a:ext uri="{FF2B5EF4-FFF2-40B4-BE49-F238E27FC236}">
                <a16:creationId xmlns:a16="http://schemas.microsoft.com/office/drawing/2014/main" id="{6557D6F3-ED04-4C6F-A090-F010AF3284C8}"/>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The historical run used role agents. The current skill packaging appears later in this talk.</a:t>
            </a:r>
          </a:p>
        </p:txBody>
      </p:sp>
    </p:spTree>
    <p:extLst>
      <p:ext uri="{BB962C8B-B14F-4D97-AF65-F5344CB8AC3E}">
        <p14:creationId xmlns:p14="http://schemas.microsoft.com/office/powerpoint/2010/main" val="10649661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Review improved the patch">
            <a:extLst xmlns:a="http://schemas.openxmlformats.org/drawingml/2006/main">
              <a:ext uri="{FF2B5EF4-FFF2-40B4-BE49-F238E27FC236}">
                <a16:creationId xmlns:a16="http://schemas.microsoft.com/office/drawing/2014/main" id="{66FDC428-CEFA-48F5-BA1C-530B2E9F391C}"/>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Review improved the patch</a:t>
            </a:r>
          </a:p>
        </p:txBody>
      </p:sp>
      <p:sp>
        <p:nvSpPr>
          <p:cNvPr id="2" name="Two review passes before the first QA pass">
            <a:extLst xmlns:a="http://schemas.openxmlformats.org/drawingml/2006/main">
              <a:ext uri="{FF2B5EF4-FFF2-40B4-BE49-F238E27FC236}">
                <a16:creationId xmlns:a16="http://schemas.microsoft.com/office/drawing/2014/main" id="{3CABC009-EBC2-4D51-81B2-A511BCE52B80}"/>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Two review passes before the first QA pass</a:t>
            </a:r>
          </a:p>
        </p:txBody>
      </p:sp>
      <p:sp>
        <p:nvSpPr>
          <p:cNvPr id="3" name="07">
            <a:extLst xmlns:a="http://schemas.openxmlformats.org/drawingml/2006/main">
              <a:ext uri="{FF2B5EF4-FFF2-40B4-BE49-F238E27FC236}">
                <a16:creationId xmlns:a16="http://schemas.microsoft.com/office/drawing/2014/main" id="{E0A66B6A-D01D-46ED-AE00-9EB6E4538F6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07</a:t>
            </a:r>
          </a:p>
        </p:txBody>
      </p:sp>
      <p:sp>
        <p:nvSpPr>
          <p:cNvPr id="4" name="Plan">
            <a:extLst xmlns:a="http://schemas.openxmlformats.org/drawingml/2006/main">
              <a:ext uri="{FF2B5EF4-FFF2-40B4-BE49-F238E27FC236}">
                <a16:creationId xmlns:a16="http://schemas.microsoft.com/office/drawing/2014/main" id="{63EE5AB2-4ABA-4063-AA88-DE40B7EEEC81}"/>
              </a:ext>
            </a:extLst>
          </p:cNvPr>
          <p:cNvSpPr>
            <a:spLocks xmlns:a="http://schemas.openxmlformats.org/drawingml/2006/main" noGrp="1"/>
          </p:cNvSpPr>
          <p:nvPr/>
        </p:nvSpPr>
        <p:spPr>
          <a:xfrm xmlns:a="http://schemas.openxmlformats.org/drawingml/2006/main">
            <a:off x="70485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Plan</a:t>
            </a:r>
          </a:p>
        </p:txBody>
      </p:sp>
      <p:sp>
        <p:nvSpPr>
          <p:cNvPr id="5" name="Develop">
            <a:extLst xmlns:a="http://schemas.openxmlformats.org/drawingml/2006/main">
              <a:ext uri="{FF2B5EF4-FFF2-40B4-BE49-F238E27FC236}">
                <a16:creationId xmlns:a16="http://schemas.microsoft.com/office/drawing/2014/main" id="{A7C6F898-9F5A-47AA-9CF7-BBA2692511C8}"/>
              </a:ext>
            </a:extLst>
          </p:cNvPr>
          <p:cNvSpPr>
            <a:spLocks xmlns:a="http://schemas.openxmlformats.org/drawingml/2006/main" noGrp="1"/>
          </p:cNvSpPr>
          <p:nvPr/>
        </p:nvSpPr>
        <p:spPr>
          <a:xfrm xmlns:a="http://schemas.openxmlformats.org/drawingml/2006/main">
            <a:off x="350520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Develop</a:t>
            </a:r>
          </a:p>
        </p:txBody>
      </p: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31242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7" name="Review">
            <a:extLst xmlns:a="http://schemas.openxmlformats.org/drawingml/2006/main">
              <a:ext uri="{FF2B5EF4-FFF2-40B4-BE49-F238E27FC236}">
                <a16:creationId xmlns:a16="http://schemas.microsoft.com/office/drawing/2014/main" id="{FCEA5242-D90B-43FA-B3EC-F24D7DB395C4}"/>
              </a:ext>
            </a:extLst>
          </p:cNvPr>
          <p:cNvSpPr>
            <a:spLocks xmlns:a="http://schemas.openxmlformats.org/drawingml/2006/main" noGrp="1"/>
          </p:cNvSpPr>
          <p:nvPr/>
        </p:nvSpPr>
        <p:spPr>
          <a:xfrm xmlns:a="http://schemas.openxmlformats.org/drawingml/2006/main">
            <a:off x="630555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Review</a:t>
            </a:r>
          </a:p>
        </p:txBody>
      </p:sp>
      <p:cxnSp>
        <p:nvCxnSpPr>
          <p:cNvPr id="25" name=""/>
          <p:cNvCxnSpPr>
            <a:stCxn xmlns:a="http://schemas.openxmlformats.org/drawingml/2006/main" id="5" idx="3"/>
            <a:endCxn xmlns:a="http://schemas.openxmlformats.org/drawingml/2006/main" id="7" idx="1"/>
          </p:cNvCxnSpPr>
          <p:nvPr/>
        </p:nvCxnSpPr>
        <p:spPr>
          <a:xfrm xmlns:a="http://schemas.openxmlformats.org/drawingml/2006/main">
            <a:off x="592455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9" name="QA">
            <a:extLst xmlns:a="http://schemas.openxmlformats.org/drawingml/2006/main">
              <a:ext uri="{FF2B5EF4-FFF2-40B4-BE49-F238E27FC236}">
                <a16:creationId xmlns:a16="http://schemas.microsoft.com/office/drawing/2014/main" id="{1D9F4922-1220-4F12-969C-DFED3969B313}"/>
              </a:ext>
            </a:extLst>
          </p:cNvPr>
          <p:cNvSpPr>
            <a:spLocks xmlns:a="http://schemas.openxmlformats.org/drawingml/2006/main" noGrp="1"/>
          </p:cNvSpPr>
          <p:nvPr/>
        </p:nvSpPr>
        <p:spPr>
          <a:xfrm xmlns:a="http://schemas.openxmlformats.org/drawingml/2006/main">
            <a:off x="910590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QA</a:t>
            </a:r>
          </a:p>
        </p:txBody>
      </p:sp>
      <p:cxnSp>
        <p:nvCxnSpPr>
          <p:cNvPr id="27" name=""/>
          <p:cNvCxnSpPr>
            <a:stCxn xmlns:a="http://schemas.openxmlformats.org/drawingml/2006/main" id="7" idx="3"/>
            <a:endCxn xmlns:a="http://schemas.openxmlformats.org/drawingml/2006/main" id="9" idx="1"/>
          </p:cNvCxnSpPr>
          <p:nvPr/>
        </p:nvCxnSpPr>
        <p:spPr>
          <a:xfrm xmlns:a="http://schemas.openxmlformats.org/drawingml/2006/main">
            <a:off x="87249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11" name="Review 1">
            <a:extLst xmlns:a="http://schemas.openxmlformats.org/drawingml/2006/main">
              <a:ext uri="{FF2B5EF4-FFF2-40B4-BE49-F238E27FC236}">
                <a16:creationId xmlns:a16="http://schemas.microsoft.com/office/drawing/2014/main" id="{D2D9009D-50EB-4F92-9416-D0C94A544E88}"/>
              </a:ext>
            </a:extLst>
          </p:cNvPr>
          <p:cNvSpPr>
            <a:spLocks xmlns:a="http://schemas.openxmlformats.org/drawingml/2006/main" noGrp="1"/>
          </p:cNvSpPr>
          <p:nvPr/>
        </p:nvSpPr>
        <p:spPr>
          <a:xfrm xmlns:a="http://schemas.openxmlformats.org/drawingml/2006/main">
            <a:off x="704850" y="3048000"/>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008B84"/>
                </a:solidFill>
                <a:latin typeface="Arial"/>
                <a:ea typeface="Arial"/>
                <a:cs typeface="Arial"/>
              </a:defRPr>
            </a:pPr>
            <a:r>
              <a:rPr sz="2400" b="1">
                <a:solidFill>
                  <a:srgbClr val="008B84"/>
                </a:solidFill>
                <a:latin typeface="Arial"/>
                <a:ea typeface="Arial"/>
                <a:cs typeface="Arial"/>
              </a:rPr>
              <a:t>Review 1</a:t>
            </a:r>
          </a:p>
        </p:txBody>
      </p:sp>
      <p:sp>
        <p:nvSpPr>
          <p:cNvPr id="12" name="Conditional approval&#10;with quality findings">
            <a:extLst xmlns:a="http://schemas.openxmlformats.org/drawingml/2006/main">
              <a:ext uri="{FF2B5EF4-FFF2-40B4-BE49-F238E27FC236}">
                <a16:creationId xmlns:a16="http://schemas.microsoft.com/office/drawing/2014/main" id="{FD5F07E1-B7B2-4570-BEDC-93472F5F49FC}"/>
              </a:ext>
            </a:extLst>
          </p:cNvPr>
          <p:cNvSpPr>
            <a:spLocks xmlns:a="http://schemas.openxmlformats.org/drawingml/2006/main" noGrp="1"/>
          </p:cNvSpPr>
          <p:nvPr/>
        </p:nvSpPr>
        <p:spPr>
          <a:xfrm xmlns:a="http://schemas.openxmlformats.org/drawingml/2006/main">
            <a:off x="704850" y="3648075"/>
            <a:ext cx="4619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72D38"/>
                </a:solidFill>
                <a:latin typeface="Arial"/>
                <a:ea typeface="Arial"/>
                <a:cs typeface="Arial"/>
              </a:defRPr>
            </a:pPr>
            <a:r>
              <a:rPr sz="2400" b="0">
                <a:solidFill>
                  <a:srgbClr val="172D38"/>
                </a:solidFill>
                <a:latin typeface="Arial"/>
                <a:ea typeface="Arial"/>
                <a:cs typeface="Arial"/>
              </a:rPr>
              <a:t>Conditional approval</a:t>
            </a:r>
          </a:p>
          <a:p xmlns:a="http://schemas.openxmlformats.org/drawingml/2006/main">
            <a:pPr algn="l">
              <a:defRPr sz="2400" b="0">
                <a:solidFill>
                  <a:srgbClr val="172D38"/>
                </a:solidFill>
                <a:latin typeface="Arial"/>
                <a:ea typeface="Arial"/>
                <a:cs typeface="Arial"/>
              </a:defRPr>
            </a:pPr>
            <a:r>
              <a:rPr sz="2400" b="0">
                <a:solidFill>
                  <a:srgbClr val="172D38"/>
                </a:solidFill>
                <a:latin typeface="Arial"/>
                <a:ea typeface="Arial"/>
                <a:cs typeface="Arial"/>
              </a:rPr>
              <a:t>with quality findings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9ca7b93dc674026"/>
          <a:srcRect xmlns:a="http://schemas.openxmlformats.org/drawingml/2006/main" l="9567" t="11545" r="32024" b="82973"/>
          <a:stretch xmlns:a="http://schemas.openxmlformats.org/drawingml/2006/main"/>
        </p:blipFill>
        <p:spPr>
          <a:xfrm xmlns:a="http://schemas.openxmlformats.org/drawingml/2006/main">
            <a:off x="704850" y="4686300"/>
            <a:ext cx="4876800" cy="554946"/>
          </a:xfrm>
          <a:prstGeom xmlns:a="http://schemas.openxmlformats.org/drawingml/2006/main" prst="rect">
            <a:avLst/>
          </a:prstGeom>
        </p:spPr>
      </p:pic>
      <p:sp>
        <p:nvSpPr>
          <p:cNvPr id="14" name="Review 2">
            <a:extLst xmlns:a="http://schemas.openxmlformats.org/drawingml/2006/main">
              <a:ext uri="{FF2B5EF4-FFF2-40B4-BE49-F238E27FC236}">
                <a16:creationId xmlns:a16="http://schemas.microsoft.com/office/drawing/2014/main" id="{61A38C65-ECED-479D-9112-332A3D339580}"/>
              </a:ext>
            </a:extLst>
          </p:cNvPr>
          <p:cNvSpPr>
            <a:spLocks xmlns:a="http://schemas.openxmlformats.org/drawingml/2006/main" noGrp="1"/>
          </p:cNvSpPr>
          <p:nvPr/>
        </p:nvSpPr>
        <p:spPr>
          <a:xfrm xmlns:a="http://schemas.openxmlformats.org/drawingml/2006/main">
            <a:off x="6543675" y="3048000"/>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008B84"/>
                </a:solidFill>
                <a:latin typeface="Arial"/>
                <a:ea typeface="Arial"/>
                <a:cs typeface="Arial"/>
              </a:defRPr>
            </a:pPr>
            <a:r>
              <a:rPr sz="2400" b="1">
                <a:solidFill>
                  <a:srgbClr val="008B84"/>
                </a:solidFill>
                <a:latin typeface="Arial"/>
                <a:ea typeface="Arial"/>
                <a:cs typeface="Arial"/>
              </a:rPr>
              <a:t>Review 2</a:t>
            </a:r>
          </a:p>
        </p:txBody>
      </p:sp>
      <p:sp>
        <p:nvSpPr>
          <p:cNvPr id="15" name="Developer follow-up&#10;then APPROVAL">
            <a:extLst xmlns:a="http://schemas.openxmlformats.org/drawingml/2006/main">
              <a:ext uri="{FF2B5EF4-FFF2-40B4-BE49-F238E27FC236}">
                <a16:creationId xmlns:a16="http://schemas.microsoft.com/office/drawing/2014/main" id="{113DE8CA-56C4-4244-9CCF-4F093D551FD2}"/>
              </a:ext>
            </a:extLst>
          </p:cNvPr>
          <p:cNvSpPr>
            <a:spLocks xmlns:a="http://schemas.openxmlformats.org/drawingml/2006/main" noGrp="1"/>
          </p:cNvSpPr>
          <p:nvPr/>
        </p:nvSpPr>
        <p:spPr>
          <a:xfrm xmlns:a="http://schemas.openxmlformats.org/drawingml/2006/main">
            <a:off x="6543675" y="364807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72D38"/>
                </a:solidFill>
                <a:latin typeface="Arial"/>
                <a:ea typeface="Arial"/>
                <a:cs typeface="Arial"/>
              </a:defRPr>
            </a:pPr>
            <a:r>
              <a:rPr sz="2400" b="0">
                <a:solidFill>
                  <a:srgbClr val="172D38"/>
                </a:solidFill>
                <a:latin typeface="Arial"/>
                <a:ea typeface="Arial"/>
                <a:cs typeface="Arial"/>
              </a:rPr>
              <a:t>Developer follow-up</a:t>
            </a:r>
          </a:p>
          <a:p xmlns:a="http://schemas.openxmlformats.org/drawingml/2006/main">
            <a:pPr algn="l">
              <a:defRPr sz="2400" b="0">
                <a:solidFill>
                  <a:srgbClr val="172D38"/>
                </a:solidFill>
                <a:latin typeface="Arial"/>
                <a:ea typeface="Arial"/>
                <a:cs typeface="Arial"/>
              </a:defRPr>
            </a:pPr>
            <a:r>
              <a:rPr sz="2400" b="0">
                <a:solidFill>
                  <a:srgbClr val="172D38"/>
                </a:solidFill>
                <a:latin typeface="Arial"/>
                <a:ea typeface="Arial"/>
                <a:cs typeface="Arial"/>
              </a:rPr>
              <a:t>then APPROVAL</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165df02cece45be"/>
          <a:srcRect xmlns:a="http://schemas.openxmlformats.org/drawingml/2006/main" l="9265" t="11877" r="31923" b="76827"/>
          <a:stretch xmlns:a="http://schemas.openxmlformats.org/drawingml/2006/main"/>
        </p:blipFill>
        <p:spPr>
          <a:xfrm xmlns:a="http://schemas.openxmlformats.org/drawingml/2006/main">
            <a:off x="6543675" y="4629150"/>
            <a:ext cx="4895850" cy="1140129"/>
          </a:xfrm>
          <a:prstGeom xmlns:a="http://schemas.openxmlformats.org/drawingml/2006/main" prst="rect">
            <a:avLst/>
          </a:prstGeom>
        </p:spPr>
      </p:pic>
      <p:sp>
        <p:nvSpPr>
          <p:cNvPr id="17" name="The first review was not BLOCKED. QA made the later blocking">
            <a:extLst xmlns:a="http://schemas.openxmlformats.org/drawingml/2006/main">
              <a:ext uri="{FF2B5EF4-FFF2-40B4-BE49-F238E27FC236}">
                <a16:creationId xmlns:a16="http://schemas.microsoft.com/office/drawing/2014/main" id="{DDDD23FE-8ADE-4859-B51B-FA00FE47FC46}"/>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The first review was not BLOCKED. QA made the later blocking decision.</a:t>
            </a:r>
          </a:p>
        </p:txBody>
      </p:sp>
    </p:spTree>
    <p:extLst>
      <p:ext uri="{BB962C8B-B14F-4D97-AF65-F5344CB8AC3E}">
        <p14:creationId xmlns:p14="http://schemas.microsoft.com/office/powerpoint/2010/main" val="5095005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Green tests. Weak evidence.">
            <a:extLst xmlns:a="http://schemas.openxmlformats.org/drawingml/2006/main">
              <a:ext uri="{FF2B5EF4-FFF2-40B4-BE49-F238E27FC236}">
                <a16:creationId xmlns:a16="http://schemas.microsoft.com/office/drawing/2014/main" id="{FE857B0E-CC6D-45D5-81CC-35D51E4657E5}"/>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Green tests. Weak evidence.</a:t>
            </a:r>
          </a:p>
        </p:txBody>
      </p:sp>
      <p:sp>
        <p:nvSpPr>
          <p:cNvPr id="2" name="QA Pass 1: BLOCKED on three in-scope findings">
            <a:extLst xmlns:a="http://schemas.openxmlformats.org/drawingml/2006/main">
              <a:ext uri="{FF2B5EF4-FFF2-40B4-BE49-F238E27FC236}">
                <a16:creationId xmlns:a16="http://schemas.microsoft.com/office/drawing/2014/main" id="{796D53B6-D5FB-4360-B4FA-50124CEBFC24}"/>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QA Pass 1: BLOCKED on three in-scope findings</a:t>
            </a:r>
          </a:p>
        </p:txBody>
      </p:sp>
      <p:sp>
        <p:nvSpPr>
          <p:cNvPr id="3" name="08">
            <a:extLst xmlns:a="http://schemas.openxmlformats.org/drawingml/2006/main">
              <a:ext uri="{FF2B5EF4-FFF2-40B4-BE49-F238E27FC236}">
                <a16:creationId xmlns:a16="http://schemas.microsoft.com/office/drawing/2014/main" id="{6C3D2724-800F-406F-8050-98D4FC836B56}"/>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08</a:t>
            </a:r>
          </a:p>
        </p:txBody>
      </p:sp>
      <p:sp>
        <p:nvSpPr>
          <p:cNvPr id="4" name="Plan">
            <a:extLst xmlns:a="http://schemas.openxmlformats.org/drawingml/2006/main">
              <a:ext uri="{FF2B5EF4-FFF2-40B4-BE49-F238E27FC236}">
                <a16:creationId xmlns:a16="http://schemas.microsoft.com/office/drawing/2014/main" id="{52005541-2AA5-49BD-88B2-879797506127}"/>
              </a:ext>
            </a:extLst>
          </p:cNvPr>
          <p:cNvSpPr>
            <a:spLocks xmlns:a="http://schemas.openxmlformats.org/drawingml/2006/main" noGrp="1"/>
          </p:cNvSpPr>
          <p:nvPr/>
        </p:nvSpPr>
        <p:spPr>
          <a:xfrm xmlns:a="http://schemas.openxmlformats.org/drawingml/2006/main">
            <a:off x="70485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Plan</a:t>
            </a:r>
          </a:p>
        </p:txBody>
      </p:sp>
      <p:sp>
        <p:nvSpPr>
          <p:cNvPr id="5" name="Develop">
            <a:extLst xmlns:a="http://schemas.openxmlformats.org/drawingml/2006/main">
              <a:ext uri="{FF2B5EF4-FFF2-40B4-BE49-F238E27FC236}">
                <a16:creationId xmlns:a16="http://schemas.microsoft.com/office/drawing/2014/main" id="{434F80B8-20E0-4CB5-8E1E-4D221455DA36}"/>
              </a:ext>
            </a:extLst>
          </p:cNvPr>
          <p:cNvSpPr>
            <a:spLocks xmlns:a="http://schemas.openxmlformats.org/drawingml/2006/main" noGrp="1"/>
          </p:cNvSpPr>
          <p:nvPr/>
        </p:nvSpPr>
        <p:spPr>
          <a:xfrm xmlns:a="http://schemas.openxmlformats.org/drawingml/2006/main">
            <a:off x="350520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Develop</a:t>
            </a:r>
          </a:p>
        </p:txBody>
      </p: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31242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7" name="Review">
            <a:extLst xmlns:a="http://schemas.openxmlformats.org/drawingml/2006/main">
              <a:ext uri="{FF2B5EF4-FFF2-40B4-BE49-F238E27FC236}">
                <a16:creationId xmlns:a16="http://schemas.microsoft.com/office/drawing/2014/main" id="{CC47E045-F9EC-4FD1-86B4-5AFBC9018899}"/>
              </a:ext>
            </a:extLst>
          </p:cNvPr>
          <p:cNvSpPr>
            <a:spLocks xmlns:a="http://schemas.openxmlformats.org/drawingml/2006/main" noGrp="1"/>
          </p:cNvSpPr>
          <p:nvPr/>
        </p:nvSpPr>
        <p:spPr>
          <a:xfrm xmlns:a="http://schemas.openxmlformats.org/drawingml/2006/main">
            <a:off x="6305550" y="2038350"/>
            <a:ext cx="2419350" cy="609600"/>
          </a:xfrm>
          <a:prstGeom xmlns:a="http://schemas.openxmlformats.org/drawingml/2006/main" prst="rect">
            <a:avLst/>
          </a:prstGeom>
          <a:solidFill xmlns:a="http://schemas.openxmlformats.org/drawingml/2006/main">
            <a:srgbClr val="F7F9FA"/>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566E7B"/>
                </a:solidFill>
                <a:latin typeface="Arial"/>
                <a:ea typeface="Arial"/>
                <a:cs typeface="Arial"/>
              </a:defRPr>
            </a:pPr>
            <a:r>
              <a:rPr sz="1950" b="1">
                <a:solidFill>
                  <a:srgbClr val="566E7B"/>
                </a:solidFill>
                <a:latin typeface="Arial"/>
                <a:ea typeface="Arial"/>
                <a:cs typeface="Arial"/>
              </a:rPr>
              <a:t>Review</a:t>
            </a:r>
          </a:p>
        </p:txBody>
      </p:sp>
      <p:cxnSp>
        <p:nvCxnSpPr>
          <p:cNvPr id="24" name=""/>
          <p:cNvCxnSpPr>
            <a:stCxn xmlns:a="http://schemas.openxmlformats.org/drawingml/2006/main" id="5" idx="3"/>
            <a:endCxn xmlns:a="http://schemas.openxmlformats.org/drawingml/2006/main" id="7" idx="1"/>
          </p:cNvCxnSpPr>
          <p:nvPr/>
        </p:nvCxnSpPr>
        <p:spPr>
          <a:xfrm xmlns:a="http://schemas.openxmlformats.org/drawingml/2006/main">
            <a:off x="592455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9" name="QA">
            <a:extLst xmlns:a="http://schemas.openxmlformats.org/drawingml/2006/main">
              <a:ext uri="{FF2B5EF4-FFF2-40B4-BE49-F238E27FC236}">
                <a16:creationId xmlns:a16="http://schemas.microsoft.com/office/drawing/2014/main" id="{392EB78C-6753-4F67-88D6-9344E9E03C38}"/>
              </a:ext>
            </a:extLst>
          </p:cNvPr>
          <p:cNvSpPr>
            <a:spLocks xmlns:a="http://schemas.openxmlformats.org/drawingml/2006/main" noGrp="1"/>
          </p:cNvSpPr>
          <p:nvPr/>
        </p:nvSpPr>
        <p:spPr>
          <a:xfrm xmlns:a="http://schemas.openxmlformats.org/drawingml/2006/main">
            <a:off x="9105900" y="2038350"/>
            <a:ext cx="2419350" cy="6096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QA</a:t>
            </a:r>
          </a:p>
        </p:txBody>
      </p:sp>
      <p:cxnSp>
        <p:nvCxnSpPr>
          <p:cNvPr id="26" name=""/>
          <p:cNvCxnSpPr>
            <a:stCxn xmlns:a="http://schemas.openxmlformats.org/drawingml/2006/main" id="7" idx="3"/>
            <a:endCxn xmlns:a="http://schemas.openxmlformats.org/drawingml/2006/main" id="9" idx="1"/>
          </p:cNvCxnSpPr>
          <p:nvPr/>
        </p:nvCxnSpPr>
        <p:spPr>
          <a:xfrm xmlns:a="http://schemas.openxmlformats.org/drawingml/2006/main">
            <a:off x="8724900" y="2343150"/>
            <a:ext cx="381000"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11" name="What could still be wrong?">
            <a:extLst xmlns:a="http://schemas.openxmlformats.org/drawingml/2006/main">
              <a:ext uri="{FF2B5EF4-FFF2-40B4-BE49-F238E27FC236}">
                <a16:creationId xmlns:a16="http://schemas.microsoft.com/office/drawing/2014/main" id="{A1CE3E36-D931-49BB-A796-4465456E5B14}"/>
              </a:ext>
            </a:extLst>
          </p:cNvPr>
          <p:cNvSpPr>
            <a:spLocks xmlns:a="http://schemas.openxmlformats.org/drawingml/2006/main" noGrp="1"/>
          </p:cNvSpPr>
          <p:nvPr/>
        </p:nvSpPr>
        <p:spPr>
          <a:xfrm xmlns:a="http://schemas.openxmlformats.org/drawingml/2006/main">
            <a:off x="704850" y="29718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AE6800"/>
                </a:solidFill>
                <a:latin typeface="Arial"/>
                <a:ea typeface="Arial"/>
                <a:cs typeface="Arial"/>
              </a:defRPr>
            </a:pPr>
            <a:r>
              <a:rPr sz="2400" b="1">
                <a:solidFill>
                  <a:srgbClr val="AE6800"/>
                </a:solidFill>
                <a:latin typeface="Arial"/>
                <a:ea typeface="Arial"/>
                <a:cs typeface="Arial"/>
              </a:rPr>
              <a:t>What could still be wrong?</a:t>
            </a:r>
          </a:p>
        </p:txBody>
      </p:sp>
      <p:sp>
        <p:nvSpPr>
          <p:cNvPr id="12" name="Positive totals can predate the test">
            <a:extLst xmlns:a="http://schemas.openxmlformats.org/drawingml/2006/main">
              <a:ext uri="{FF2B5EF4-FFF2-40B4-BE49-F238E27FC236}">
                <a16:creationId xmlns:a16="http://schemas.microsoft.com/office/drawing/2014/main" id="{9AD9156B-FDC5-4967-B03D-9C2A55C57073}"/>
              </a:ext>
            </a:extLst>
          </p:cNvPr>
          <p:cNvSpPr>
            <a:spLocks xmlns:a="http://schemas.openxmlformats.org/drawingml/2006/main" noGrp="1"/>
          </p:cNvSpPr>
          <p:nvPr/>
        </p:nvSpPr>
        <p:spPr>
          <a:xfrm xmlns:a="http://schemas.openxmlformats.org/drawingml/2006/main">
            <a:off x="704850" y="37338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Positive totals can predate the test</a:t>
            </a:r>
          </a:p>
        </p:txBody>
      </p:sp>
      <p:sp>
        <p:nvSpPr>
          <p:cNvPr id="13" name="Shared storage can leak state">
            <a:extLst xmlns:a="http://schemas.openxmlformats.org/drawingml/2006/main">
              <a:ext uri="{FF2B5EF4-FFF2-40B4-BE49-F238E27FC236}">
                <a16:creationId xmlns:a16="http://schemas.microsoft.com/office/drawing/2014/main" id="{20DABF43-7A87-4BCC-A805-0FE14C14854A}"/>
              </a:ext>
            </a:extLst>
          </p:cNvPr>
          <p:cNvSpPr>
            <a:spLocks xmlns:a="http://schemas.openxmlformats.org/drawingml/2006/main" noGrp="1"/>
          </p:cNvSpPr>
          <p:nvPr/>
        </p:nvSpPr>
        <p:spPr>
          <a:xfrm xmlns:a="http://schemas.openxmlformats.org/drawingml/2006/main">
            <a:off x="704850" y="44196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Shared storage can leak state</a:t>
            </a:r>
          </a:p>
        </p:txBody>
      </p:sp>
      <p:sp>
        <p:nvSpPr>
          <p:cNvPr id="14" name="Exit paths need separate checks">
            <a:extLst xmlns:a="http://schemas.openxmlformats.org/drawingml/2006/main">
              <a:ext uri="{FF2B5EF4-FFF2-40B4-BE49-F238E27FC236}">
                <a16:creationId xmlns:a16="http://schemas.microsoft.com/office/drawing/2014/main" id="{DA5AB69F-6447-4805-B35A-CCD2111235D5}"/>
              </a:ext>
            </a:extLst>
          </p:cNvPr>
          <p:cNvSpPr>
            <a:spLocks xmlns:a="http://schemas.openxmlformats.org/drawingml/2006/main" noGrp="1"/>
          </p:cNvSpPr>
          <p:nvPr/>
        </p:nvSpPr>
        <p:spPr>
          <a:xfrm xmlns:a="http://schemas.openxmlformats.org/drawingml/2006/main">
            <a:off x="704850" y="510540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Exit paths need separate checks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5c7ee27ef5a4147"/>
          <a:srcRect xmlns:a="http://schemas.openxmlformats.org/drawingml/2006/main" l="9265" t="11960" r="31923" b="50664"/>
          <a:stretch xmlns:a="http://schemas.openxmlformats.org/drawingml/2006/main"/>
        </p:blipFill>
        <p:spPr>
          <a:xfrm xmlns:a="http://schemas.openxmlformats.org/drawingml/2006/main">
            <a:off x="7410450" y="2886075"/>
            <a:ext cx="4048125" cy="3119275"/>
          </a:xfrm>
          <a:prstGeom xmlns:a="http://schemas.openxmlformats.org/drawingml/2006/main" prst="rect">
            <a:avLst/>
          </a:prstGeom>
        </p:spPr>
      </p:pic>
      <p:sp>
        <p:nvSpPr>
          <p:cNvPr id="16" name="Passing the suite establishes the recorded outcomes; it does">
            <a:extLst xmlns:a="http://schemas.openxmlformats.org/drawingml/2006/main">
              <a:ext uri="{FF2B5EF4-FFF2-40B4-BE49-F238E27FC236}">
                <a16:creationId xmlns:a16="http://schemas.microsoft.com/office/drawing/2014/main" id="{D076476D-C269-4434-AA9D-CA6990E55ED9}"/>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Passing the suite establishes the recorded outcomes; it does not establish the quality of every assertion.</a:t>
            </a:r>
          </a:p>
        </p:txBody>
      </p:sp>
    </p:spTree>
    <p:extLst>
      <p:ext uri="{BB962C8B-B14F-4D97-AF65-F5344CB8AC3E}">
        <p14:creationId xmlns:p14="http://schemas.microsoft.com/office/powerpoint/2010/main" val="13841279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Prove the change, isolate the state">
            <a:extLst xmlns:a="http://schemas.openxmlformats.org/drawingml/2006/main">
              <a:ext uri="{FF2B5EF4-FFF2-40B4-BE49-F238E27FC236}">
                <a16:creationId xmlns:a16="http://schemas.microsoft.com/office/drawing/2014/main" id="{46C2FD63-3F2A-4003-B095-B5821AC7DB26}"/>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Prove the change, isolate the state</a:t>
            </a:r>
          </a:p>
        </p:txBody>
      </p:sp>
      <p:sp>
        <p:nvSpPr>
          <p:cNvPr id="2" name="The assertion and the fixture address connected concerns">
            <a:extLst xmlns:a="http://schemas.openxmlformats.org/drawingml/2006/main">
              <a:ext uri="{FF2B5EF4-FFF2-40B4-BE49-F238E27FC236}">
                <a16:creationId xmlns:a16="http://schemas.microsoft.com/office/drawing/2014/main" id="{A6DA470C-A383-4232-93E8-3E0D5A80FCE4}"/>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The assertion and the fixture address connected concerns</a:t>
            </a:r>
          </a:p>
        </p:txBody>
      </p:sp>
      <p:sp>
        <p:nvSpPr>
          <p:cNvPr id="3" name="09">
            <a:extLst xmlns:a="http://schemas.openxmlformats.org/drawingml/2006/main">
              <a:ext uri="{FF2B5EF4-FFF2-40B4-BE49-F238E27FC236}">
                <a16:creationId xmlns:a16="http://schemas.microsoft.com/office/drawing/2014/main" id="{79953DCB-EEAC-4627-BE84-E8ADE565F338}"/>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09</a:t>
            </a:r>
          </a:p>
        </p:txBody>
      </p:sp>
      <p:sp>
        <p:nvSpPr>
          <p:cNvPr id="4" name="Illustrative dirty store">
            <a:extLst xmlns:a="http://schemas.openxmlformats.org/drawingml/2006/main">
              <a:ext uri="{FF2B5EF4-FFF2-40B4-BE49-F238E27FC236}">
                <a16:creationId xmlns:a16="http://schemas.microsoft.com/office/drawing/2014/main" id="{77A5F14B-65DF-4462-9AB9-BACBAEC3AA9C}"/>
              </a:ext>
            </a:extLst>
          </p:cNvPr>
          <p:cNvSpPr>
            <a:spLocks xmlns:a="http://schemas.openxmlformats.org/drawingml/2006/main" noGrp="1"/>
          </p:cNvSpPr>
          <p:nvPr/>
        </p:nvSpPr>
        <p:spPr>
          <a:xfrm xmlns:a="http://schemas.openxmlformats.org/drawingml/2006/main">
            <a:off x="704850" y="1981200"/>
            <a:ext cx="5391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66E7B"/>
                </a:solidFill>
                <a:latin typeface="Arial"/>
                <a:ea typeface="Arial"/>
                <a:cs typeface="Arial"/>
              </a:defRPr>
            </a:pPr>
            <a:r>
              <a:rPr sz="2025" b="0">
                <a:solidFill>
                  <a:srgbClr val="566E7B"/>
                </a:solidFill>
                <a:latin typeface="Arial"/>
                <a:ea typeface="Arial"/>
                <a:cs typeface="Arial"/>
              </a:rPr>
              <a:t>Illustrative dirty store</a:t>
            </a:r>
          </a:p>
        </p:txBody>
      </p:sp>
      <p:sp>
        <p:nvSpPr>
          <p:cNvPr id="5" name="Before  500 seconds&#10;After     500 seconds">
            <a:extLst xmlns:a="http://schemas.openxmlformats.org/drawingml/2006/main">
              <a:ext uri="{FF2B5EF4-FFF2-40B4-BE49-F238E27FC236}">
                <a16:creationId xmlns:a16="http://schemas.microsoft.com/office/drawing/2014/main" id="{EAA591BC-5AED-45BF-B550-7B6EAF4F330E}"/>
              </a:ext>
            </a:extLst>
          </p:cNvPr>
          <p:cNvSpPr>
            <a:spLocks xmlns:a="http://schemas.openxmlformats.org/drawingml/2006/main" noGrp="1"/>
          </p:cNvSpPr>
          <p:nvPr/>
        </p:nvSpPr>
        <p:spPr>
          <a:xfrm xmlns:a="http://schemas.openxmlformats.org/drawingml/2006/main">
            <a:off x="704850" y="2552700"/>
            <a:ext cx="53530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72D38"/>
                </a:solidFill>
                <a:latin typeface="Arial"/>
                <a:ea typeface="Arial"/>
                <a:cs typeface="Arial"/>
              </a:defRPr>
            </a:pPr>
            <a:r>
              <a:rPr sz="3150" b="1">
                <a:solidFill>
                  <a:srgbClr val="172D38"/>
                </a:solidFill>
                <a:latin typeface="Arial"/>
                <a:ea typeface="Arial"/>
                <a:cs typeface="Arial"/>
              </a:rPr>
              <a:t>Before  500 seconds</a:t>
            </a:r>
          </a:p>
          <a:p xmlns:a="http://schemas.openxmlformats.org/drawingml/2006/main">
            <a:pPr algn="l">
              <a:defRPr sz="3150" b="1">
                <a:solidFill>
                  <a:srgbClr val="172D38"/>
                </a:solidFill>
                <a:latin typeface="Arial"/>
                <a:ea typeface="Arial"/>
                <a:cs typeface="Arial"/>
              </a:defRPr>
            </a:pPr>
            <a:r>
              <a:rPr sz="3150" b="1">
                <a:solidFill>
                  <a:srgbClr val="172D38"/>
                </a:solidFill>
                <a:latin typeface="Arial"/>
                <a:ea typeface="Arial"/>
                <a:cs typeface="Arial"/>
              </a:rPr>
              <a:t>After     500 seconds</a:t>
            </a:r>
          </a:p>
        </p:txBody>
      </p:sp>
      <p:sp>
        <p:nvSpPr>
          <p:cNvPr id="6" name="after &gt; 0          PASS">
            <a:extLst xmlns:a="http://schemas.openxmlformats.org/drawingml/2006/main">
              <a:ext uri="{FF2B5EF4-FFF2-40B4-BE49-F238E27FC236}">
                <a16:creationId xmlns:a16="http://schemas.microsoft.com/office/drawing/2014/main" id="{DD5D9EF6-A952-48E5-BFAF-9C42D22ABE51}"/>
              </a:ext>
            </a:extLst>
          </p:cNvPr>
          <p:cNvSpPr>
            <a:spLocks xmlns:a="http://schemas.openxmlformats.org/drawingml/2006/main" noGrp="1"/>
          </p:cNvSpPr>
          <p:nvPr/>
        </p:nvSpPr>
        <p:spPr>
          <a:xfrm xmlns:a="http://schemas.openxmlformats.org/drawingml/2006/main">
            <a:off x="704850" y="4038600"/>
            <a:ext cx="5314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AE6800"/>
                </a:solidFill>
                <a:latin typeface="Arial"/>
                <a:ea typeface="Arial"/>
                <a:cs typeface="Arial"/>
              </a:defRPr>
            </a:pPr>
            <a:r>
              <a:rPr sz="2550" b="1">
                <a:solidFill>
                  <a:srgbClr val="AE6800"/>
                </a:solidFill>
                <a:latin typeface="Arial"/>
                <a:ea typeface="Arial"/>
                <a:cs typeface="Arial"/>
              </a:rPr>
              <a:t>after &gt; 0          PASS</a:t>
            </a:r>
          </a:p>
        </p:txBody>
      </p:sp>
      <p:sp>
        <p:nvSpPr>
          <p:cNvPr id="7" name="after &gt; before   FAIL">
            <a:extLst xmlns:a="http://schemas.openxmlformats.org/drawingml/2006/main">
              <a:ext uri="{FF2B5EF4-FFF2-40B4-BE49-F238E27FC236}">
                <a16:creationId xmlns:a16="http://schemas.microsoft.com/office/drawing/2014/main" id="{0DD2AA28-28B9-490E-8040-C9C0EC8755D5}"/>
              </a:ext>
            </a:extLst>
          </p:cNvPr>
          <p:cNvSpPr>
            <a:spLocks xmlns:a="http://schemas.openxmlformats.org/drawingml/2006/main" noGrp="1"/>
          </p:cNvSpPr>
          <p:nvPr/>
        </p:nvSpPr>
        <p:spPr>
          <a:xfrm xmlns:a="http://schemas.openxmlformats.org/drawingml/2006/main">
            <a:off x="704850" y="4772025"/>
            <a:ext cx="5314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2769AE"/>
                </a:solidFill>
                <a:latin typeface="Arial"/>
                <a:ea typeface="Arial"/>
                <a:cs typeface="Arial"/>
              </a:defRPr>
            </a:pPr>
            <a:r>
              <a:rPr sz="2550" b="1">
                <a:solidFill>
                  <a:srgbClr val="2769AE"/>
                </a:solidFill>
                <a:latin typeface="Arial"/>
                <a:ea typeface="Arial"/>
                <a:cs typeface="Arial"/>
              </a:rPr>
              <a:t>after &gt; before   FAIL</a:t>
            </a:r>
          </a:p>
        </p:txBody>
      </p:sp>
      <p:sp>
        <p:nvSpPr>
          <p:cNvPr id="8" name="The repair">
            <a:extLst xmlns:a="http://schemas.openxmlformats.org/drawingml/2006/main">
              <a:ext uri="{FF2B5EF4-FFF2-40B4-BE49-F238E27FC236}">
                <a16:creationId xmlns:a16="http://schemas.microsoft.com/office/drawing/2014/main" id="{D544C9CF-07E8-4DA2-A188-4F0B45C73225}"/>
              </a:ext>
            </a:extLst>
          </p:cNvPr>
          <p:cNvSpPr>
            <a:spLocks xmlns:a="http://schemas.openxmlformats.org/drawingml/2006/main" noGrp="1"/>
          </p:cNvSpPr>
          <p:nvPr/>
        </p:nvSpPr>
        <p:spPr>
          <a:xfrm xmlns:a="http://schemas.openxmlformats.org/drawingml/2006/main">
            <a:off x="6867525" y="200977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008B84"/>
                </a:solidFill>
                <a:latin typeface="Arial"/>
                <a:ea typeface="Arial"/>
                <a:cs typeface="Arial"/>
              </a:defRPr>
            </a:pPr>
            <a:r>
              <a:rPr sz="2400" b="1">
                <a:solidFill>
                  <a:srgbClr val="008B84"/>
                </a:solidFill>
                <a:latin typeface="Arial"/>
                <a:ea typeface="Arial"/>
                <a:cs typeface="Arial"/>
              </a:rPr>
              <a:t>The repair</a:t>
            </a:r>
          </a:p>
        </p:txBody>
      </p:sp>
      <p:sp>
        <p:nvSpPr>
          <p:cNvPr id="9" name="1  Compare before and after">
            <a:extLst xmlns:a="http://schemas.openxmlformats.org/drawingml/2006/main">
              <a:ext uri="{FF2B5EF4-FFF2-40B4-BE49-F238E27FC236}">
                <a16:creationId xmlns:a16="http://schemas.microsoft.com/office/drawing/2014/main" id="{281346F3-5D63-48E7-8096-421C6CEF5233}"/>
              </a:ext>
            </a:extLst>
          </p:cNvPr>
          <p:cNvSpPr>
            <a:spLocks xmlns:a="http://schemas.openxmlformats.org/drawingml/2006/main" noGrp="1"/>
          </p:cNvSpPr>
          <p:nvPr/>
        </p:nvSpPr>
        <p:spPr>
          <a:xfrm xmlns:a="http://schemas.openxmlformats.org/drawingml/2006/main">
            <a:off x="6867525" y="2695575"/>
            <a:ext cx="45815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72D38"/>
                </a:solidFill>
                <a:latin typeface="Arial"/>
                <a:ea typeface="Arial"/>
                <a:cs typeface="Arial"/>
              </a:defRPr>
            </a:pPr>
            <a:r>
              <a:rPr sz="2325" b="0">
                <a:solidFill>
                  <a:srgbClr val="172D38"/>
                </a:solidFill>
                <a:latin typeface="Arial"/>
                <a:ea typeface="Arial"/>
                <a:cs typeface="Arial"/>
              </a:rPr>
              <a:t>1  Compare before and after</a:t>
            </a:r>
          </a:p>
        </p:txBody>
      </p:sp>
      <p:sp>
        <p:nvSpPr>
          <p:cNvPr id="10" name="2  Give each test its own store">
            <a:extLst xmlns:a="http://schemas.openxmlformats.org/drawingml/2006/main">
              <a:ext uri="{FF2B5EF4-FFF2-40B4-BE49-F238E27FC236}">
                <a16:creationId xmlns:a16="http://schemas.microsoft.com/office/drawing/2014/main" id="{73D73785-650B-4513-8D4D-49FA2800E872}"/>
              </a:ext>
            </a:extLst>
          </p:cNvPr>
          <p:cNvSpPr>
            <a:spLocks xmlns:a="http://schemas.openxmlformats.org/drawingml/2006/main" noGrp="1"/>
          </p:cNvSpPr>
          <p:nvPr/>
        </p:nvSpPr>
        <p:spPr>
          <a:xfrm xmlns:a="http://schemas.openxmlformats.org/drawingml/2006/main">
            <a:off x="6867525" y="3552825"/>
            <a:ext cx="45815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172D38"/>
                </a:solidFill>
                <a:latin typeface="Arial"/>
                <a:ea typeface="Arial"/>
                <a:cs typeface="Arial"/>
              </a:defRPr>
            </a:pPr>
            <a:r>
              <a:rPr sz="2325" b="0">
                <a:solidFill>
                  <a:srgbClr val="172D38"/>
                </a:solidFill>
                <a:latin typeface="Arial"/>
                <a:ea typeface="Arial"/>
                <a:cs typeface="Arial"/>
              </a:rPr>
              <a:t>2  Give each test its own store</a:t>
            </a:r>
          </a:p>
        </p:txBody>
      </p:sp>
      <p:sp>
        <p:nvSpPr>
          <p:cNvPr id="11" name="With before = 0, both comparisons&#10;are numerically equivalent">
            <a:extLst xmlns:a="http://schemas.openxmlformats.org/drawingml/2006/main">
              <a:ext uri="{FF2B5EF4-FFF2-40B4-BE49-F238E27FC236}">
                <a16:creationId xmlns:a16="http://schemas.microsoft.com/office/drawing/2014/main" id="{6C4B9CCC-D239-4063-8C63-43BDE284B221}"/>
              </a:ext>
            </a:extLst>
          </p:cNvPr>
          <p:cNvSpPr>
            <a:spLocks xmlns:a="http://schemas.openxmlformats.org/drawingml/2006/main" noGrp="1"/>
          </p:cNvSpPr>
          <p:nvPr/>
        </p:nvSpPr>
        <p:spPr>
          <a:xfrm xmlns:a="http://schemas.openxmlformats.org/drawingml/2006/main">
            <a:off x="6867525" y="4752975"/>
            <a:ext cx="4581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With before = 0, both comparisons</a:t>
            </a:r>
          </a:p>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are numerically equivalent.</a:t>
            </a:r>
          </a:p>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Isolation removes the original risk.</a:t>
            </a:r>
          </a:p>
        </p:txBody>
      </p:sp>
      <p:sp>
        <p:nvSpPr>
          <p:cNvPr id="12" name="500 seconds is an illustration, not a measured result. Revie">
            <a:extLst xmlns:a="http://schemas.openxmlformats.org/drawingml/2006/main">
              <a:ext uri="{FF2B5EF4-FFF2-40B4-BE49-F238E27FC236}">
                <a16:creationId xmlns:a16="http://schemas.microsoft.com/office/drawing/2014/main" id="{8DF993F7-DBF1-4CA9-A311-73A48131A265}"/>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500 seconds is an illustration, not a measured result. Review 3 explicitly records the zero-baseline caveat.</a:t>
            </a:r>
          </a:p>
        </p:txBody>
      </p:sp>
    </p:spTree>
    <p:extLst>
      <p:ext uri="{BB962C8B-B14F-4D97-AF65-F5344CB8AC3E}">
        <p14:creationId xmlns:p14="http://schemas.microsoft.com/office/powerpoint/2010/main" val="28164319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ix → review → QA">
            <a:extLst xmlns:a="http://schemas.openxmlformats.org/drawingml/2006/main">
              <a:ext uri="{FF2B5EF4-FFF2-40B4-BE49-F238E27FC236}">
                <a16:creationId xmlns:a16="http://schemas.microsoft.com/office/drawing/2014/main" id="{625E3791-33C6-43BF-B2A6-9D821256B356}"/>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Fix → review → QA</a:t>
            </a:r>
          </a:p>
        </p:txBody>
      </p:sp>
      <p:sp>
        <p:nvSpPr>
          <p:cNvPr id="2" name="PR #198 · The repaired tests went through the review gate">
            <a:extLst xmlns:a="http://schemas.openxmlformats.org/drawingml/2006/main">
              <a:ext uri="{FF2B5EF4-FFF2-40B4-BE49-F238E27FC236}">
                <a16:creationId xmlns:a16="http://schemas.microsoft.com/office/drawing/2014/main" id="{42C6A629-CED2-42C9-92A9-D42107824C7C}"/>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PR #198 · The repaired tests went through the review gate</a:t>
            </a:r>
          </a:p>
        </p:txBody>
      </p:sp>
      <p:sp>
        <p:nvSpPr>
          <p:cNvPr id="3" name="10">
            <a:extLst xmlns:a="http://schemas.openxmlformats.org/drawingml/2006/main">
              <a:ext uri="{FF2B5EF4-FFF2-40B4-BE49-F238E27FC236}">
                <a16:creationId xmlns:a16="http://schemas.microsoft.com/office/drawing/2014/main" id="{67C86D27-5D92-48DD-978B-05914BCAF9A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10</a:t>
            </a:r>
          </a:p>
        </p:txBody>
      </p:sp>
      <p:sp>
        <p:nvSpPr>
          <p:cNvPr id="4" name="Developer fix">
            <a:extLst xmlns:a="http://schemas.openxmlformats.org/drawingml/2006/main">
              <a:ext uri="{FF2B5EF4-FFF2-40B4-BE49-F238E27FC236}">
                <a16:creationId xmlns:a16="http://schemas.microsoft.com/office/drawing/2014/main" id="{522DB657-1FF3-4378-9B8D-21A696A441BC}"/>
              </a:ext>
            </a:extLst>
          </p:cNvPr>
          <p:cNvSpPr>
            <a:spLocks xmlns:a="http://schemas.openxmlformats.org/drawingml/2006/main" noGrp="1"/>
          </p:cNvSpPr>
          <p:nvPr/>
        </p:nvSpPr>
        <p:spPr>
          <a:xfrm xmlns:a="http://schemas.openxmlformats.org/drawingml/2006/main">
            <a:off x="704850" y="2028825"/>
            <a:ext cx="2952750" cy="6858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Developer fix</a:t>
            </a:r>
          </a:p>
        </p:txBody>
      </p:sp>
      <p:sp>
        <p:nvSpPr>
          <p:cNvPr id="5" name="Review 3: APPROVAL">
            <a:extLst xmlns:a="http://schemas.openxmlformats.org/drawingml/2006/main">
              <a:ext uri="{FF2B5EF4-FFF2-40B4-BE49-F238E27FC236}">
                <a16:creationId xmlns:a16="http://schemas.microsoft.com/office/drawing/2014/main" id="{3357F218-0345-4777-BAEC-A997CC1C4425}"/>
              </a:ext>
            </a:extLst>
          </p:cNvPr>
          <p:cNvSpPr>
            <a:spLocks xmlns:a="http://schemas.openxmlformats.org/drawingml/2006/main" noGrp="1"/>
          </p:cNvSpPr>
          <p:nvPr/>
        </p:nvSpPr>
        <p:spPr>
          <a:xfrm xmlns:a="http://schemas.openxmlformats.org/drawingml/2006/main">
            <a:off x="4419600" y="2028825"/>
            <a:ext cx="3190875" cy="685800"/>
          </a:xfrm>
          <a:prstGeom xmlns:a="http://schemas.openxmlformats.org/drawingml/2006/main" prst="rect">
            <a:avLst/>
          </a:prstGeom>
          <a:solidFill xmlns:a="http://schemas.openxmlformats.org/drawingml/2006/main">
            <a:srgbClr val="E9F4F2"/>
          </a:solidFill>
          <a:ln xmlns:a="http://schemas.openxmlformats.org/drawingml/2006/main" w="14288">
            <a:solidFill>
              <a:srgbClr val="008B84"/>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008B84"/>
                </a:solidFill>
                <a:latin typeface="Arial"/>
                <a:ea typeface="Arial"/>
                <a:cs typeface="Arial"/>
              </a:defRPr>
            </a:pPr>
            <a:r>
              <a:rPr sz="1950" b="1">
                <a:solidFill>
                  <a:srgbClr val="008B84"/>
                </a:solidFill>
                <a:latin typeface="Arial"/>
                <a:ea typeface="Arial"/>
                <a:cs typeface="Arial"/>
              </a:rPr>
              <a:t>Review 3: APPROVAL</a:t>
            </a:r>
          </a:p>
        </p:txBody>
      </p:sp>
      <p:sp>
        <p:nvSpPr>
          <p:cNvPr id="6" name="QA 2: GREEN">
            <a:extLst xmlns:a="http://schemas.openxmlformats.org/drawingml/2006/main">
              <a:ext uri="{FF2B5EF4-FFF2-40B4-BE49-F238E27FC236}">
                <a16:creationId xmlns:a16="http://schemas.microsoft.com/office/drawing/2014/main" id="{4888CD3E-58AB-47B4-8890-02B76468A0ED}"/>
              </a:ext>
            </a:extLst>
          </p:cNvPr>
          <p:cNvSpPr>
            <a:spLocks xmlns:a="http://schemas.openxmlformats.org/drawingml/2006/main" noGrp="1"/>
          </p:cNvSpPr>
          <p:nvPr/>
        </p:nvSpPr>
        <p:spPr>
          <a:xfrm xmlns:a="http://schemas.openxmlformats.org/drawingml/2006/main">
            <a:off x="8362950" y="2028825"/>
            <a:ext cx="3114675" cy="685800"/>
          </a:xfrm>
          <a:prstGeom xmlns:a="http://schemas.openxmlformats.org/drawingml/2006/main" prst="rect">
            <a:avLst/>
          </a:prstGeom>
          <a:solidFill xmlns:a="http://schemas.openxmlformats.org/drawingml/2006/main">
            <a:srgbClr val="EAF5EF"/>
          </a:solidFill>
          <a:ln xmlns:a="http://schemas.openxmlformats.org/drawingml/2006/main" w="14288">
            <a:solidFill>
              <a:srgbClr val="16794B"/>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950" b="1">
                <a:solidFill>
                  <a:srgbClr val="16794B"/>
                </a:solidFill>
                <a:latin typeface="Arial"/>
                <a:ea typeface="Arial"/>
                <a:cs typeface="Arial"/>
              </a:defRPr>
            </a:pPr>
            <a:r>
              <a:rPr sz="1950" b="1">
                <a:solidFill>
                  <a:srgbClr val="16794B"/>
                </a:solidFill>
                <a:latin typeface="Arial"/>
                <a:ea typeface="Arial"/>
                <a:cs typeface="Arial"/>
              </a:rPr>
              <a:t>QA 2: GREEN</a:t>
            </a:r>
          </a:p>
        </p:txBody>
      </p: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657600" y="2371725"/>
            <a:ext cx="762000"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7610475" y="2371725"/>
            <a:ext cx="752475"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9" name="114cb54">
            <a:extLst xmlns:a="http://schemas.openxmlformats.org/drawingml/2006/main">
              <a:ext uri="{FF2B5EF4-FFF2-40B4-BE49-F238E27FC236}">
                <a16:creationId xmlns:a16="http://schemas.microsoft.com/office/drawing/2014/main" id="{74CA5B74-5831-4700-AF16-114EB7C3D824}"/>
              </a:ext>
            </a:extLst>
          </p:cNvPr>
          <p:cNvSpPr>
            <a:spLocks xmlns:a="http://schemas.openxmlformats.org/drawingml/2006/main" noGrp="1"/>
          </p:cNvSpPr>
          <p:nvPr/>
        </p:nvSpPr>
        <p:spPr>
          <a:xfrm xmlns:a="http://schemas.openxmlformats.org/drawingml/2006/main">
            <a:off x="704850" y="3190875"/>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08B84"/>
                </a:solidFill>
                <a:latin typeface="Arial"/>
                <a:ea typeface="Arial"/>
                <a:cs typeface="Arial"/>
              </a:defRPr>
            </a:pPr>
            <a:r>
              <a:rPr sz="2325" b="1">
                <a:solidFill>
                  <a:srgbClr val="008B84"/>
                </a:solidFill>
                <a:latin typeface="Arial"/>
                <a:ea typeface="Arial"/>
                <a:cs typeface="Arial"/>
              </a:rPr>
              <a:t>114cb54</a:t>
            </a:r>
          </a:p>
        </p:txBody>
      </p:sp>
      <p:sp>
        <p:nvSpPr>
          <p:cNvPr id="10" name="Delta assertions&#10;and isolated storage">
            <a:extLst xmlns:a="http://schemas.openxmlformats.org/drawingml/2006/main">
              <a:ext uri="{FF2B5EF4-FFF2-40B4-BE49-F238E27FC236}">
                <a16:creationId xmlns:a16="http://schemas.microsoft.com/office/drawing/2014/main" id="{9EB881C3-2183-4BE1-AC95-79F85EA3F348}"/>
              </a:ext>
            </a:extLst>
          </p:cNvPr>
          <p:cNvSpPr>
            <a:spLocks xmlns:a="http://schemas.openxmlformats.org/drawingml/2006/main" noGrp="1"/>
          </p:cNvSpPr>
          <p:nvPr/>
        </p:nvSpPr>
        <p:spPr>
          <a:xfrm xmlns:a="http://schemas.openxmlformats.org/drawingml/2006/main">
            <a:off x="704850" y="3800475"/>
            <a:ext cx="30956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Delta assertions</a:t>
            </a:r>
          </a:p>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and isolated storage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5658273a7d24bd4"/>
          <a:srcRect xmlns:a="http://schemas.openxmlformats.org/drawingml/2006/main" l="9366" t="12043" r="32024" b="75498"/>
          <a:stretch xmlns:a="http://schemas.openxmlformats.org/drawingml/2006/main"/>
        </p:blipFill>
        <p:spPr>
          <a:xfrm xmlns:a="http://schemas.openxmlformats.org/drawingml/2006/main">
            <a:off x="4381500" y="3190875"/>
            <a:ext cx="3448050" cy="888673"/>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117c5c42a4a4860"/>
          <a:srcRect xmlns:a="http://schemas.openxmlformats.org/drawingml/2006/main" l="9366" t="12043" r="32125" b="81645"/>
          <a:stretch xmlns:a="http://schemas.openxmlformats.org/drawingml/2006/main"/>
        </p:blipFill>
        <p:spPr>
          <a:xfrm xmlns:a="http://schemas.openxmlformats.org/drawingml/2006/main">
            <a:off x="8324850" y="3190875"/>
            <a:ext cx="3181350" cy="416149"/>
          </a:xfrm>
          <a:prstGeom xmlns:a="http://schemas.openxmlformats.org/drawingml/2006/main" prst="rect">
            <a:avLst/>
          </a:prstGeom>
        </p:spPr>
      </p:pic>
      <p:sp>
        <p:nvSpPr>
          <p:cNvPr id="13" name="4 full runs&#10;157 passed in each">
            <a:extLst xmlns:a="http://schemas.openxmlformats.org/drawingml/2006/main">
              <a:ext uri="{FF2B5EF4-FFF2-40B4-BE49-F238E27FC236}">
                <a16:creationId xmlns:a16="http://schemas.microsoft.com/office/drawing/2014/main" id="{42BE95D1-ADF0-4779-B857-751F7D25DF60}"/>
              </a:ext>
            </a:extLst>
          </p:cNvPr>
          <p:cNvSpPr>
            <a:spLocks xmlns:a="http://schemas.openxmlformats.org/drawingml/2006/main" noGrp="1"/>
          </p:cNvSpPr>
          <p:nvPr/>
        </p:nvSpPr>
        <p:spPr>
          <a:xfrm xmlns:a="http://schemas.openxmlformats.org/drawingml/2006/main">
            <a:off x="8324850" y="4305300"/>
            <a:ext cx="32099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16794B"/>
                </a:solidFill>
                <a:latin typeface="Arial"/>
                <a:ea typeface="Arial"/>
                <a:cs typeface="Arial"/>
              </a:defRPr>
            </a:pPr>
            <a:r>
              <a:rPr sz="2400" b="1">
                <a:solidFill>
                  <a:srgbClr val="16794B"/>
                </a:solidFill>
                <a:latin typeface="Arial"/>
                <a:ea typeface="Arial"/>
                <a:cs typeface="Arial"/>
              </a:rPr>
              <a:t>4 full runs</a:t>
            </a:r>
          </a:p>
          <a:p xmlns:a="http://schemas.openxmlformats.org/drawingml/2006/main">
            <a:pPr algn="l">
              <a:defRPr sz="2400" b="1">
                <a:solidFill>
                  <a:srgbClr val="16794B"/>
                </a:solidFill>
                <a:latin typeface="Arial"/>
                <a:ea typeface="Arial"/>
                <a:cs typeface="Arial"/>
              </a:defRPr>
            </a:pPr>
            <a:r>
              <a:rPr sz="2400" b="1">
                <a:solidFill>
                  <a:srgbClr val="16794B"/>
                </a:solidFill>
                <a:latin typeface="Arial"/>
                <a:ea typeface="Arial"/>
                <a:cs typeface="Arial"/>
              </a:rPr>
              <a:t>157 passed in each</a:t>
            </a:r>
          </a:p>
        </p:txBody>
      </p:sp>
      <p:sp>
        <p:nvSpPr>
          <p:cNvPr id="14" name="PR open at capture, 6 September 2026. QA green permits compl">
            <a:extLst xmlns:a="http://schemas.openxmlformats.org/drawingml/2006/main">
              <a:ext uri="{FF2B5EF4-FFF2-40B4-BE49-F238E27FC236}">
                <a16:creationId xmlns:a16="http://schemas.microsoft.com/office/drawing/2014/main" id="{FDA3D041-F195-44BF-B206-575DB0D9F781}"/>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PR open at capture, 6 September 2026. QA green permits completion checks; it does not establish merge.</a:t>
            </a:r>
          </a:p>
        </p:txBody>
      </p:sp>
    </p:spTree>
    <p:extLst>
      <p:ext uri="{BB962C8B-B14F-4D97-AF65-F5344CB8AC3E}">
        <p14:creationId xmlns:p14="http://schemas.microsoft.com/office/powerpoint/2010/main" val="147161578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observed cost">
            <a:extLst xmlns:a="http://schemas.openxmlformats.org/drawingml/2006/main">
              <a:ext uri="{FF2B5EF4-FFF2-40B4-BE49-F238E27FC236}">
                <a16:creationId xmlns:a16="http://schemas.microsoft.com/office/drawing/2014/main" id="{D313F8D6-0F2E-4F0C-8CCA-A5531146B103}"/>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The observed cost</a:t>
            </a:r>
          </a:p>
        </p:txBody>
      </p:sp>
      <p:sp>
        <p:nvSpPr>
          <p:cNvPr id="2" name="The same ProgressStore coverage task">
            <a:extLst xmlns:a="http://schemas.openxmlformats.org/drawingml/2006/main">
              <a:ext uri="{FF2B5EF4-FFF2-40B4-BE49-F238E27FC236}">
                <a16:creationId xmlns:a16="http://schemas.microsoft.com/office/drawing/2014/main" id="{0E2740C2-B617-4168-A208-9C1364FFC32A}"/>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The same ProgressStore coverage task</a:t>
            </a:r>
          </a:p>
        </p:txBody>
      </p:sp>
      <p:sp>
        <p:nvSpPr>
          <p:cNvPr id="3" name="11">
            <a:extLst xmlns:a="http://schemas.openxmlformats.org/drawingml/2006/main">
              <a:ext uri="{FF2B5EF4-FFF2-40B4-BE49-F238E27FC236}">
                <a16:creationId xmlns:a16="http://schemas.microsoft.com/office/drawing/2014/main" id="{A5A3167B-5565-4355-AADE-F9473B0E86C0}"/>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11</a:t>
            </a:r>
          </a:p>
        </p:txBody>
      </p:sp>
      <p:graphicFrame>
        <p:nvGraphicFramePr>
          <p:cNvPr id="11" name=""/>
          <p:cNvGraphicFramePr/>
          <p:nvPr/>
        </p:nvGraphicFramePr>
        <p:xfrm>
          <a:off xmlns:a="http://schemas.openxmlformats.org/drawingml/2006/main" x="704850" y="2057400"/>
          <a:ext xmlns:a="http://schemas.openxmlformats.org/drawingml/2006/main" cx="5467350" cy="2743200"/>
        </p:xfrm>
        <a:graphic xmlns:a="http://schemas.openxmlformats.org/drawingml/2006/main">
          <a:graphicData uri="http://schemas.openxmlformats.org/drawingml/2006/table">
            <a:tbl>
              <a:tblPr/>
              <a:tblGrid>
                <a:gridCol w="2762250"/>
                <a:gridCol w="2705100"/>
              </a:tblGrid>
              <a:tr h="685800">
                <a:tc>
                  <a:txBody>
                    <a:bodyPr/>
                    <a:lstStyle/>
                    <a:p>
                      <a:r>
                        <a:rPr sz="1875" b="1">
                          <a:solidFill>
                            <a:srgbClr val="008B84"/>
                          </a:solidFill>
                          <a:latin typeface="Arial"/>
                          <a:ea typeface="Arial"/>
                          <a:cs typeface="Arial"/>
                        </a:rPr>
                        <a:t>Measure</a:t>
                      </a:r>
                    </a:p>
                  </a:txBody>
                  <a:tcPr marL="142875" marR="142875" marT="114300" marB="114300" anchor="ctr">
                    <a:solidFill>
                      <a:srgbClr val="E9F4F2"/>
                    </a:solidFill>
                  </a:tcPr>
                </a:tc>
                <a:tc>
                  <a:txBody>
                    <a:bodyPr/>
                    <a:lstStyle/>
                    <a:p>
                      <a:r>
                        <a:rPr sz="1875" b="1">
                          <a:solidFill>
                            <a:srgbClr val="008B84"/>
                          </a:solidFill>
                          <a:latin typeface="Arial"/>
                          <a:ea typeface="Arial"/>
                          <a:cs typeface="Arial"/>
                        </a:rPr>
                        <a:t>Recorded result</a:t>
                      </a:r>
                    </a:p>
                  </a:txBody>
                  <a:tcPr marL="142875" marR="142875" marT="114300" marB="114300" anchor="ctr">
                    <a:solidFill>
                      <a:srgbClr val="E9F4F2"/>
                    </a:solidFill>
                  </a:tcPr>
                </a:tc>
              </a:tr>
              <a:tr h="685800">
                <a:tc>
                  <a:txBody>
                    <a:bodyPr/>
                    <a:lstStyle/>
                    <a:p>
                      <a:r>
                        <a:rPr sz="1875" b="0">
                          <a:solidFill>
                            <a:srgbClr val="172D38"/>
                          </a:solidFill>
                          <a:latin typeface="Arial"/>
                          <a:ea typeface="Arial"/>
                          <a:cs typeface="Arial"/>
                        </a:rPr>
                        <a:t>Subagent launches</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9</a:t>
                      </a:r>
                    </a:p>
                  </a:txBody>
                  <a:tcPr marL="142875" marR="142875" marT="114300" marB="114300" anchor="ctr">
                    <a:solidFill>
                      <a:srgbClr val="FFFFFF"/>
                    </a:solidFill>
                  </a:tcPr>
                </a:tc>
              </a:tr>
              <a:tr h="685800">
                <a:tc>
                  <a:txBody>
                    <a:bodyPr/>
                    <a:lstStyle/>
                    <a:p>
                      <a:r>
                        <a:rPr sz="1875" b="0">
                          <a:solidFill>
                            <a:srgbClr val="172D38"/>
                          </a:solidFill>
                          <a:latin typeface="Arial"/>
                          <a:ea typeface="Arial"/>
                          <a:cs typeface="Arial"/>
                        </a:rPr>
                        <a:t>Summed stage time</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About 1 h 31 min</a:t>
                      </a:r>
                    </a:p>
                  </a:txBody>
                  <a:tcPr marL="142875" marR="142875" marT="114300" marB="114300" anchor="ctr">
                    <a:solidFill>
                      <a:srgbClr val="FFFFFF"/>
                    </a:solidFill>
                  </a:tcPr>
                </a:tc>
              </a:tr>
              <a:tr h="685800">
                <a:tc>
                  <a:txBody>
                    <a:bodyPr/>
                    <a:lstStyle/>
                    <a:p>
                      <a:r>
                        <a:rPr sz="1875" b="0">
                          <a:solidFill>
                            <a:srgbClr val="172D38"/>
                          </a:solidFill>
                          <a:latin typeface="Arial"/>
                          <a:ea typeface="Arial"/>
                          <a:cs typeface="Arial"/>
                        </a:rPr>
                        <a:t>Subagent tokens</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1,097,667</a:t>
                      </a:r>
                    </a:p>
                  </a:txBody>
                  <a:tcPr marL="142875" marR="142875" marT="114300" marB="114300" anchor="ctr">
                    <a:solidFill>
                      <a:srgbClr val="FFFFFF"/>
                    </a:solidFill>
                  </a:tcPr>
                </a:tc>
              </a:tr>
            </a:tbl>
          </a:graphicData>
        </a:graphic>
      </p:graphicFrame>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8311e731fc44556"/>
          <a:srcRect xmlns:a="http://schemas.openxmlformats.org/drawingml/2006/main" l="4632" t="11960" r="40987" b="50332"/>
          <a:stretch xmlns:a="http://schemas.openxmlformats.org/drawingml/2006/main"/>
        </p:blipFill>
        <p:spPr>
          <a:xfrm xmlns:a="http://schemas.openxmlformats.org/drawingml/2006/main">
            <a:off x="6715125" y="2019300"/>
            <a:ext cx="4762500" cy="4004028"/>
          </a:xfrm>
          <a:prstGeom xmlns:a="http://schemas.openxmlformats.org/drawingml/2006/main" prst="rect">
            <a:avLst/>
          </a:prstGeom>
        </p:spPr>
      </p:pic>
      <p:sp>
        <p:nvSpPr>
          <p:cNvPr id="6" name="Planner ×1   Developer ×3&#10;Reviewer ×3   QA ×2">
            <a:extLst xmlns:a="http://schemas.openxmlformats.org/drawingml/2006/main">
              <a:ext uri="{FF2B5EF4-FFF2-40B4-BE49-F238E27FC236}">
                <a16:creationId xmlns:a16="http://schemas.microsoft.com/office/drawing/2014/main" id="{CDECFB13-8AE8-4E8A-BA22-DC51A05A6561}"/>
              </a:ext>
            </a:extLst>
          </p:cNvPr>
          <p:cNvSpPr>
            <a:spLocks xmlns:a="http://schemas.openxmlformats.org/drawingml/2006/main" noGrp="1"/>
          </p:cNvSpPr>
          <p:nvPr/>
        </p:nvSpPr>
        <p:spPr>
          <a:xfrm xmlns:a="http://schemas.openxmlformats.org/drawingml/2006/main">
            <a:off x="704850" y="521970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D38"/>
                </a:solidFill>
                <a:latin typeface="Arial"/>
                <a:ea typeface="Arial"/>
                <a:cs typeface="Arial"/>
              </a:defRPr>
            </a:pPr>
            <a:r>
              <a:rPr sz="2100" b="0">
                <a:solidFill>
                  <a:srgbClr val="172D38"/>
                </a:solidFill>
                <a:latin typeface="Arial"/>
                <a:ea typeface="Arial"/>
                <a:cs typeface="Arial"/>
              </a:rPr>
              <a:t>Planner ×1   Developer ×3</a:t>
            </a:r>
          </a:p>
          <a:p xmlns:a="http://schemas.openxmlformats.org/drawingml/2006/main">
            <a:pPr algn="l">
              <a:defRPr sz="2100" b="0">
                <a:solidFill>
                  <a:srgbClr val="172D38"/>
                </a:solidFill>
                <a:latin typeface="Arial"/>
                <a:ea typeface="Arial"/>
                <a:cs typeface="Arial"/>
              </a:defRPr>
            </a:pPr>
            <a:r>
              <a:rPr sz="2100" b="0">
                <a:solidFill>
                  <a:srgbClr val="172D38"/>
                </a:solidFill>
                <a:latin typeface="Arial"/>
                <a:ea typeface="Arial"/>
                <a:cs typeface="Arial"/>
              </a:rPr>
              <a:t>Reviewer ×3   QA ×2</a:t>
            </a:r>
          </a:p>
        </p:txBody>
      </p:sp>
      <p:sp>
        <p:nvSpPr>
          <p:cNvPr id="7" name="Orchestrator tokens excluded. No matched single-agent baseli">
            <a:extLst xmlns:a="http://schemas.openxmlformats.org/drawingml/2006/main">
              <a:ext uri="{FF2B5EF4-FFF2-40B4-BE49-F238E27FC236}">
                <a16:creationId xmlns:a16="http://schemas.microsoft.com/office/drawing/2014/main" id="{B07E106D-165F-40D8-A3EB-E4ABDC6ED2B9}"/>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Orchestrator tokens excluded. No matched single-agent baseline.</a:t>
            </a:r>
          </a:p>
        </p:txBody>
      </p:sp>
    </p:spTree>
    <p:extLst>
      <p:ext uri="{BB962C8B-B14F-4D97-AF65-F5344CB8AC3E}">
        <p14:creationId xmlns:p14="http://schemas.microsoft.com/office/powerpoint/2010/main" val="6086238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How the repository works today">
            <a:extLst xmlns:a="http://schemas.openxmlformats.org/drawingml/2006/main">
              <a:ext uri="{FF2B5EF4-FFF2-40B4-BE49-F238E27FC236}">
                <a16:creationId xmlns:a16="http://schemas.microsoft.com/office/drawing/2014/main" id="{C70B3DCA-BCF2-42DA-83AC-DB0B9591F3D0}"/>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How the repository works today</a:t>
            </a:r>
          </a:p>
        </p:txBody>
      </p:sp>
      <p:sp>
        <p:nvSpPr>
          <p:cNvPr id="2" name="Current structure · 13 September 2026">
            <a:extLst xmlns:a="http://schemas.openxmlformats.org/drawingml/2006/main">
              <a:ext uri="{FF2B5EF4-FFF2-40B4-BE49-F238E27FC236}">
                <a16:creationId xmlns:a16="http://schemas.microsoft.com/office/drawing/2014/main" id="{BDC739CC-4792-4A72-968E-041CB1AB0E8F}"/>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Current structure · 13 September 2026</a:t>
            </a:r>
          </a:p>
        </p:txBody>
      </p:sp>
      <p:sp>
        <p:nvSpPr>
          <p:cNvPr id="3" name="12">
            <a:extLst xmlns:a="http://schemas.openxmlformats.org/drawingml/2006/main">
              <a:ext uri="{FF2B5EF4-FFF2-40B4-BE49-F238E27FC236}">
                <a16:creationId xmlns:a16="http://schemas.microsoft.com/office/drawing/2014/main" id="{A8C2FC62-E149-46FA-9692-AEA36A63D17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12</a:t>
            </a:r>
          </a:p>
        </p:txBody>
      </p:sp>
      <p:sp>
        <p:nvSpPr>
          <p:cNvPr id="4" name="Canonical skills">
            <a:extLst xmlns:a="http://schemas.openxmlformats.org/drawingml/2006/main">
              <a:ext uri="{FF2B5EF4-FFF2-40B4-BE49-F238E27FC236}">
                <a16:creationId xmlns:a16="http://schemas.microsoft.com/office/drawing/2014/main" id="{1EA57F35-7421-44C8-BAE6-3EE7D725F9CF}"/>
              </a:ext>
            </a:extLst>
          </p:cNvPr>
          <p:cNvSpPr>
            <a:spLocks xmlns:a="http://schemas.openxmlformats.org/drawingml/2006/main" noGrp="1"/>
          </p:cNvSpPr>
          <p:nvPr/>
        </p:nvSpPr>
        <p:spPr>
          <a:xfrm xmlns:a="http://schemas.openxmlformats.org/drawingml/2006/main">
            <a:off x="704850" y="2095500"/>
            <a:ext cx="5124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08B84"/>
                </a:solidFill>
                <a:latin typeface="Arial"/>
                <a:ea typeface="Arial"/>
                <a:cs typeface="Arial"/>
              </a:defRPr>
            </a:pPr>
            <a:r>
              <a:rPr sz="2550" b="1">
                <a:solidFill>
                  <a:srgbClr val="008B84"/>
                </a:solidFill>
                <a:latin typeface="Arial"/>
                <a:ea typeface="Arial"/>
                <a:cs typeface="Arial"/>
              </a:rPr>
              <a:t>Canonical skills</a:t>
            </a:r>
          </a:p>
        </p:txBody>
      </p:sp>
      <p:sp>
        <p:nvSpPr>
          <p:cNvPr id="5" name="skills/&lt;role&gt;/SKILL.md&#10;Procedure + expected output">
            <a:extLst xmlns:a="http://schemas.openxmlformats.org/drawingml/2006/main">
              <a:ext uri="{FF2B5EF4-FFF2-40B4-BE49-F238E27FC236}">
                <a16:creationId xmlns:a16="http://schemas.microsoft.com/office/drawing/2014/main" id="{06B1DB59-707F-4DFD-BDBF-B2AA1E1C5AFB}"/>
              </a:ext>
            </a:extLst>
          </p:cNvPr>
          <p:cNvSpPr>
            <a:spLocks xmlns:a="http://schemas.openxmlformats.org/drawingml/2006/main" noGrp="1"/>
          </p:cNvSpPr>
          <p:nvPr/>
        </p:nvSpPr>
        <p:spPr>
          <a:xfrm xmlns:a="http://schemas.openxmlformats.org/drawingml/2006/main">
            <a:off x="704850" y="2714625"/>
            <a:ext cx="5429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skills/&lt;role&gt;/SKILL.md</a:t>
            </a:r>
          </a:p>
          <a:p xmlns:a="http://schemas.openxmlformats.org/drawingml/2006/main">
            <a:pPr algn="l">
              <a:defRPr sz="2250" b="0">
                <a:solidFill>
                  <a:srgbClr val="172D38"/>
                </a:solidFill>
                <a:latin typeface="Arial"/>
                <a:ea typeface="Arial"/>
                <a:cs typeface="Arial"/>
              </a:defRPr>
            </a:pPr>
            <a:r>
              <a:rPr sz="2250" b="0">
                <a:solidFill>
                  <a:srgbClr val="172D38"/>
                </a:solidFill>
                <a:latin typeface="Arial"/>
                <a:ea typeface="Arial"/>
                <a:cs typeface="Arial"/>
              </a:rPr>
              <a:t>Procedure + expected output</a:t>
            </a:r>
          </a:p>
        </p:txBody>
      </p:sp>
      <p:sp>
        <p:nvSpPr>
          <p:cNvPr id="6" name="Thin host adapters">
            <a:extLst xmlns:a="http://schemas.openxmlformats.org/drawingml/2006/main">
              <a:ext uri="{FF2B5EF4-FFF2-40B4-BE49-F238E27FC236}">
                <a16:creationId xmlns:a16="http://schemas.microsoft.com/office/drawing/2014/main" id="{8377543F-ED27-4558-9537-B7FBAF2ED289}"/>
              </a:ext>
            </a:extLst>
          </p:cNvPr>
          <p:cNvSpPr>
            <a:spLocks xmlns:a="http://schemas.openxmlformats.org/drawingml/2006/main" noGrp="1"/>
          </p:cNvSpPr>
          <p:nvPr/>
        </p:nvSpPr>
        <p:spPr>
          <a:xfrm xmlns:a="http://schemas.openxmlformats.org/drawingml/2006/main">
            <a:off x="7000875" y="2095500"/>
            <a:ext cx="4457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008B84"/>
                </a:solidFill>
                <a:latin typeface="Arial"/>
                <a:ea typeface="Arial"/>
                <a:cs typeface="Arial"/>
              </a:defRPr>
            </a:pPr>
            <a:r>
              <a:rPr sz="2550" b="1">
                <a:solidFill>
                  <a:srgbClr val="008B84"/>
                </a:solidFill>
                <a:latin typeface="Arial"/>
                <a:ea typeface="Arial"/>
                <a:cs typeface="Arial"/>
              </a:rPr>
              <a:t>Thin host adapters</a:t>
            </a:r>
          </a:p>
        </p:txBody>
      </p:sp>
      <p:sp>
        <p:nvSpPr>
          <p:cNvPr id="7" name="Separate stage agents&#10;Optional model / reasoning settings">
            <a:extLst xmlns:a="http://schemas.openxmlformats.org/drawingml/2006/main">
              <a:ext uri="{FF2B5EF4-FFF2-40B4-BE49-F238E27FC236}">
                <a16:creationId xmlns:a16="http://schemas.microsoft.com/office/drawing/2014/main" id="{FA9D3553-8299-4F52-89A8-B9A44E02F847}"/>
              </a:ext>
            </a:extLst>
          </p:cNvPr>
          <p:cNvSpPr>
            <a:spLocks xmlns:a="http://schemas.openxmlformats.org/drawingml/2006/main" noGrp="1"/>
          </p:cNvSpPr>
          <p:nvPr/>
        </p:nvSpPr>
        <p:spPr>
          <a:xfrm xmlns:a="http://schemas.openxmlformats.org/drawingml/2006/main">
            <a:off x="7000875" y="2714625"/>
            <a:ext cx="45053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Separate stage agents</a:t>
            </a:r>
          </a:p>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Optional model / reasoning settings</a:t>
            </a:r>
          </a:p>
        </p:txBody>
      </p:sp>
      <p:sp>
        <p:nvSpPr>
          <p:cNvPr id="8" name="">
            <a:extLst xmlns:a="http://schemas.openxmlformats.org/drawingml/2006/main">
              <a:ext uri="{FF2B5EF4-FFF2-40B4-BE49-F238E27FC236}">
                <a16:creationId xmlns:a16="http://schemas.microsoft.com/office/drawing/2014/main" id="{3BF38CF0-C055-4689-B73D-8FBA7FDB52D1}"/>
              </a:ext>
            </a:extLst>
          </p:cNvPr>
          <p:cNvSpPr>
            <a:spLocks xmlns:a="http://schemas.openxmlformats.org/drawingml/2006/main" noGrp="1"/>
          </p:cNvSpPr>
          <p:nvPr/>
        </p:nvSpPr>
        <p:spPr>
          <a:xfrm xmlns:a="http://schemas.openxmlformats.org/drawingml/2006/main">
            <a:off x="704850" y="3952875"/>
            <a:ext cx="10763250" cy="0"/>
          </a:xfrm>
          <a:prstGeom xmlns:a="http://schemas.openxmlformats.org/drawingml/2006/main" prst="line">
            <a:avLst/>
          </a:prstGeom>
          <a:noFill xmlns:a="http://schemas.openxmlformats.org/drawingml/2006/main"/>
          <a:ln xmlns:a="http://schemas.openxmlformats.org/drawingml/2006/main" w="14288">
            <a:solidFill>
              <a:srgbClr val="BDCDD2"/>
            </a:solidFill>
          </a:ln>
        </p:spPr>
      </p:sp>
      <p:sp>
        <p:nvSpPr>
          <p:cNvPr id="9" name="Main conversation">
            <a:extLst xmlns:a="http://schemas.openxmlformats.org/drawingml/2006/main">
              <a:ext uri="{FF2B5EF4-FFF2-40B4-BE49-F238E27FC236}">
                <a16:creationId xmlns:a16="http://schemas.microsoft.com/office/drawing/2014/main" id="{73BE4E8F-3A91-402F-A5A0-AB5F07392F58}"/>
              </a:ext>
            </a:extLst>
          </p:cNvPr>
          <p:cNvSpPr>
            <a:spLocks xmlns:a="http://schemas.openxmlformats.org/drawingml/2006/main" noGrp="1"/>
          </p:cNvSpPr>
          <p:nvPr/>
        </p:nvSpPr>
        <p:spPr>
          <a:xfrm xmlns:a="http://schemas.openxmlformats.org/drawingml/2006/main">
            <a:off x="704850" y="43624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8B84"/>
                </a:solidFill>
                <a:latin typeface="Arial"/>
                <a:ea typeface="Arial"/>
                <a:cs typeface="Arial"/>
              </a:defRPr>
            </a:pPr>
            <a:r>
              <a:rPr sz="2250" b="1">
                <a:solidFill>
                  <a:srgbClr val="008B84"/>
                </a:solidFill>
                <a:latin typeface="Arial"/>
                <a:ea typeface="Arial"/>
                <a:cs typeface="Arial"/>
              </a:rPr>
              <a:t>Main conversation</a:t>
            </a:r>
          </a:p>
        </p:txBody>
      </p:sp>
      <p:sp>
        <p:nvSpPr>
          <p:cNvPr id="10" name="Orchestrator stays with the user">
            <a:extLst xmlns:a="http://schemas.openxmlformats.org/drawingml/2006/main">
              <a:ext uri="{FF2B5EF4-FFF2-40B4-BE49-F238E27FC236}">
                <a16:creationId xmlns:a16="http://schemas.microsoft.com/office/drawing/2014/main" id="{9CD7C285-07CE-4330-BA8B-0C3622F58FBD}"/>
              </a:ext>
            </a:extLst>
          </p:cNvPr>
          <p:cNvSpPr>
            <a:spLocks xmlns:a="http://schemas.openxmlformats.org/drawingml/2006/main" noGrp="1"/>
          </p:cNvSpPr>
          <p:nvPr/>
        </p:nvSpPr>
        <p:spPr>
          <a:xfrm xmlns:a="http://schemas.openxmlformats.org/drawingml/2006/main">
            <a:off x="4429125" y="4362450"/>
            <a:ext cx="704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Orchestrator stays with the user</a:t>
            </a:r>
          </a:p>
        </p:txBody>
      </p:sp>
      <p:sp>
        <p:nvSpPr>
          <p:cNvPr id="11" name="Shared context">
            <a:extLst xmlns:a="http://schemas.openxmlformats.org/drawingml/2006/main">
              <a:ext uri="{FF2B5EF4-FFF2-40B4-BE49-F238E27FC236}">
                <a16:creationId xmlns:a16="http://schemas.microsoft.com/office/drawing/2014/main" id="{E5CD62BD-0D35-4772-A3CD-D5C0F79753E2}"/>
              </a:ext>
            </a:extLst>
          </p:cNvPr>
          <p:cNvSpPr>
            <a:spLocks xmlns:a="http://schemas.openxmlformats.org/drawingml/2006/main" noGrp="1"/>
          </p:cNvSpPr>
          <p:nvPr/>
        </p:nvSpPr>
        <p:spPr>
          <a:xfrm xmlns:a="http://schemas.openxmlformats.org/drawingml/2006/main">
            <a:off x="704850" y="504825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008B84"/>
                </a:solidFill>
                <a:latin typeface="Arial"/>
                <a:ea typeface="Arial"/>
                <a:cs typeface="Arial"/>
              </a:defRPr>
            </a:pPr>
            <a:r>
              <a:rPr sz="2250" b="1">
                <a:solidFill>
                  <a:srgbClr val="008B84"/>
                </a:solidFill>
                <a:latin typeface="Arial"/>
                <a:ea typeface="Arial"/>
                <a:cs typeface="Arial"/>
              </a:rPr>
              <a:t>Shared context</a:t>
            </a:r>
          </a:p>
        </p:txBody>
      </p:sp>
      <p:sp>
        <p:nvSpPr>
          <p:cNvPr id="12" name="Project profile + explicitly read role memory">
            <a:extLst xmlns:a="http://schemas.openxmlformats.org/drawingml/2006/main">
              <a:ext uri="{FF2B5EF4-FFF2-40B4-BE49-F238E27FC236}">
                <a16:creationId xmlns:a16="http://schemas.microsoft.com/office/drawing/2014/main" id="{E4335677-E5E4-4C3D-B24D-AEC54087651E}"/>
              </a:ext>
            </a:extLst>
          </p:cNvPr>
          <p:cNvSpPr>
            <a:spLocks xmlns:a="http://schemas.openxmlformats.org/drawingml/2006/main" noGrp="1"/>
          </p:cNvSpPr>
          <p:nvPr/>
        </p:nvSpPr>
        <p:spPr>
          <a:xfrm xmlns:a="http://schemas.openxmlformats.org/drawingml/2006/main">
            <a:off x="4429125" y="5048250"/>
            <a:ext cx="704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Project profile + explicitly read role memory</a:t>
            </a:r>
          </a:p>
        </p:txBody>
      </p:sp>
      <p:sp>
        <p:nvSpPr>
          <p:cNvPr id="13" name="The measured run predates this packaging. Its effect on cost">
            <a:extLst xmlns:a="http://schemas.openxmlformats.org/drawingml/2006/main">
              <a:ext uri="{FF2B5EF4-FFF2-40B4-BE49-F238E27FC236}">
                <a16:creationId xmlns:a16="http://schemas.microsoft.com/office/drawing/2014/main" id="{E528B09A-2933-4846-A344-FDC6389A45AC}"/>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The measured run predates this packaging. Its effect on cost and quality has not been measured.</a:t>
            </a:r>
          </a:p>
        </p:txBody>
      </p:sp>
    </p:spTree>
    <p:extLst>
      <p:ext uri="{BB962C8B-B14F-4D97-AF65-F5344CB8AC3E}">
        <p14:creationId xmlns:p14="http://schemas.microsoft.com/office/powerpoint/2010/main" val="17607089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fine what each stage hands over">
            <a:extLst xmlns:a="http://schemas.openxmlformats.org/drawingml/2006/main">
              <a:ext uri="{FF2B5EF4-FFF2-40B4-BE49-F238E27FC236}">
                <a16:creationId xmlns:a16="http://schemas.microsoft.com/office/drawing/2014/main" id="{35BCE0E5-3E6A-4C63-B0A3-2ED55E087FF7}"/>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Define what each stage hands over</a:t>
            </a:r>
          </a:p>
        </p:txBody>
      </p:sp>
      <p:sp>
        <p:nvSpPr>
          <p:cNvPr id="2" name="Start with one workflow in your own repository">
            <a:extLst xmlns:a="http://schemas.openxmlformats.org/drawingml/2006/main">
              <a:ext uri="{FF2B5EF4-FFF2-40B4-BE49-F238E27FC236}">
                <a16:creationId xmlns:a16="http://schemas.microsoft.com/office/drawing/2014/main" id="{159071D0-013C-4ABC-921B-25E563548675}"/>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Start with one workflow in your own repository</a:t>
            </a:r>
          </a:p>
        </p:txBody>
      </p:sp>
      <p:sp>
        <p:nvSpPr>
          <p:cNvPr id="3" name="13">
            <a:extLst xmlns:a="http://schemas.openxmlformats.org/drawingml/2006/main">
              <a:ext uri="{FF2B5EF4-FFF2-40B4-BE49-F238E27FC236}">
                <a16:creationId xmlns:a16="http://schemas.microsoft.com/office/drawing/2014/main" id="{5AF4EDB7-97B2-4872-8522-522A0D0DE209}"/>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13</a:t>
            </a:r>
          </a:p>
        </p:txBody>
      </p:sp>
      <p:graphicFrame>
        <p:nvGraphicFramePr>
          <p:cNvPr id="9" name=""/>
          <p:cNvGraphicFramePr/>
          <p:nvPr/>
        </p:nvGraphicFramePr>
        <p:xfrm>
          <a:off xmlns:a="http://schemas.openxmlformats.org/drawingml/2006/main" x="704850" y="2000250"/>
          <a:ext xmlns:a="http://schemas.openxmlformats.org/drawingml/2006/main" cx="10763250" cy="3438525"/>
        </p:xfrm>
        <a:graphic xmlns:a="http://schemas.openxmlformats.org/drawingml/2006/main">
          <a:graphicData uri="http://schemas.openxmlformats.org/drawingml/2006/table">
            <a:tbl>
              <a:tblPr/>
              <a:tblGrid>
                <a:gridCol w="2476500"/>
                <a:gridCol w="8286750"/>
              </a:tblGrid>
              <a:tr h="687705">
                <a:tc>
                  <a:txBody>
                    <a:bodyPr/>
                    <a:lstStyle/>
                    <a:p>
                      <a:r>
                        <a:rPr sz="1875" b="1">
                          <a:solidFill>
                            <a:srgbClr val="008B84"/>
                          </a:solidFill>
                          <a:latin typeface="Arial"/>
                          <a:ea typeface="Arial"/>
                          <a:cs typeface="Arial"/>
                        </a:rPr>
                        <a:t>Stage</a:t>
                      </a:r>
                    </a:p>
                  </a:txBody>
                  <a:tcPr marL="142875" marR="142875" marT="114300" marB="114300" anchor="ctr">
                    <a:solidFill>
                      <a:srgbClr val="E9F4F2"/>
                    </a:solidFill>
                  </a:tcPr>
                </a:tc>
                <a:tc>
                  <a:txBody>
                    <a:bodyPr/>
                    <a:lstStyle/>
                    <a:p>
                      <a:r>
                        <a:rPr sz="1875" b="1">
                          <a:solidFill>
                            <a:srgbClr val="008B84"/>
                          </a:solidFill>
                          <a:latin typeface="Arial"/>
                          <a:ea typeface="Arial"/>
                          <a:cs typeface="Arial"/>
                        </a:rPr>
                        <a:t>Concrete result for the next stage</a:t>
                      </a:r>
                    </a:p>
                  </a:txBody>
                  <a:tcPr marL="142875" marR="142875" marT="114300" marB="114300" anchor="ctr">
                    <a:solidFill>
                      <a:srgbClr val="E9F4F2"/>
                    </a:solidFill>
                  </a:tcPr>
                </a:tc>
              </a:tr>
              <a:tr h="687705">
                <a:tc>
                  <a:txBody>
                    <a:bodyPr/>
                    <a:lstStyle/>
                    <a:p>
                      <a:r>
                        <a:rPr sz="1875" b="0">
                          <a:solidFill>
                            <a:srgbClr val="172D38"/>
                          </a:solidFill>
                          <a:latin typeface="Arial"/>
                          <a:ea typeface="Arial"/>
                          <a:cs typeface="Arial"/>
                        </a:rPr>
                        <a:t>Planner</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Acceptance criteria, dependencies and issues</a:t>
                      </a:r>
                    </a:p>
                  </a:txBody>
                  <a:tcPr marL="142875" marR="142875" marT="114300" marB="114300" anchor="ctr">
                    <a:solidFill>
                      <a:srgbClr val="FFFFFF"/>
                    </a:solidFill>
                  </a:tcPr>
                </a:tc>
              </a:tr>
              <a:tr h="687705">
                <a:tc>
                  <a:txBody>
                    <a:bodyPr/>
                    <a:lstStyle/>
                    <a:p>
                      <a:r>
                        <a:rPr sz="1875" b="0">
                          <a:solidFill>
                            <a:srgbClr val="172D38"/>
                          </a:solidFill>
                          <a:latin typeface="Arial"/>
                          <a:ea typeface="Arial"/>
                          <a:cs typeface="Arial"/>
                        </a:rPr>
                        <a:t>Developer</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PR / diff, changed files and check results</a:t>
                      </a:r>
                    </a:p>
                  </a:txBody>
                  <a:tcPr marL="142875" marR="142875" marT="114300" marB="114300" anchor="ctr">
                    <a:solidFill>
                      <a:srgbClr val="FFFFFF"/>
                    </a:solidFill>
                  </a:tcPr>
                </a:tc>
              </a:tr>
              <a:tr h="687705">
                <a:tc>
                  <a:txBody>
                    <a:bodyPr/>
                    <a:lstStyle/>
                    <a:p>
                      <a:r>
                        <a:rPr sz="1875" b="0">
                          <a:solidFill>
                            <a:srgbClr val="172D38"/>
                          </a:solidFill>
                          <a:latin typeface="Arial"/>
                          <a:ea typeface="Arial"/>
                          <a:cs typeface="Arial"/>
                        </a:rPr>
                        <a:t>Reviewer</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Prioritized findings or explicit APPROVAL</a:t>
                      </a:r>
                    </a:p>
                  </a:txBody>
                  <a:tcPr marL="142875" marR="142875" marT="114300" marB="114300" anchor="ctr">
                    <a:solidFill>
                      <a:srgbClr val="FFFFFF"/>
                    </a:solidFill>
                  </a:tcPr>
                </a:tc>
              </a:tr>
              <a:tr h="687705">
                <a:tc>
                  <a:txBody>
                    <a:bodyPr/>
                    <a:lstStyle/>
                    <a:p>
                      <a:r>
                        <a:rPr sz="1875" b="0">
                          <a:solidFill>
                            <a:srgbClr val="172D38"/>
                          </a:solidFill>
                          <a:latin typeface="Arial"/>
                          <a:ea typeface="Arial"/>
                          <a:cs typeface="Arial"/>
                        </a:rPr>
                        <a:t>QA</a:t>
                      </a:r>
                    </a:p>
                  </a:txBody>
                  <a:tcPr marL="142875" marR="142875" marT="114300" marB="114300" anchor="ctr">
                    <a:solidFill>
                      <a:srgbClr val="FFFFFF"/>
                    </a:solidFill>
                  </a:tcPr>
                </a:tc>
                <a:tc>
                  <a:txBody>
                    <a:bodyPr/>
                    <a:lstStyle/>
                    <a:p>
                      <a:r>
                        <a:rPr sz="1875" b="0">
                          <a:solidFill>
                            <a:srgbClr val="172D38"/>
                          </a:solidFill>
                          <a:latin typeface="Arial"/>
                          <a:ea typeface="Arial"/>
                          <a:cs typeface="Arial"/>
                        </a:rPr>
                        <a:t>Test evidence, classified bugs, GREEN / BLOCKED</a:t>
                      </a:r>
                    </a:p>
                  </a:txBody>
                  <a:tcPr marL="142875" marR="142875" marT="114300" marB="114300" anchor="ctr">
                    <a:solidFill>
                      <a:srgbClr val="FFFFFF"/>
                    </a:solidFill>
                  </a:tcPr>
                </a:tc>
              </a:tr>
            </a:tbl>
          </a:graphicData>
        </a:graphic>
      </p:graphicFrame>
      <p:sp>
        <p:nvSpPr>
          <p:cNvPr id="5" name="The orchestrator verifies the artifacts and routes the next ">
            <a:extLst xmlns:a="http://schemas.openxmlformats.org/drawingml/2006/main">
              <a:ext uri="{FF2B5EF4-FFF2-40B4-BE49-F238E27FC236}">
                <a16:creationId xmlns:a16="http://schemas.microsoft.com/office/drawing/2014/main" id="{BF8D745C-3014-45E1-ABF1-CA738EF49378}"/>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The orchestrator verifies the artifacts and routes the next stage. Dry-run uses local drafts.</a:t>
            </a:r>
          </a:p>
        </p:txBody>
      </p:sp>
    </p:spTree>
    <p:extLst>
      <p:ext uri="{BB962C8B-B14F-4D97-AF65-F5344CB8AC3E}">
        <p14:creationId xmlns:p14="http://schemas.microsoft.com/office/powerpoint/2010/main" val="186619834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hree things to take back">
            <a:extLst xmlns:a="http://schemas.openxmlformats.org/drawingml/2006/main">
              <a:ext uri="{FF2B5EF4-FFF2-40B4-BE49-F238E27FC236}">
                <a16:creationId xmlns:a16="http://schemas.microsoft.com/office/drawing/2014/main" id="{FE1D843A-50B1-4385-AD16-E5E45393EE31}"/>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Three things to take back</a:t>
            </a:r>
          </a:p>
        </p:txBody>
      </p:sp>
      <p:sp>
        <p:nvSpPr>
          <p:cNvPr id="2" name="14">
            <a:extLst xmlns:a="http://schemas.openxmlformats.org/drawingml/2006/main">
              <a:ext uri="{FF2B5EF4-FFF2-40B4-BE49-F238E27FC236}">
                <a16:creationId xmlns:a16="http://schemas.microsoft.com/office/drawing/2014/main" id="{25EF13AD-C1D5-4A4E-9D92-6D15C7FD0FA6}"/>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14</a:t>
            </a:r>
          </a:p>
        </p:txBody>
      </p:sp>
      <p:sp>
        <p:nvSpPr>
          <p:cNvPr id="3" name="01">
            <a:extLst xmlns:a="http://schemas.openxmlformats.org/drawingml/2006/main">
              <a:ext uri="{FF2B5EF4-FFF2-40B4-BE49-F238E27FC236}">
                <a16:creationId xmlns:a16="http://schemas.microsoft.com/office/drawing/2014/main" id="{B8B5D1B7-DAE8-4449-A40B-573C51884305}"/>
              </a:ext>
            </a:extLst>
          </p:cNvPr>
          <p:cNvSpPr>
            <a:spLocks xmlns:a="http://schemas.openxmlformats.org/drawingml/2006/main" noGrp="1"/>
          </p:cNvSpPr>
          <p:nvPr/>
        </p:nvSpPr>
        <p:spPr>
          <a:xfrm xmlns:a="http://schemas.openxmlformats.org/drawingml/2006/main">
            <a:off x="704850" y="2019300"/>
            <a:ext cx="83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08B84"/>
                </a:solidFill>
                <a:latin typeface="Arial"/>
                <a:ea typeface="Arial"/>
                <a:cs typeface="Arial"/>
              </a:defRPr>
            </a:pPr>
            <a:r>
              <a:rPr sz="2850" b="1">
                <a:solidFill>
                  <a:srgbClr val="008B84"/>
                </a:solidFill>
                <a:latin typeface="Arial"/>
                <a:ea typeface="Arial"/>
                <a:cs typeface="Arial"/>
              </a:rPr>
              <a:t>01</a:t>
            </a:r>
          </a:p>
        </p:txBody>
      </p:sp>
      <p:sp>
        <p:nvSpPr>
          <p:cNvPr id="4" name="Define the output of each stage">
            <a:extLst xmlns:a="http://schemas.openxmlformats.org/drawingml/2006/main">
              <a:ext uri="{FF2B5EF4-FFF2-40B4-BE49-F238E27FC236}">
                <a16:creationId xmlns:a16="http://schemas.microsoft.com/office/drawing/2014/main" id="{3E9E050F-C1BC-4FBC-ACB1-FD3B5CCCD7D1}"/>
              </a:ext>
            </a:extLst>
          </p:cNvPr>
          <p:cNvSpPr>
            <a:spLocks xmlns:a="http://schemas.openxmlformats.org/drawingml/2006/main" noGrp="1"/>
          </p:cNvSpPr>
          <p:nvPr/>
        </p:nvSpPr>
        <p:spPr>
          <a:xfrm xmlns:a="http://schemas.openxmlformats.org/drawingml/2006/main">
            <a:off x="2038350" y="2019300"/>
            <a:ext cx="9353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2D38"/>
                </a:solidFill>
                <a:latin typeface="Arial"/>
                <a:ea typeface="Arial"/>
                <a:cs typeface="Arial"/>
              </a:defRPr>
            </a:pPr>
            <a:r>
              <a:rPr sz="2850" b="1">
                <a:solidFill>
                  <a:srgbClr val="172D38"/>
                </a:solidFill>
                <a:latin typeface="Arial"/>
                <a:ea typeface="Arial"/>
                <a:cs typeface="Arial"/>
              </a:rPr>
              <a:t>Define the output of each stage</a:t>
            </a:r>
          </a:p>
        </p:txBody>
      </p:sp>
      <p:sp>
        <p:nvSpPr>
          <p:cNvPr id="5" name="">
            <a:extLst xmlns:a="http://schemas.openxmlformats.org/drawingml/2006/main">
              <a:ext uri="{FF2B5EF4-FFF2-40B4-BE49-F238E27FC236}">
                <a16:creationId xmlns:a16="http://schemas.microsoft.com/office/drawing/2014/main" id="{B5E326FD-E872-43F7-A036-06693ACE0145}"/>
              </a:ext>
            </a:extLst>
          </p:cNvPr>
          <p:cNvSpPr>
            <a:spLocks xmlns:a="http://schemas.openxmlformats.org/drawingml/2006/main" noGrp="1"/>
          </p:cNvSpPr>
          <p:nvPr/>
        </p:nvSpPr>
        <p:spPr>
          <a:xfrm xmlns:a="http://schemas.openxmlformats.org/drawingml/2006/main">
            <a:off x="2038350" y="2895600"/>
            <a:ext cx="9353550" cy="0"/>
          </a:xfrm>
          <a:prstGeom xmlns:a="http://schemas.openxmlformats.org/drawingml/2006/main" prst="line">
            <a:avLst/>
          </a:prstGeom>
          <a:noFill xmlns:a="http://schemas.openxmlformats.org/drawingml/2006/main"/>
          <a:ln xmlns:a="http://schemas.openxmlformats.org/drawingml/2006/main" w="14288">
            <a:solidFill>
              <a:srgbClr val="BDCDD2"/>
            </a:solidFill>
          </a:ln>
        </p:spPr>
      </p:sp>
      <p:sp>
        <p:nvSpPr>
          <p:cNvPr id="6" name="02">
            <a:extLst xmlns:a="http://schemas.openxmlformats.org/drawingml/2006/main">
              <a:ext uri="{FF2B5EF4-FFF2-40B4-BE49-F238E27FC236}">
                <a16:creationId xmlns:a16="http://schemas.microsoft.com/office/drawing/2014/main" id="{3A9A15E5-DD42-494F-B860-7B143C44D786}"/>
              </a:ext>
            </a:extLst>
          </p:cNvPr>
          <p:cNvSpPr>
            <a:spLocks xmlns:a="http://schemas.openxmlformats.org/drawingml/2006/main" noGrp="1"/>
          </p:cNvSpPr>
          <p:nvPr/>
        </p:nvSpPr>
        <p:spPr>
          <a:xfrm xmlns:a="http://schemas.openxmlformats.org/drawingml/2006/main">
            <a:off x="704850" y="3209925"/>
            <a:ext cx="83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08B84"/>
                </a:solidFill>
                <a:latin typeface="Arial"/>
                <a:ea typeface="Arial"/>
                <a:cs typeface="Arial"/>
              </a:defRPr>
            </a:pPr>
            <a:r>
              <a:rPr sz="2850" b="1">
                <a:solidFill>
                  <a:srgbClr val="008B84"/>
                </a:solidFill>
                <a:latin typeface="Arial"/>
                <a:ea typeface="Arial"/>
                <a:cs typeface="Arial"/>
              </a:rPr>
              <a:t>02</a:t>
            </a:r>
          </a:p>
        </p:txBody>
      </p:sp>
      <p:sp>
        <p:nvSpPr>
          <p:cNvPr id="7" name="Pass artifacts that others can verify">
            <a:extLst xmlns:a="http://schemas.openxmlformats.org/drawingml/2006/main">
              <a:ext uri="{FF2B5EF4-FFF2-40B4-BE49-F238E27FC236}">
                <a16:creationId xmlns:a16="http://schemas.microsoft.com/office/drawing/2014/main" id="{86271DC7-FA2F-4F04-9EAE-B42484A5AC50}"/>
              </a:ext>
            </a:extLst>
          </p:cNvPr>
          <p:cNvSpPr>
            <a:spLocks xmlns:a="http://schemas.openxmlformats.org/drawingml/2006/main" noGrp="1"/>
          </p:cNvSpPr>
          <p:nvPr/>
        </p:nvSpPr>
        <p:spPr>
          <a:xfrm xmlns:a="http://schemas.openxmlformats.org/drawingml/2006/main">
            <a:off x="2038350" y="3209925"/>
            <a:ext cx="9353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2D38"/>
                </a:solidFill>
                <a:latin typeface="Arial"/>
                <a:ea typeface="Arial"/>
                <a:cs typeface="Arial"/>
              </a:defRPr>
            </a:pPr>
            <a:r>
              <a:rPr sz="2850" b="1">
                <a:solidFill>
                  <a:srgbClr val="172D38"/>
                </a:solidFill>
                <a:latin typeface="Arial"/>
                <a:ea typeface="Arial"/>
                <a:cs typeface="Arial"/>
              </a:rPr>
              <a:t>Pass artifacts that others can verify</a:t>
            </a:r>
          </a:p>
        </p:txBody>
      </p:sp>
      <p:sp>
        <p:nvSpPr>
          <p:cNvPr id="8" name="">
            <a:extLst xmlns:a="http://schemas.openxmlformats.org/drawingml/2006/main">
              <a:ext uri="{FF2B5EF4-FFF2-40B4-BE49-F238E27FC236}">
                <a16:creationId xmlns:a16="http://schemas.microsoft.com/office/drawing/2014/main" id="{9981D128-9D36-457D-93FE-7C260B6D3AE1}"/>
              </a:ext>
            </a:extLst>
          </p:cNvPr>
          <p:cNvSpPr>
            <a:spLocks xmlns:a="http://schemas.openxmlformats.org/drawingml/2006/main" noGrp="1"/>
          </p:cNvSpPr>
          <p:nvPr/>
        </p:nvSpPr>
        <p:spPr>
          <a:xfrm xmlns:a="http://schemas.openxmlformats.org/drawingml/2006/main">
            <a:off x="2038350" y="4086225"/>
            <a:ext cx="9353550" cy="0"/>
          </a:xfrm>
          <a:prstGeom xmlns:a="http://schemas.openxmlformats.org/drawingml/2006/main" prst="line">
            <a:avLst/>
          </a:prstGeom>
          <a:noFill xmlns:a="http://schemas.openxmlformats.org/drawingml/2006/main"/>
          <a:ln xmlns:a="http://schemas.openxmlformats.org/drawingml/2006/main" w="14288">
            <a:solidFill>
              <a:srgbClr val="BDCDD2"/>
            </a:solidFill>
          </a:ln>
        </p:spPr>
      </p:sp>
      <p:sp>
        <p:nvSpPr>
          <p:cNvPr id="9" name="03">
            <a:extLst xmlns:a="http://schemas.openxmlformats.org/drawingml/2006/main">
              <a:ext uri="{FF2B5EF4-FFF2-40B4-BE49-F238E27FC236}">
                <a16:creationId xmlns:a16="http://schemas.microsoft.com/office/drawing/2014/main" id="{DA02D4FB-33AA-4FB8-8185-A4EF5D02E668}"/>
              </a:ext>
            </a:extLst>
          </p:cNvPr>
          <p:cNvSpPr>
            <a:spLocks xmlns:a="http://schemas.openxmlformats.org/drawingml/2006/main" noGrp="1"/>
          </p:cNvSpPr>
          <p:nvPr/>
        </p:nvSpPr>
        <p:spPr>
          <a:xfrm xmlns:a="http://schemas.openxmlformats.org/drawingml/2006/main">
            <a:off x="704850" y="4400550"/>
            <a:ext cx="838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008B84"/>
                </a:solidFill>
                <a:latin typeface="Arial"/>
                <a:ea typeface="Arial"/>
                <a:cs typeface="Arial"/>
              </a:defRPr>
            </a:pPr>
            <a:r>
              <a:rPr sz="2850" b="1">
                <a:solidFill>
                  <a:srgbClr val="008B84"/>
                </a:solidFill>
                <a:latin typeface="Arial"/>
                <a:ea typeface="Arial"/>
                <a:cs typeface="Arial"/>
              </a:rPr>
              <a:t>03</a:t>
            </a:r>
          </a:p>
        </p:txBody>
      </p:sp>
      <p:sp>
        <p:nvSpPr>
          <p:cNvPr id="10" name="Repeat verification after code changes">
            <a:extLst xmlns:a="http://schemas.openxmlformats.org/drawingml/2006/main">
              <a:ext uri="{FF2B5EF4-FFF2-40B4-BE49-F238E27FC236}">
                <a16:creationId xmlns:a16="http://schemas.microsoft.com/office/drawing/2014/main" id="{9854A859-DA4A-4B49-B9C3-6A790CBFB2BF}"/>
              </a:ext>
            </a:extLst>
          </p:cNvPr>
          <p:cNvSpPr>
            <a:spLocks xmlns:a="http://schemas.openxmlformats.org/drawingml/2006/main" noGrp="1"/>
          </p:cNvSpPr>
          <p:nvPr/>
        </p:nvSpPr>
        <p:spPr>
          <a:xfrm xmlns:a="http://schemas.openxmlformats.org/drawingml/2006/main">
            <a:off x="2038350" y="4400550"/>
            <a:ext cx="93535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72D38"/>
                </a:solidFill>
                <a:latin typeface="Arial"/>
                <a:ea typeface="Arial"/>
                <a:cs typeface="Arial"/>
              </a:defRPr>
            </a:pPr>
            <a:r>
              <a:rPr sz="2850" b="1">
                <a:solidFill>
                  <a:srgbClr val="172D38"/>
                </a:solidFill>
                <a:latin typeface="Arial"/>
                <a:ea typeface="Arial"/>
                <a:cs typeface="Arial"/>
              </a:rPr>
              <a:t>Repeat verification after code changes</a:t>
            </a:r>
          </a:p>
        </p:txBody>
      </p:sp>
      <p:sp>
        <p:nvSpPr>
          <p:cNvPr id="11" name="github.com/TeleginS/agent-orchestration">
            <a:extLst xmlns:a="http://schemas.openxmlformats.org/drawingml/2006/main">
              <a:ext uri="{FF2B5EF4-FFF2-40B4-BE49-F238E27FC236}">
                <a16:creationId xmlns:a16="http://schemas.microsoft.com/office/drawing/2014/main" id="{5CB9B7B8-5D89-4747-A8A6-EBD0AC07DDC2}"/>
              </a:ext>
            </a:extLst>
          </p:cNvPr>
          <p:cNvSpPr>
            <a:spLocks xmlns:a="http://schemas.openxmlformats.org/drawingml/2006/main" noGrp="1"/>
          </p:cNvSpPr>
          <p:nvPr/>
        </p:nvSpPr>
        <p:spPr>
          <a:xfrm xmlns:a="http://schemas.openxmlformats.org/drawingml/2006/main">
            <a:off x="704850" y="59055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008B84"/>
                </a:solidFill>
                <a:latin typeface="Arial"/>
                <a:ea typeface="Arial"/>
                <a:cs typeface="Arial"/>
              </a:defRPr>
            </a:pPr>
            <a:r>
              <a:rPr sz="2025" b="0">
                <a:solidFill>
                  <a:srgbClr val="008B84"/>
                </a:solidFill>
                <a:latin typeface="Arial"/>
                <a:ea typeface="Arial"/>
                <a:cs typeface="Arial"/>
                <a:hlinkClick xmlns:r="http://schemas.openxmlformats.org/officeDocument/2006/relationships" r:id="Rde78c5e606ab440f"/>
              </a:rPr>
              <a:t>github.com/TeleginS/agent-orchestration</a:t>
            </a:r>
          </a:p>
        </p:txBody>
      </p:sp>
    </p:spTree>
    <p:extLst>
      <p:ext uri="{BB962C8B-B14F-4D97-AF65-F5344CB8AC3E}">
        <p14:creationId xmlns:p14="http://schemas.microsoft.com/office/powerpoint/2010/main" val="9827677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Full workflow and transition conditions">
            <a:extLst xmlns:a="http://schemas.openxmlformats.org/drawingml/2006/main">
              <a:ext uri="{FF2B5EF4-FFF2-40B4-BE49-F238E27FC236}">
                <a16:creationId xmlns:a16="http://schemas.microsoft.com/office/drawing/2014/main" id="{1FF012FE-F42A-4FBA-B3D3-2C7AD1D1310B}"/>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Full workflow and transition conditions</a:t>
            </a:r>
          </a:p>
        </p:txBody>
      </p:sp>
      <p:sp>
        <p:nvSpPr>
          <p:cNvPr id="2" name="Backup · Current documented pipeline">
            <a:extLst xmlns:a="http://schemas.openxmlformats.org/drawingml/2006/main">
              <a:ext uri="{FF2B5EF4-FFF2-40B4-BE49-F238E27FC236}">
                <a16:creationId xmlns:a16="http://schemas.microsoft.com/office/drawing/2014/main" id="{CAE64CA5-E045-4904-A542-E3A8598298DC}"/>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Backup · Current documented pipeline</a:t>
            </a:r>
          </a:p>
        </p:txBody>
      </p:sp>
      <p:sp>
        <p:nvSpPr>
          <p:cNvPr id="3" name="15">
            <a:extLst xmlns:a="http://schemas.openxmlformats.org/drawingml/2006/main">
              <a:ext uri="{FF2B5EF4-FFF2-40B4-BE49-F238E27FC236}">
                <a16:creationId xmlns:a16="http://schemas.microsoft.com/office/drawing/2014/main" id="{9A08E4F7-A599-4BDF-BD53-D48BA4BEB557}"/>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15</a:t>
            </a:r>
          </a:p>
        </p:txBody>
      </p:sp>
      <p:sp>
        <p:nvSpPr>
          <p:cNvPr id="4" name="0  Design">
            <a:extLst xmlns:a="http://schemas.openxmlformats.org/drawingml/2006/main">
              <a:ext uri="{FF2B5EF4-FFF2-40B4-BE49-F238E27FC236}">
                <a16:creationId xmlns:a16="http://schemas.microsoft.com/office/drawing/2014/main" id="{61EA9C7A-7005-48FB-9240-C60728EAB894}"/>
              </a:ext>
            </a:extLst>
          </p:cNvPr>
          <p:cNvSpPr>
            <a:spLocks xmlns:a="http://schemas.openxmlformats.org/drawingml/2006/main" noGrp="1"/>
          </p:cNvSpPr>
          <p:nvPr/>
        </p:nvSpPr>
        <p:spPr>
          <a:xfrm xmlns:a="http://schemas.openxmlformats.org/drawingml/2006/main">
            <a:off x="514350" y="1990725"/>
            <a:ext cx="1524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0  Design</a:t>
            </a:r>
          </a:p>
        </p:txBody>
      </p:sp>
      <p:sp>
        <p:nvSpPr>
          <p:cNvPr id="5" name="1  Plan">
            <a:extLst xmlns:a="http://schemas.openxmlformats.org/drawingml/2006/main">
              <a:ext uri="{FF2B5EF4-FFF2-40B4-BE49-F238E27FC236}">
                <a16:creationId xmlns:a16="http://schemas.microsoft.com/office/drawing/2014/main" id="{410A911C-3E5E-49CE-8732-DB02CF49D457}"/>
              </a:ext>
            </a:extLst>
          </p:cNvPr>
          <p:cNvSpPr>
            <a:spLocks xmlns:a="http://schemas.openxmlformats.org/drawingml/2006/main" noGrp="1"/>
          </p:cNvSpPr>
          <p:nvPr/>
        </p:nvSpPr>
        <p:spPr>
          <a:xfrm xmlns:a="http://schemas.openxmlformats.org/drawingml/2006/main">
            <a:off x="2486025" y="1990725"/>
            <a:ext cx="1524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1  Plan</a:t>
            </a:r>
          </a:p>
        </p:txBody>
      </p:sp>
      <p:sp>
        <p:nvSpPr>
          <p:cNvPr id="6" name="2  Branch">
            <a:extLst xmlns:a="http://schemas.openxmlformats.org/drawingml/2006/main">
              <a:ext uri="{FF2B5EF4-FFF2-40B4-BE49-F238E27FC236}">
                <a16:creationId xmlns:a16="http://schemas.microsoft.com/office/drawing/2014/main" id="{899B4F81-7DFA-45DD-8732-1E1563A6498D}"/>
              </a:ext>
            </a:extLst>
          </p:cNvPr>
          <p:cNvSpPr>
            <a:spLocks xmlns:a="http://schemas.openxmlformats.org/drawingml/2006/main" noGrp="1"/>
          </p:cNvSpPr>
          <p:nvPr/>
        </p:nvSpPr>
        <p:spPr>
          <a:xfrm xmlns:a="http://schemas.openxmlformats.org/drawingml/2006/main">
            <a:off x="4457700" y="1990725"/>
            <a:ext cx="1524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2  Branch</a:t>
            </a:r>
          </a:p>
        </p:txBody>
      </p:sp>
      <p:sp>
        <p:nvSpPr>
          <p:cNvPr id="7" name="3  Dev / PR">
            <a:extLst xmlns:a="http://schemas.openxmlformats.org/drawingml/2006/main">
              <a:ext uri="{FF2B5EF4-FFF2-40B4-BE49-F238E27FC236}">
                <a16:creationId xmlns:a16="http://schemas.microsoft.com/office/drawing/2014/main" id="{B07FCFA5-F26A-40BD-812F-8EB2356AC79F}"/>
              </a:ext>
            </a:extLst>
          </p:cNvPr>
          <p:cNvSpPr>
            <a:spLocks xmlns:a="http://schemas.openxmlformats.org/drawingml/2006/main" noGrp="1"/>
          </p:cNvSpPr>
          <p:nvPr/>
        </p:nvSpPr>
        <p:spPr>
          <a:xfrm xmlns:a="http://schemas.openxmlformats.org/drawingml/2006/main">
            <a:off x="6429375" y="1990725"/>
            <a:ext cx="1524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3  Dev / PR</a:t>
            </a:r>
          </a:p>
        </p:txBody>
      </p:sp>
      <p:sp>
        <p:nvSpPr>
          <p:cNvPr id="8" name="4  Review">
            <a:extLst xmlns:a="http://schemas.openxmlformats.org/drawingml/2006/main">
              <a:ext uri="{FF2B5EF4-FFF2-40B4-BE49-F238E27FC236}">
                <a16:creationId xmlns:a16="http://schemas.microsoft.com/office/drawing/2014/main" id="{5417A913-7DEA-4725-AD18-9F1355FA8623}"/>
              </a:ext>
            </a:extLst>
          </p:cNvPr>
          <p:cNvSpPr>
            <a:spLocks xmlns:a="http://schemas.openxmlformats.org/drawingml/2006/main" noGrp="1"/>
          </p:cNvSpPr>
          <p:nvPr/>
        </p:nvSpPr>
        <p:spPr>
          <a:xfrm xmlns:a="http://schemas.openxmlformats.org/drawingml/2006/main">
            <a:off x="8401050" y="1990725"/>
            <a:ext cx="1524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4  Review</a:t>
            </a:r>
          </a:p>
        </p:txBody>
      </p:sp>
      <p:sp>
        <p:nvSpPr>
          <p:cNvPr id="9" name="5  QA">
            <a:extLst xmlns:a="http://schemas.openxmlformats.org/drawingml/2006/main">
              <a:ext uri="{FF2B5EF4-FFF2-40B4-BE49-F238E27FC236}">
                <a16:creationId xmlns:a16="http://schemas.microsoft.com/office/drawing/2014/main" id="{454C449E-34C7-4FE4-A40C-B52A8684A2D1}"/>
              </a:ext>
            </a:extLst>
          </p:cNvPr>
          <p:cNvSpPr>
            <a:spLocks xmlns:a="http://schemas.openxmlformats.org/drawingml/2006/main" noGrp="1"/>
          </p:cNvSpPr>
          <p:nvPr/>
        </p:nvSpPr>
        <p:spPr>
          <a:xfrm xmlns:a="http://schemas.openxmlformats.org/drawingml/2006/main">
            <a:off x="10372725" y="1990725"/>
            <a:ext cx="1524000" cy="647700"/>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5  QA</a:t>
            </a:r>
          </a:p>
        </p:txBody>
      </p:sp>
      <p:cxnSp>
        <p:nvCxnSpPr>
          <p:cNvPr id="39" name=""/>
          <p:cNvCxnSpPr>
            <a:stCxn xmlns:a="http://schemas.openxmlformats.org/drawingml/2006/main" id="4" idx="3"/>
            <a:endCxn xmlns:a="http://schemas.openxmlformats.org/drawingml/2006/main" id="5" idx="1"/>
          </p:cNvCxnSpPr>
          <p:nvPr/>
        </p:nvCxnSpPr>
        <p:spPr>
          <a:xfrm xmlns:a="http://schemas.openxmlformats.org/drawingml/2006/main">
            <a:off x="2038350" y="2314575"/>
            <a:ext cx="44767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40" name=""/>
          <p:cNvCxnSpPr>
            <a:stCxn xmlns:a="http://schemas.openxmlformats.org/drawingml/2006/main" id="5" idx="3"/>
            <a:endCxn xmlns:a="http://schemas.openxmlformats.org/drawingml/2006/main" id="6" idx="1"/>
          </p:cNvCxnSpPr>
          <p:nvPr/>
        </p:nvCxnSpPr>
        <p:spPr>
          <a:xfrm xmlns:a="http://schemas.openxmlformats.org/drawingml/2006/main">
            <a:off x="4010025" y="2314575"/>
            <a:ext cx="44767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41" name=""/>
          <p:cNvCxnSpPr>
            <a:stCxn xmlns:a="http://schemas.openxmlformats.org/drawingml/2006/main" id="6" idx="3"/>
            <a:endCxn xmlns:a="http://schemas.openxmlformats.org/drawingml/2006/main" id="7" idx="1"/>
          </p:cNvCxnSpPr>
          <p:nvPr/>
        </p:nvCxnSpPr>
        <p:spPr>
          <a:xfrm xmlns:a="http://schemas.openxmlformats.org/drawingml/2006/main">
            <a:off x="5981700" y="2314575"/>
            <a:ext cx="44767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42" name=""/>
          <p:cNvCxnSpPr>
            <a:stCxn xmlns:a="http://schemas.openxmlformats.org/drawingml/2006/main" id="7" idx="3"/>
            <a:endCxn xmlns:a="http://schemas.openxmlformats.org/drawingml/2006/main" id="8" idx="1"/>
          </p:cNvCxnSpPr>
          <p:nvPr/>
        </p:nvCxnSpPr>
        <p:spPr>
          <a:xfrm xmlns:a="http://schemas.openxmlformats.org/drawingml/2006/main">
            <a:off x="7953375" y="2314575"/>
            <a:ext cx="44767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43" name=""/>
          <p:cNvCxnSpPr>
            <a:stCxn xmlns:a="http://schemas.openxmlformats.org/drawingml/2006/main" id="8" idx="3"/>
            <a:endCxn xmlns:a="http://schemas.openxmlformats.org/drawingml/2006/main" id="9" idx="1"/>
          </p:cNvCxnSpPr>
          <p:nvPr/>
        </p:nvCxnSpPr>
        <p:spPr>
          <a:xfrm xmlns:a="http://schemas.openxmlformats.org/drawingml/2006/main">
            <a:off x="9925050" y="2314575"/>
            <a:ext cx="447675" cy="0"/>
          </a:xfrm>
          <a:prstGeom xmlns:a="http://schemas.openxmlformats.org/drawingml/2006/main" prst="straightConnector1">
            <a:avLst/>
          </a:prstGeom>
          <a:ln xmlns:a="http://schemas.openxmlformats.org/drawingml/2006/main" w="19050">
            <a:solidFill>
              <a:srgbClr val="BDCDD2"/>
            </a:solidFill>
            <a:tailEnd type="triangle" w="sm" len="sm"/>
          </a:ln>
        </p:spPr>
      </p:cxnSp>
      <p:sp>
        <p:nvSpPr>
          <p:cNvPr id="15" name="10  Report">
            <a:extLst xmlns:a="http://schemas.openxmlformats.org/drawingml/2006/main">
              <a:ext uri="{FF2B5EF4-FFF2-40B4-BE49-F238E27FC236}">
                <a16:creationId xmlns:a16="http://schemas.microsoft.com/office/drawing/2014/main" id="{26270400-C133-4B1D-BBCE-F61E943FA3FE}"/>
              </a:ext>
            </a:extLst>
          </p:cNvPr>
          <p:cNvSpPr>
            <a:spLocks xmlns:a="http://schemas.openxmlformats.org/drawingml/2006/main" noGrp="1"/>
          </p:cNvSpPr>
          <p:nvPr/>
        </p:nvSpPr>
        <p:spPr>
          <a:xfrm xmlns:a="http://schemas.openxmlformats.org/drawingml/2006/main">
            <a:off x="704850" y="5200650"/>
            <a:ext cx="17430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10  Report</a:t>
            </a:r>
          </a:p>
        </p:txBody>
      </p:sp>
      <p:sp>
        <p:nvSpPr>
          <p:cNvPr id="16" name="9  Settings*">
            <a:extLst xmlns:a="http://schemas.openxmlformats.org/drawingml/2006/main">
              <a:ext uri="{FF2B5EF4-FFF2-40B4-BE49-F238E27FC236}">
                <a16:creationId xmlns:a16="http://schemas.microsoft.com/office/drawing/2014/main" id="{93B1CF01-FB42-425B-9270-F7F9EB46E44D}"/>
              </a:ext>
            </a:extLst>
          </p:cNvPr>
          <p:cNvSpPr>
            <a:spLocks xmlns:a="http://schemas.openxmlformats.org/drawingml/2006/main" noGrp="1"/>
          </p:cNvSpPr>
          <p:nvPr/>
        </p:nvSpPr>
        <p:spPr>
          <a:xfrm xmlns:a="http://schemas.openxmlformats.org/drawingml/2006/main">
            <a:off x="3028950" y="5200650"/>
            <a:ext cx="17430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9  Settings*</a:t>
            </a:r>
          </a:p>
        </p:txBody>
      </p:sp>
      <p:sp>
        <p:nvSpPr>
          <p:cNvPr id="17" name="8  Issues">
            <a:extLst xmlns:a="http://schemas.openxmlformats.org/drawingml/2006/main">
              <a:ext uri="{FF2B5EF4-FFF2-40B4-BE49-F238E27FC236}">
                <a16:creationId xmlns:a16="http://schemas.microsoft.com/office/drawing/2014/main" id="{FDAED34F-0C41-42D1-A850-321C8C348C92}"/>
              </a:ext>
            </a:extLst>
          </p:cNvPr>
          <p:cNvSpPr>
            <a:spLocks xmlns:a="http://schemas.openxmlformats.org/drawingml/2006/main" noGrp="1"/>
          </p:cNvSpPr>
          <p:nvPr/>
        </p:nvSpPr>
        <p:spPr>
          <a:xfrm xmlns:a="http://schemas.openxmlformats.org/drawingml/2006/main">
            <a:off x="5353050" y="5200650"/>
            <a:ext cx="17430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8  Issues</a:t>
            </a:r>
          </a:p>
        </p:txBody>
      </p:sp>
      <p:sp>
        <p:nvSpPr>
          <p:cNvPr id="18" name="7  Artifacts">
            <a:extLst xmlns:a="http://schemas.openxmlformats.org/drawingml/2006/main">
              <a:ext uri="{FF2B5EF4-FFF2-40B4-BE49-F238E27FC236}">
                <a16:creationId xmlns:a16="http://schemas.microsoft.com/office/drawing/2014/main" id="{AA68CB29-AFC8-46E9-9E8D-7935A57816DA}"/>
              </a:ext>
            </a:extLst>
          </p:cNvPr>
          <p:cNvSpPr>
            <a:spLocks xmlns:a="http://schemas.openxmlformats.org/drawingml/2006/main" noGrp="1"/>
          </p:cNvSpPr>
          <p:nvPr/>
        </p:nvSpPr>
        <p:spPr>
          <a:xfrm xmlns:a="http://schemas.openxmlformats.org/drawingml/2006/main">
            <a:off x="7677150" y="5200650"/>
            <a:ext cx="17430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725" b="1">
                <a:solidFill>
                  <a:srgbClr val="172D38"/>
                </a:solidFill>
                <a:latin typeface="Arial"/>
                <a:ea typeface="Arial"/>
                <a:cs typeface="Arial"/>
              </a:defRPr>
            </a:pPr>
            <a:r>
              <a:rPr sz="1725" b="1">
                <a:solidFill>
                  <a:srgbClr val="172D38"/>
                </a:solidFill>
                <a:latin typeface="Arial"/>
                <a:ea typeface="Arial"/>
                <a:cs typeface="Arial"/>
              </a:rPr>
              <a:t>7  Artifacts</a:t>
            </a:r>
          </a:p>
        </p:txBody>
      </p:sp>
      <p:sp>
        <p:nvSpPr>
          <p:cNvPr id="19" name="6  Fix, review,&#10;QA retest">
            <a:extLst xmlns:a="http://schemas.openxmlformats.org/drawingml/2006/main">
              <a:ext uri="{FF2B5EF4-FFF2-40B4-BE49-F238E27FC236}">
                <a16:creationId xmlns:a16="http://schemas.microsoft.com/office/drawing/2014/main" id="{AB4B9F38-4CEB-4C2B-9A52-AF35A5734EC8}"/>
              </a:ext>
            </a:extLst>
          </p:cNvPr>
          <p:cNvSpPr>
            <a:spLocks xmlns:a="http://schemas.openxmlformats.org/drawingml/2006/main" noGrp="1"/>
          </p:cNvSpPr>
          <p:nvPr/>
        </p:nvSpPr>
        <p:spPr>
          <a:xfrm xmlns:a="http://schemas.openxmlformats.org/drawingml/2006/main">
            <a:off x="10001250" y="5200650"/>
            <a:ext cx="1743075" cy="752475"/>
          </a:xfrm>
          <a:prstGeom xmlns:a="http://schemas.openxmlformats.org/drawingml/2006/main" prst="rect">
            <a:avLst/>
          </a:prstGeom>
          <a:solidFill xmlns:a="http://schemas.openxmlformats.org/drawingml/2006/main">
            <a:srgbClr val="FFFFFF"/>
          </a:solidFill>
          <a:ln xmlns:a="http://schemas.openxmlformats.org/drawingml/2006/main" w="14288">
            <a:solidFill>
              <a:srgbClr val="BDCDD2"/>
            </a:solidFill>
          </a:ln>
        </p:spPr>
        <p:txBody>
          <a:bodyPr xmlns:a="http://schemas.openxmlformats.org/drawingml/2006/main" lIns="95250" tIns="57150" rIns="95250" bIns="57150" anchor="ctr">
            <a:noAutofit/>
          </a:bodyPr>
          <a:lstStyle xmlns:a="http://schemas.openxmlformats.org/drawingml/2006/main"/>
          <a:p xmlns:a="http://schemas.openxmlformats.org/drawingml/2006/main">
            <a:pPr algn="ctr">
              <a:defRPr sz="1575" b="1">
                <a:solidFill>
                  <a:srgbClr val="172D38"/>
                </a:solidFill>
                <a:latin typeface="Arial"/>
                <a:ea typeface="Arial"/>
                <a:cs typeface="Arial"/>
              </a:defRPr>
            </a:pPr>
            <a:r>
              <a:rPr sz="1575" b="1">
                <a:solidFill>
                  <a:srgbClr val="172D38"/>
                </a:solidFill>
                <a:latin typeface="Arial"/>
                <a:ea typeface="Arial"/>
                <a:cs typeface="Arial"/>
              </a:rPr>
              <a:t>6  Fix, review,</a:t>
            </a:r>
          </a:p>
          <a:p xmlns:a="http://schemas.openxmlformats.org/drawingml/2006/main">
            <a:pPr algn="ctr">
              <a:defRPr sz="1575" b="1">
                <a:solidFill>
                  <a:srgbClr val="172D38"/>
                </a:solidFill>
                <a:latin typeface="Arial"/>
                <a:ea typeface="Arial"/>
                <a:cs typeface="Arial"/>
              </a:defRPr>
            </a:pPr>
            <a:r>
              <a:rPr sz="1575" b="1">
                <a:solidFill>
                  <a:srgbClr val="172D38"/>
                </a:solidFill>
                <a:latin typeface="Arial"/>
                <a:ea typeface="Arial"/>
                <a:cs typeface="Arial"/>
              </a:rPr>
              <a:t>QA retest</a:t>
            </a:r>
          </a:p>
        </p:txBody>
      </p:sp>
      <p:cxnSp>
        <p:nvCxnSpPr>
          <p:cNvPr id="49" name=""/>
          <p:cNvCxnSpPr>
            <a:stCxn xmlns:a="http://schemas.openxmlformats.org/drawingml/2006/main" id="19" idx="1"/>
            <a:endCxn xmlns:a="http://schemas.openxmlformats.org/drawingml/2006/main" id="18" idx="3"/>
          </p:cNvCxnSpPr>
          <p:nvPr/>
        </p:nvCxnSpPr>
        <p:spPr>
          <a:xfrm xmlns:a="http://schemas.openxmlformats.org/drawingml/2006/main" flipH="1">
            <a:off x="9420225" y="5576888"/>
            <a:ext cx="581025" cy="0"/>
          </a:xfrm>
          <a:prstGeom xmlns:a="http://schemas.openxmlformats.org/drawingml/2006/main" prst="straightConnector1">
            <a:avLst/>
          </a:prstGeom>
          <a:ln xmlns:a="http://schemas.openxmlformats.org/drawingml/2006/main" w="19050">
            <a:solidFill>
              <a:srgbClr val="16794B"/>
            </a:solidFill>
            <a:tailEnd type="triangle" w="sm" len="sm"/>
          </a:ln>
        </p:spPr>
      </p:cxnSp>
      <p:cxnSp>
        <p:nvCxnSpPr>
          <p:cNvPr id="50" name=""/>
          <p:cNvCxnSpPr>
            <a:stCxn xmlns:a="http://schemas.openxmlformats.org/drawingml/2006/main" id="18" idx="1"/>
            <a:endCxn xmlns:a="http://schemas.openxmlformats.org/drawingml/2006/main" id="17" idx="3"/>
          </p:cNvCxnSpPr>
          <p:nvPr/>
        </p:nvCxnSpPr>
        <p:spPr>
          <a:xfrm xmlns:a="http://schemas.openxmlformats.org/drawingml/2006/main" flipH="1">
            <a:off x="7096125" y="5576888"/>
            <a:ext cx="58102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51" name=""/>
          <p:cNvCxnSpPr>
            <a:stCxn xmlns:a="http://schemas.openxmlformats.org/drawingml/2006/main" id="17" idx="1"/>
            <a:endCxn xmlns:a="http://schemas.openxmlformats.org/drawingml/2006/main" id="16" idx="3"/>
          </p:cNvCxnSpPr>
          <p:nvPr/>
        </p:nvCxnSpPr>
        <p:spPr>
          <a:xfrm xmlns:a="http://schemas.openxmlformats.org/drawingml/2006/main" flipH="1">
            <a:off x="4772025" y="5576888"/>
            <a:ext cx="58102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52" name=""/>
          <p:cNvCxnSpPr>
            <a:stCxn xmlns:a="http://schemas.openxmlformats.org/drawingml/2006/main" id="16" idx="1"/>
            <a:endCxn xmlns:a="http://schemas.openxmlformats.org/drawingml/2006/main" id="15" idx="3"/>
          </p:cNvCxnSpPr>
          <p:nvPr/>
        </p:nvCxnSpPr>
        <p:spPr>
          <a:xfrm xmlns:a="http://schemas.openxmlformats.org/drawingml/2006/main" flipH="1">
            <a:off x="2447925" y="5576888"/>
            <a:ext cx="581025" cy="0"/>
          </a:xfrm>
          <a:prstGeom xmlns:a="http://schemas.openxmlformats.org/drawingml/2006/main" prst="straightConnector1">
            <a:avLst/>
          </a:prstGeom>
          <a:ln xmlns:a="http://schemas.openxmlformats.org/drawingml/2006/main" w="19050">
            <a:solidFill>
              <a:srgbClr val="BDCDD2"/>
            </a:solidFill>
            <a:tailEnd type="triangle" w="sm" len="sm"/>
          </a:ln>
        </p:spPr>
      </p:cxnSp>
      <p:cxnSp>
        <p:nvCxnSpPr>
          <p:cNvPr id="53" name=""/>
          <p:cNvCxnSpPr>
            <a:stCxn xmlns:a="http://schemas.openxmlformats.org/drawingml/2006/main" id="9" idx="2"/>
            <a:endCxn xmlns:a="http://schemas.openxmlformats.org/drawingml/2006/main" id="19" idx="0"/>
          </p:cNvCxnSpPr>
          <p:nvPr/>
        </p:nvCxnSpPr>
        <p:spPr>
          <a:xfrm xmlns:a="http://schemas.openxmlformats.org/drawingml/2006/main" flipH="1">
            <a:off x="10872788" y="2638425"/>
            <a:ext cx="261938" cy="2562225"/>
          </a:xfrm>
          <a:prstGeom xmlns:a="http://schemas.openxmlformats.org/drawingml/2006/main" prst="straightConnector1">
            <a:avLst/>
          </a:prstGeom>
          <a:ln xmlns:a="http://schemas.openxmlformats.org/drawingml/2006/main" w="19050">
            <a:solidFill>
              <a:srgbClr val="AE6800"/>
            </a:solidFill>
            <a:tailEnd type="triangle" w="sm" len="sm"/>
          </a:ln>
        </p:spPr>
      </p:cxnSp>
      <p:sp>
        <p:nvSpPr>
          <p:cNvPr id="25" name="Bugs">
            <a:extLst xmlns:a="http://schemas.openxmlformats.org/drawingml/2006/main">
              <a:ext uri="{FF2B5EF4-FFF2-40B4-BE49-F238E27FC236}">
                <a16:creationId xmlns:a16="http://schemas.microsoft.com/office/drawing/2014/main" id="{59A64262-DB1C-48CB-9ED0-B41DAC1C876F}"/>
              </a:ext>
            </a:extLst>
          </p:cNvPr>
          <p:cNvSpPr>
            <a:spLocks xmlns:a="http://schemas.openxmlformats.org/drawingml/2006/main" noGrp="1"/>
          </p:cNvSpPr>
          <p:nvPr/>
        </p:nvSpPr>
        <p:spPr>
          <a:xfrm xmlns:a="http://schemas.openxmlformats.org/drawingml/2006/main">
            <a:off x="11220450" y="3286125"/>
            <a:ext cx="895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AE6800"/>
                </a:solidFill>
                <a:latin typeface="Arial"/>
                <a:ea typeface="Arial"/>
                <a:cs typeface="Arial"/>
              </a:defRPr>
            </a:pPr>
            <a:r>
              <a:rPr sz="1500" b="0">
                <a:solidFill>
                  <a:srgbClr val="AE6800"/>
                </a:solidFill>
                <a:latin typeface="Arial"/>
                <a:ea typeface="Arial"/>
                <a:cs typeface="Arial"/>
              </a:rPr>
              <a:t>Bugs</a:t>
            </a:r>
          </a:p>
        </p:txBody>
      </p:sp>
      <p:sp>
        <p:nvSpPr>
          <p:cNvPr id="26" name="Review findings → Develop → Review">
            <a:extLst xmlns:a="http://schemas.openxmlformats.org/drawingml/2006/main">
              <a:ext uri="{FF2B5EF4-FFF2-40B4-BE49-F238E27FC236}">
                <a16:creationId xmlns:a16="http://schemas.microsoft.com/office/drawing/2014/main" id="{B2DDDB27-ECF4-4147-AF2F-97D66B5547E9}"/>
              </a:ext>
            </a:extLst>
          </p:cNvPr>
          <p:cNvSpPr>
            <a:spLocks xmlns:a="http://schemas.openxmlformats.org/drawingml/2006/main" noGrp="1"/>
          </p:cNvSpPr>
          <p:nvPr/>
        </p:nvSpPr>
        <p:spPr>
          <a:xfrm xmlns:a="http://schemas.openxmlformats.org/drawingml/2006/main">
            <a:off x="704850" y="3124200"/>
            <a:ext cx="9448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Review findings → Develop → Review</a:t>
            </a:r>
          </a:p>
        </p:txBody>
      </p:sp>
      <p:sp>
        <p:nvSpPr>
          <p:cNvPr id="27" name="QA findings → Develop → Review → QA">
            <a:extLst xmlns:a="http://schemas.openxmlformats.org/drawingml/2006/main">
              <a:ext uri="{FF2B5EF4-FFF2-40B4-BE49-F238E27FC236}">
                <a16:creationId xmlns:a16="http://schemas.microsoft.com/office/drawing/2014/main" id="{1B3DCD3F-7C0D-4968-AA61-0E2B7161BFBD}"/>
              </a:ext>
            </a:extLst>
          </p:cNvPr>
          <p:cNvSpPr>
            <a:spLocks xmlns:a="http://schemas.openxmlformats.org/drawingml/2006/main" noGrp="1"/>
          </p:cNvSpPr>
          <p:nvPr/>
        </p:nvSpPr>
        <p:spPr>
          <a:xfrm xmlns:a="http://schemas.openxmlformats.org/drawingml/2006/main">
            <a:off x="704850" y="3781425"/>
            <a:ext cx="9448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72D38"/>
                </a:solidFill>
                <a:latin typeface="Arial"/>
                <a:ea typeface="Arial"/>
                <a:cs typeface="Arial"/>
              </a:defRPr>
            </a:pPr>
            <a:r>
              <a:rPr sz="2175" b="0">
                <a:solidFill>
                  <a:srgbClr val="172D38"/>
                </a:solidFill>
                <a:latin typeface="Arial"/>
                <a:ea typeface="Arial"/>
                <a:cs typeface="Arial"/>
              </a:rPr>
              <a:t>QA findings → Develop → Review → QA</a:t>
            </a:r>
          </a:p>
        </p:txBody>
      </p:sp>
      <p:sp>
        <p:nvSpPr>
          <p:cNvPr id="28" name="QA green → Step 7: artifact checks">
            <a:extLst xmlns:a="http://schemas.openxmlformats.org/drawingml/2006/main">
              <a:ext uri="{FF2B5EF4-FFF2-40B4-BE49-F238E27FC236}">
                <a16:creationId xmlns:a16="http://schemas.microsoft.com/office/drawing/2014/main" id="{725AC881-AE4A-41B4-9C8A-91FBCC32DCFC}"/>
              </a:ext>
            </a:extLst>
          </p:cNvPr>
          <p:cNvSpPr>
            <a:spLocks xmlns:a="http://schemas.openxmlformats.org/drawingml/2006/main" noGrp="1"/>
          </p:cNvSpPr>
          <p:nvPr/>
        </p:nvSpPr>
        <p:spPr>
          <a:xfrm xmlns:a="http://schemas.openxmlformats.org/drawingml/2006/main">
            <a:off x="704850" y="4438650"/>
            <a:ext cx="9448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0">
                <a:solidFill>
                  <a:srgbClr val="16794B"/>
                </a:solidFill>
                <a:latin typeface="Arial"/>
                <a:ea typeface="Arial"/>
                <a:cs typeface="Arial"/>
              </a:defRPr>
            </a:pPr>
            <a:r>
              <a:rPr sz="2175" b="0">
                <a:solidFill>
                  <a:srgbClr val="16794B"/>
                </a:solidFill>
                <a:latin typeface="Arial"/>
                <a:ea typeface="Arial"/>
                <a:cs typeface="Arial"/>
              </a:rPr>
              <a:t>QA green → Step 7: artifact checks</a:t>
            </a:r>
          </a:p>
        </p:txBody>
      </p:sp>
      <p:sp>
        <p:nvSpPr>
          <p:cNvPr id="29" name="Clarify design first. Both repair loops: max 3 iterations, t">
            <a:extLst xmlns:a="http://schemas.openxmlformats.org/drawingml/2006/main">
              <a:ext uri="{FF2B5EF4-FFF2-40B4-BE49-F238E27FC236}">
                <a16:creationId xmlns:a16="http://schemas.microsoft.com/office/drawing/2014/main" id="{B791F854-4C7E-4025-AB2C-2BDE9F32DF25}"/>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Clarify design first. Both repair loops: max 3 iterations, then escalate. * Settings are optional.</a:t>
            </a:r>
          </a:p>
        </p:txBody>
      </p:sp>
    </p:spTree>
    <p:extLst>
      <p:ext uri="{BB962C8B-B14F-4D97-AF65-F5344CB8AC3E}">
        <p14:creationId xmlns:p14="http://schemas.microsoft.com/office/powerpoint/2010/main" val="10814249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zero-baseline caveat">
            <a:extLst xmlns:a="http://schemas.openxmlformats.org/drawingml/2006/main">
              <a:ext uri="{FF2B5EF4-FFF2-40B4-BE49-F238E27FC236}">
                <a16:creationId xmlns:a16="http://schemas.microsoft.com/office/drawing/2014/main" id="{5B319345-24AE-40B2-8416-EFE164A7C451}"/>
              </a:ext>
            </a:extLst>
          </p:cNvPr>
          <p:cNvSpPr>
            <a:spLocks xmlns:a="http://schemas.openxmlformats.org/drawingml/2006/main" noGrp="1"/>
          </p:cNvSpPr>
          <p:nvPr/>
        </p:nvSpPr>
        <p:spPr>
          <a:xfrm xmlns:a="http://schemas.openxmlformats.org/drawingml/2006/main">
            <a:off x="685800" y="419100"/>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172D38"/>
                </a:solidFill>
                <a:latin typeface="Arial"/>
                <a:ea typeface="Arial"/>
                <a:cs typeface="Arial"/>
              </a:defRPr>
            </a:pPr>
            <a:r>
              <a:rPr sz="3300" b="1">
                <a:solidFill>
                  <a:srgbClr val="172D38"/>
                </a:solidFill>
                <a:latin typeface="Arial"/>
                <a:ea typeface="Arial"/>
                <a:cs typeface="Arial"/>
              </a:rPr>
              <a:t>The zero-baseline caveat</a:t>
            </a:r>
          </a:p>
        </p:txBody>
      </p:sp>
      <p:sp>
        <p:nvSpPr>
          <p:cNvPr id="2" name="Backup · Actual diff and Review 3">
            <a:extLst xmlns:a="http://schemas.openxmlformats.org/drawingml/2006/main">
              <a:ext uri="{FF2B5EF4-FFF2-40B4-BE49-F238E27FC236}">
                <a16:creationId xmlns:a16="http://schemas.microsoft.com/office/drawing/2014/main" id="{1938E3F9-8796-43E4-977D-376004E1FA84}"/>
              </a:ext>
            </a:extLst>
          </p:cNvPr>
          <p:cNvSpPr>
            <a:spLocks xmlns:a="http://schemas.openxmlformats.org/drawingml/2006/main" noGrp="1"/>
          </p:cNvSpPr>
          <p:nvPr/>
        </p:nvSpPr>
        <p:spPr>
          <a:xfrm xmlns:a="http://schemas.openxmlformats.org/drawingml/2006/main">
            <a:off x="704850" y="12573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66E7B"/>
                </a:solidFill>
                <a:latin typeface="Arial"/>
                <a:ea typeface="Arial"/>
                <a:cs typeface="Arial"/>
              </a:defRPr>
            </a:pPr>
            <a:r>
              <a:rPr sz="1875" b="0">
                <a:solidFill>
                  <a:srgbClr val="566E7B"/>
                </a:solidFill>
                <a:latin typeface="Arial"/>
                <a:ea typeface="Arial"/>
                <a:cs typeface="Arial"/>
              </a:rPr>
              <a:t>Backup · Actual diff and Review 3</a:t>
            </a:r>
          </a:p>
        </p:txBody>
      </p:sp>
      <p:sp>
        <p:nvSpPr>
          <p:cNvPr id="3" name="16">
            <a:extLst xmlns:a="http://schemas.openxmlformats.org/drawingml/2006/main">
              <a:ext uri="{FF2B5EF4-FFF2-40B4-BE49-F238E27FC236}">
                <a16:creationId xmlns:a16="http://schemas.microsoft.com/office/drawing/2014/main" id="{C5F59CF5-8AD3-43E6-B65A-63EDEB0C4573}"/>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566E7B"/>
                </a:solidFill>
                <a:latin typeface="Arial"/>
                <a:ea typeface="Arial"/>
                <a:cs typeface="Arial"/>
              </a:defRPr>
            </a:pPr>
            <a:r>
              <a:rPr sz="1350" b="0">
                <a:solidFill>
                  <a:srgbClr val="566E7B"/>
                </a:solidFill>
                <a:latin typeface="Arial"/>
                <a:ea typeface="Arial"/>
                <a:cs typeface="Arial"/>
              </a:rPr>
              <a:t>16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b52687c55174d96"/>
          <a:srcRect xmlns:a="http://schemas.openxmlformats.org/drawingml/2006/main" l="1712" t="12874" r="1813" b="65532"/>
          <a:stretch xmlns:a="http://schemas.openxmlformats.org/drawingml/2006/main"/>
        </p:blipFill>
        <p:spPr>
          <a:xfrm xmlns:a="http://schemas.openxmlformats.org/drawingml/2006/main">
            <a:off x="704850" y="2047875"/>
            <a:ext cx="6524625" cy="177077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0ed86d88544529"/>
          <a:srcRect xmlns:a="http://schemas.openxmlformats.org/drawingml/2006/main" l="9567" t="15365" r="31722" b="76329"/>
          <a:stretch xmlns:a="http://schemas.openxmlformats.org/drawingml/2006/main"/>
        </p:blipFill>
        <p:spPr>
          <a:xfrm xmlns:a="http://schemas.openxmlformats.org/drawingml/2006/main">
            <a:off x="704850" y="4162425"/>
            <a:ext cx="6524625" cy="1119147"/>
          </a:xfrm>
          <a:prstGeom xmlns:a="http://schemas.openxmlformats.org/drawingml/2006/main" prst="rect">
            <a:avLst/>
          </a:prstGeom>
        </p:spPr>
      </p:pic>
      <p:sp>
        <p:nvSpPr>
          <p:cNvPr id="6" name="In the repaired fixture">
            <a:extLst xmlns:a="http://schemas.openxmlformats.org/drawingml/2006/main">
              <a:ext uri="{FF2B5EF4-FFF2-40B4-BE49-F238E27FC236}">
                <a16:creationId xmlns:a16="http://schemas.microsoft.com/office/drawing/2014/main" id="{4EEB8180-F322-45D4-9568-795953093F62}"/>
              </a:ext>
            </a:extLst>
          </p:cNvPr>
          <p:cNvSpPr>
            <a:spLocks xmlns:a="http://schemas.openxmlformats.org/drawingml/2006/main" noGrp="1"/>
          </p:cNvSpPr>
          <p:nvPr/>
        </p:nvSpPr>
        <p:spPr>
          <a:xfrm xmlns:a="http://schemas.openxmlformats.org/drawingml/2006/main">
            <a:off x="7839075" y="2038350"/>
            <a:ext cx="365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66E7B"/>
                </a:solidFill>
                <a:latin typeface="Arial"/>
                <a:ea typeface="Arial"/>
                <a:cs typeface="Arial"/>
              </a:defRPr>
            </a:pPr>
            <a:r>
              <a:rPr sz="2025" b="0">
                <a:solidFill>
                  <a:srgbClr val="566E7B"/>
                </a:solidFill>
                <a:latin typeface="Arial"/>
                <a:ea typeface="Arial"/>
                <a:cs typeface="Arial"/>
              </a:rPr>
              <a:t>In the repaired fixture</a:t>
            </a:r>
          </a:p>
        </p:txBody>
      </p:sp>
      <p:sp>
        <p:nvSpPr>
          <p:cNvPr id="7" name="before = 0">
            <a:extLst xmlns:a="http://schemas.openxmlformats.org/drawingml/2006/main">
              <a:ext uri="{FF2B5EF4-FFF2-40B4-BE49-F238E27FC236}">
                <a16:creationId xmlns:a16="http://schemas.microsoft.com/office/drawing/2014/main" id="{09147D1E-2008-478B-BA14-4F72C36ED1DD}"/>
              </a:ext>
            </a:extLst>
          </p:cNvPr>
          <p:cNvSpPr>
            <a:spLocks xmlns:a="http://schemas.openxmlformats.org/drawingml/2006/main" noGrp="1"/>
          </p:cNvSpPr>
          <p:nvPr/>
        </p:nvSpPr>
        <p:spPr>
          <a:xfrm xmlns:a="http://schemas.openxmlformats.org/drawingml/2006/main">
            <a:off x="7839075" y="2676525"/>
            <a:ext cx="36861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225" b="1">
                <a:solidFill>
                  <a:srgbClr val="008B84"/>
                </a:solidFill>
                <a:latin typeface="Arial"/>
                <a:ea typeface="Arial"/>
                <a:cs typeface="Arial"/>
              </a:defRPr>
            </a:pPr>
            <a:r>
              <a:rPr sz="3225" b="1">
                <a:solidFill>
                  <a:srgbClr val="008B84"/>
                </a:solidFill>
                <a:latin typeface="Arial"/>
                <a:ea typeface="Arial"/>
                <a:cs typeface="Arial"/>
              </a:rPr>
              <a:t>before = 0</a:t>
            </a:r>
          </a:p>
        </p:txBody>
      </p:sp>
      <p:sp>
        <p:nvSpPr>
          <p:cNvPr id="8" name="after &gt; 0&#10;after &gt; before">
            <a:extLst xmlns:a="http://schemas.openxmlformats.org/drawingml/2006/main">
              <a:ext uri="{FF2B5EF4-FFF2-40B4-BE49-F238E27FC236}">
                <a16:creationId xmlns:a16="http://schemas.microsoft.com/office/drawing/2014/main" id="{8B5C7DD1-1ADC-4023-8DF4-C5263705EEFE}"/>
              </a:ext>
            </a:extLst>
          </p:cNvPr>
          <p:cNvSpPr>
            <a:spLocks xmlns:a="http://schemas.openxmlformats.org/drawingml/2006/main" noGrp="1"/>
          </p:cNvSpPr>
          <p:nvPr/>
        </p:nvSpPr>
        <p:spPr>
          <a:xfrm xmlns:a="http://schemas.openxmlformats.org/drawingml/2006/main">
            <a:off x="7839075" y="3600450"/>
            <a:ext cx="3686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625" b="0">
                <a:solidFill>
                  <a:srgbClr val="172D38"/>
                </a:solidFill>
                <a:latin typeface="Arial"/>
                <a:ea typeface="Arial"/>
                <a:cs typeface="Arial"/>
              </a:defRPr>
            </a:pPr>
            <a:r>
              <a:rPr sz="2625" b="0">
                <a:solidFill>
                  <a:srgbClr val="172D38"/>
                </a:solidFill>
                <a:latin typeface="Arial"/>
                <a:ea typeface="Arial"/>
                <a:cs typeface="Arial"/>
              </a:rPr>
              <a:t>after &gt; 0</a:t>
            </a:r>
          </a:p>
          <a:p xmlns:a="http://schemas.openxmlformats.org/drawingml/2006/main">
            <a:pPr algn="l">
              <a:defRPr sz="2625" b="0">
                <a:solidFill>
                  <a:srgbClr val="172D38"/>
                </a:solidFill>
                <a:latin typeface="Arial"/>
                <a:ea typeface="Arial"/>
                <a:cs typeface="Arial"/>
              </a:defRPr>
            </a:pPr>
            <a:r>
              <a:rPr sz="2625" b="0">
                <a:solidFill>
                  <a:srgbClr val="172D38"/>
                </a:solidFill>
                <a:latin typeface="Arial"/>
                <a:ea typeface="Arial"/>
                <a:cs typeface="Arial"/>
              </a:rPr>
              <a:t>after &gt; before</a:t>
            </a:r>
          </a:p>
        </p:txBody>
      </p:sp>
      <p:sp>
        <p:nvSpPr>
          <p:cNvPr id="9" name="Numerically equivalent&#10;for these five tests">
            <a:extLst xmlns:a="http://schemas.openxmlformats.org/drawingml/2006/main">
              <a:ext uri="{FF2B5EF4-FFF2-40B4-BE49-F238E27FC236}">
                <a16:creationId xmlns:a16="http://schemas.microsoft.com/office/drawing/2014/main" id="{AFFC6FCA-9EE0-4876-BF59-92086D9FB620}"/>
              </a:ext>
            </a:extLst>
          </p:cNvPr>
          <p:cNvSpPr>
            <a:spLocks xmlns:a="http://schemas.openxmlformats.org/drawingml/2006/main" noGrp="1"/>
          </p:cNvSpPr>
          <p:nvPr/>
        </p:nvSpPr>
        <p:spPr>
          <a:xfrm xmlns:a="http://schemas.openxmlformats.org/drawingml/2006/main">
            <a:off x="7839075" y="5057775"/>
            <a:ext cx="3667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D38"/>
                </a:solidFill>
                <a:latin typeface="Arial"/>
                <a:ea typeface="Arial"/>
                <a:cs typeface="Arial"/>
              </a:defRPr>
            </a:pPr>
            <a:r>
              <a:rPr sz="2100" b="0">
                <a:solidFill>
                  <a:srgbClr val="172D38"/>
                </a:solidFill>
                <a:latin typeface="Arial"/>
                <a:ea typeface="Arial"/>
                <a:cs typeface="Arial"/>
              </a:rPr>
              <a:t>Numerically equivalent</a:t>
            </a:r>
          </a:p>
          <a:p xmlns:a="http://schemas.openxmlformats.org/drawingml/2006/main">
            <a:pPr algn="l">
              <a:defRPr sz="2100" b="0">
                <a:solidFill>
                  <a:srgbClr val="172D38"/>
                </a:solidFill>
                <a:latin typeface="Arial"/>
                <a:ea typeface="Arial"/>
                <a:cs typeface="Arial"/>
              </a:defRPr>
            </a:pPr>
            <a:r>
              <a:rPr sz="2100" b="0">
                <a:solidFill>
                  <a:srgbClr val="172D38"/>
                </a:solidFill>
                <a:latin typeface="Arial"/>
                <a:ea typeface="Arial"/>
                <a:cs typeface="Arial"/>
              </a:rPr>
              <a:t>for these five tests</a:t>
            </a:r>
          </a:p>
        </p:txBody>
      </p:sp>
      <p:sp>
        <p:nvSpPr>
          <p:cNvPr id="10" name="The dirty-store example describes the original risk, not the">
            <a:extLst xmlns:a="http://schemas.openxmlformats.org/drawingml/2006/main">
              <a:ext uri="{FF2B5EF4-FFF2-40B4-BE49-F238E27FC236}">
                <a16:creationId xmlns:a16="http://schemas.microsoft.com/office/drawing/2014/main" id="{DABE2BFC-7993-4FF6-8A94-3A8E3DD5A49C}"/>
              </a:ext>
            </a:extLst>
          </p:cNvPr>
          <p:cNvSpPr>
            <a:spLocks xmlns:a="http://schemas.openxmlformats.org/drawingml/2006/main" noGrp="1"/>
          </p:cNvSpPr>
          <p:nvPr/>
        </p:nvSpPr>
        <p:spPr>
          <a:xfrm xmlns:a="http://schemas.openxmlformats.org/drawingml/2006/main">
            <a:off x="704850" y="61626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66E7B"/>
                </a:solidFill>
                <a:latin typeface="Arial"/>
                <a:ea typeface="Arial"/>
                <a:cs typeface="Arial"/>
              </a:defRPr>
            </a:pPr>
            <a:r>
              <a:rPr sz="1425" b="0">
                <a:solidFill>
                  <a:srgbClr val="566E7B"/>
                </a:solidFill>
                <a:latin typeface="Arial"/>
                <a:ea typeface="Arial"/>
                <a:cs typeface="Arial"/>
              </a:rPr>
              <a:t>The dirty-store example describes the original risk, not the repaired fixture.</a:t>
            </a:r>
          </a:p>
        </p:txBody>
      </p:sp>
    </p:spTree>
    <p:extLst>
      <p:ext uri="{BB962C8B-B14F-4D97-AF65-F5344CB8AC3E}">
        <p14:creationId xmlns:p14="http://schemas.microsoft.com/office/powerpoint/2010/main" val="13928640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2026-09-13T20:34:57.4910000Z</dcterms:created>
  <dcterms:modified xsi:type="dcterms:W3CDTF">2026-09-13T20:34:57.4910000Z</dcterms:modified>
</coreProperties>
</file>